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72" r:id="rId30"/>
    <p:sldId id="273" r:id="rId31"/>
    <p:sldId id="274" r:id="rId32"/>
    <p:sldId id="275" r:id="rId33"/>
    <p:sldId id="262" r:id="rId12"/>
    <p:sldId id="276" r:id="rId34"/>
    <p:sldId id="263" r:id="rId13"/>
    <p:sldId id="264" r:id="rId14"/>
    <p:sldId id="265" r:id="rId15"/>
    <p:sldId id="266" r:id="rId16"/>
    <p:sldId id="267" r:id="rId17"/>
    <p:sldId id="268" r:id="rId18"/>
    <p:sldId id="269" r:id="rId19"/>
    <p:sldId id="270" r:id="rId20"/>
    <p:sldId id="271" r:id="rId21"/>
    <p:sldId id="277" r:id="rId35"/>
    <p:sldId id="278" r:id="rId36"/>
    <p:sldId id="279" r:id="rId37"/>
  </p:sldIdLst>
  <p:sldSz cy="6858000" cx="12192000"/>
  <p:notesSz cx="6858000" cy="12192000"/>
  <p:embeddedFontLst>
    <p:embeddedFont>
      <p:font typeface="Inter"/>
      <p:regular r:id="rId22"/>
      <p:bold r:id="rId23"/>
      <p:italic r:id="rId24"/>
      <p:boldItalic r:id="rId25"/>
    </p:embeddedFont>
    <p:embeddedFont>
      <p:font typeface="JetBrains Mon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743F501-BC8A-405B-A45D-8B6184ADABE4}">
  <a:tblStyle styleId="{F743F501-BC8A-405B-A45D-8B6184ADABE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font" Target="fonts/Inter-regular.fntdata"/><Relationship Id="rId23" Type="http://schemas.openxmlformats.org/officeDocument/2006/relationships/font" Target="fonts/Inter-bold.fntdata"/><Relationship Id="rId24" Type="http://schemas.openxmlformats.org/officeDocument/2006/relationships/font" Target="fonts/Inter-italic.fntdata"/><Relationship Id="rId25" Type="http://schemas.openxmlformats.org/officeDocument/2006/relationships/font" Target="fonts/Inter-boldItalic.fntdata"/><Relationship Id="rId26" Type="http://schemas.openxmlformats.org/officeDocument/2006/relationships/font" Target="fonts/JetBrainsMono-regular.fntdata"/><Relationship Id="rId27" Type="http://schemas.openxmlformats.org/officeDocument/2006/relationships/font" Target="fonts/JetBrainsMono-bold.fntdata"/><Relationship Id="rId28" Type="http://schemas.openxmlformats.org/officeDocument/2006/relationships/font" Target="fonts/JetBrainsMono-italic.fntdata"/><Relationship Id="rId29" Type="http://schemas.openxmlformats.org/officeDocument/2006/relationships/font" Target="fonts/JetBrainsMono-boldItalic.fntdata"/><Relationship Id="rId30" Type="http://schemas.openxmlformats.org/officeDocument/2006/relationships/slide" Target="slides/slide7.xml"/><Relationship Id="rId31" Type="http://schemas.openxmlformats.org/officeDocument/2006/relationships/slide" Target="slides/slide8.xml"/><Relationship Id="rId32" Type="http://schemas.openxmlformats.org/officeDocument/2006/relationships/slide" Target="slides/slide9.xml"/><Relationship Id="rId33" Type="http://schemas.openxmlformats.org/officeDocument/2006/relationships/slide" Target="slides/slide10.xml"/><Relationship Id="rId34" Type="http://schemas.openxmlformats.org/officeDocument/2006/relationships/slide" Target="slides/slide12.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notes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notes ]</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time here. Make them FEEL the confound before offering the fix: every published comparison varies too much at once, so the textbook trade-offs are never actually measured on one machine.</a:t>
            </a:r>
            <a:endParaRPr/>
          </a:p>
        </p:txBody>
      </p:sp>
      <p:sp>
        <p:nvSpPr>
          <p:cNvPr id="56" name="Google Shape;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one-sentence contribution. Five collectors plug into one interface; everything else is frozen, including the optimisation level. Be honest: the interface holds five, but generational only runs at the largest heap, so the EVALUATION is three collectors plus the baseline. That sets up the 'three' you compare from here on.</a:t>
            </a:r>
            <a:endParaRPr/>
          </a:p>
        </p:txBody>
      </p:sp>
      <p:sp>
        <p:nvSpPr>
          <p:cNvPr id="67" name="Google Shape;6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this tight - the VM is the stage, not the story. Three facts, ~45s: stack-based IJVM with array instructions; 8-byte header + walkable heap; precise model and roots-by-address. Each fact justifies something later. Describe the CONTRACT the GC relies on, not the VM internals (private repo).</a:t>
            </a:r>
            <a:endParaRPr/>
          </a:p>
        </p:txBody>
      </p:sp>
      <p:sp>
        <p:nvSpPr>
          <p:cNvPr id="96" name="Google Shape;9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Don't walk pseudocode. The audience needs exactly one contrast: mark-sweep searches free lists; the moving collectors bump-allocate into a dense heap. That single difference is the whole RQ1 story.</a:t>
            </a:r>
            <a:endParaRPr/>
          </a:p>
        </p:txBody>
      </p:sp>
      <p:sp>
        <p:nvSpPr>
          <p:cNvPr id="130" name="Google Shape;13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f29c868e6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3ef29c868e6_2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State the questions only - no answers. The detective arc in Act 2 reveals RQ1; RQ2/RQ3 in Act 3. Note mutate maps to no RQ so nobody asks why four workloads for three questions. ~30 seconds; this is scaffolding, not a result.</a:t>
            </a:r>
            <a:endParaRPr/>
          </a:p>
        </p:txBody>
      </p:sp>
      <p:sp>
        <p:nvSpPr>
          <p:cNvPr id="160" name="Google Shape;160;g3ef29c868e6_2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headline. Bars are run time, lower is better; mark-sweep (red) towers on churn and longlived. The two moving collectors tie each other. density barely moves because it's mutator-bound - a clue we use later. Then ask: WHY is mark-sweep slow?</a:t>
            </a:r>
            <a:endParaRPr/>
          </a:p>
        </p:txBody>
      </p:sp>
      <p:sp>
        <p:nvSpPr>
          <p:cNvPr id="183" name="Google Shape;18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reversal. Obvious suspect - 'mark-sweep collects all the time' - is wrong: its overhead is the SMALLEST of the three. Note the irony: mark-compact pays up to ~19% relative overhead and still wins on throughput because its absolute run time is tiny. If not collection, where is the cost? Next slide.</a:t>
            </a:r>
            <a:endParaRPr/>
          </a:p>
        </p:txBody>
      </p:sp>
      <p:sp>
        <p:nvSpPr>
          <p:cNvPr id="195" name="Google Shape;19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the sweep as a method: budget is the independent variable, run time the reading. This is different in kind from the single-budget bars before. Don't reveal the punchline yet - that's slide 10. (Cheney's line simply starts where it can run; don't explain the absence here, that's the space slide.)</a:t>
            </a:r>
            <a:endParaRPr/>
          </a:p>
        </p:txBody>
      </p:sp>
      <p:sp>
        <p:nvSpPr>
          <p:cNvPr id="207" name="Google Shape;20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Your best slide. One red line climbing, two flat lines at the bottom - and overhead is FALLING over the same range. The flatness of the moving collectors is half the proof: it's not heap size per se, it's what mark-sweep DOES with it. Title note: the climb is the moderate-to-large regime; it's fast again at the tightest budgets and at the anchor.</a:t>
            </a:r>
            <a:endParaRPr/>
          </a:p>
        </p:txBody>
      </p:sp>
      <p:sp>
        <p:nvSpPr>
          <p:cNvPr id="218" name="Google Shape;21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Closes RQ1. Switch off the suspected cause (huge heap, no collection, free list never touched) and the penalty vanishes - mark-sweep ties baseline and the moving collectors. Elimination: overhead measured directly (&lt;1.1%); remainder tied to allocation by the sweep + anchor controls. Be honest: this is attribution by elimination, NOT direct profiling - we don't separate search cost from fragmentation.</a:t>
            </a:r>
            <a:endParaRPr/>
          </a:p>
        </p:txBody>
      </p:sp>
      <p:sp>
        <p:nvSpPr>
          <p:cNvPr id="230" name="Google Shape;2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Compress RQ2 and RQ3 - supporting context, not headline. The ranking INVERTS: Cheney best on latency, worst on space; mark-compact worst on latency. No universal winner - that's the point of 'no free lunch'.</a:t>
            </a:r>
            <a:endParaRPr/>
          </a:p>
        </p:txBody>
      </p:sp>
      <p:sp>
        <p:nvSpPr>
          <p:cNvPr id="242" name="Google Shape;24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line per scarcity regime. Land it verbally: the best collector depends entirely on which resource you're short of. density aside - there the collector barely matters at all.</a:t>
            </a:r>
            <a:endParaRPr/>
          </a:p>
        </p:txBody>
      </p:sp>
      <p:sp>
        <p:nvSpPr>
          <p:cNvPr id="258" name="Google Shape;25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confident, not apologetic. Lead with -O0 because an examiner WILL ask: it's a deliberate isolation choice, same logic as fixing seeds and workloads. -O2 changes magnitudes, not the ordering (bump allocation has nothing to strip; the free-list walk does). Then single-machine/synthetic and stop-the-world, briefly.</a:t>
            </a:r>
            <a:endParaRPr/>
          </a:p>
        </p:txBody>
      </p:sp>
      <p:sp>
        <p:nvSpPr>
          <p:cNvPr id="281" name="Google Shape;28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Return to the ONE idea: the cost is allocation, not collection, proven by elimination in a fully controlled setting. One line per RQ. End on future work (generational - the hook already exists), then take questions.</a:t>
            </a:r>
            <a:endParaRPr/>
          </a:p>
        </p:txBody>
      </p:sp>
      <p:sp>
        <p:nvSpPr>
          <p:cNvPr id="297" name="Google Shape;29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43B"/>
        </a:solidFill>
      </p:bgPr>
    </p:bg>
    <p:spTree>
      <p:nvGrpSpPr>
        <p:cNvPr id="15" name="Shape 15"/>
        <p:cNvGrpSpPr/>
        <p:nvPr/>
      </p:nvGrpSpPr>
      <p:grpSpPr>
        <a:xfrm>
          <a:off x="0" y="0"/>
          <a:ext cx="0" cy="0"/>
          <a:chOff x="0" y="0"/>
          <a:chExt cx="0" cy="0"/>
        </a:xfrm>
      </p:grpSpPr>
      <p:sp>
        <p:nvSpPr>
          <p:cNvPr id="16" name="Google Shape;16;p3"/>
          <p:cNvSpPr/>
          <p:nvPr/>
        </p:nvSpPr>
        <p:spPr>
          <a:xfrm>
            <a:off x="822960" y="2377440"/>
            <a:ext cx="10515600" cy="1737360"/>
          </a:xfrm>
          <a:prstGeom prst="rect">
            <a:avLst/>
          </a:prstGeom>
          <a:noFill/>
          <a:ln>
            <a:noFill/>
          </a:ln>
        </p:spPr>
        <p:txBody>
          <a:bodyPr anchorCtr="0" anchor="ctr" bIns="0" lIns="0" spcFirstLastPara="1" rIns="0" wrap="square" tIns="0">
            <a:noAutofit/>
          </a:bodyPr>
          <a:lstStyle/>
          <a:p>
            <a:pPr indent="0" lvl="0" marL="0" marR="0" rtl="0" algn="l">
              <a:lnSpc>
                <a:spcPct val="130303"/>
              </a:lnSpc>
              <a:spcBef>
                <a:spcPts val="0"/>
              </a:spcBef>
              <a:spcAft>
                <a:spcPts val="0"/>
              </a:spcAft>
              <a:buClr>
                <a:srgbClr val="FFFFFF"/>
              </a:buClr>
              <a:buSzPts val="3300"/>
              <a:buFont typeface="Inter"/>
              <a:buNone/>
            </a:pPr>
            <a:r>
              <a:rPr b="1" i="0" lang="en-US" sz="3300" u="none" cap="none" strike="noStrike">
                <a:solidFill>
                  <a:srgbClr val="FFFFFF"/>
                </a:solidFill>
                <a:latin typeface="Inter"/>
                <a:ea typeface="Inter"/>
                <a:cs typeface="Inter"/>
                <a:sym typeface="Inter"/>
              </a:rPr>
              <a:t>Comparing Stop-the-World Garbage Collection Strategies on a Stack-Based Bytecode Interpreter</a:t>
            </a:r>
            <a:endParaRPr b="0" i="0" sz="3300" u="none" cap="none" strike="noStrike">
              <a:solidFill>
                <a:schemeClr val="dk1"/>
              </a:solidFill>
              <a:latin typeface="Calibri"/>
              <a:ea typeface="Calibri"/>
              <a:cs typeface="Calibri"/>
              <a:sym typeface="Calibri"/>
            </a:endParaRPr>
          </a:p>
        </p:txBody>
      </p:sp>
      <p:sp>
        <p:nvSpPr>
          <p:cNvPr id="17" name="Google Shape;17;p3"/>
          <p:cNvSpPr/>
          <p:nvPr/>
        </p:nvSpPr>
        <p:spPr>
          <a:xfrm>
            <a:off x="822960" y="425196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DB4CC"/>
              </a:buClr>
              <a:buSzPts val="1600"/>
              <a:buFont typeface="Inter"/>
              <a:buNone/>
            </a:pPr>
            <a:r>
              <a:rPr b="0" i="0" lang="en-US" sz="1600" u="none" cap="none" strike="noStrike">
                <a:solidFill>
                  <a:srgbClr val="9DB4CC"/>
                </a:solidFill>
                <a:latin typeface="Inter"/>
                <a:ea typeface="Inter"/>
                <a:cs typeface="Inter"/>
                <a:sym typeface="Inter"/>
              </a:rPr>
              <a:t>Vitor Andrade Fernandez - 2798043</a:t>
            </a:r>
            <a:endParaRPr b="0" i="0" sz="1600" u="none" cap="none" strike="noStrike">
              <a:solidFill>
                <a:schemeClr val="dk1"/>
              </a:solidFill>
              <a:latin typeface="Calibri"/>
              <a:ea typeface="Calibri"/>
              <a:cs typeface="Calibri"/>
              <a:sym typeface="Calibri"/>
            </a:endParaRPr>
          </a:p>
        </p:txBody>
      </p:sp>
      <p:sp>
        <p:nvSpPr>
          <p:cNvPr id="18" name="Google Shape;18;p3"/>
          <p:cNvSpPr/>
          <p:nvPr/>
        </p:nvSpPr>
        <p:spPr>
          <a:xfrm>
            <a:off x="822960" y="4800600"/>
            <a:ext cx="10515600" cy="640080"/>
          </a:xfrm>
          <a:prstGeom prst="rect">
            <a:avLst/>
          </a:prstGeom>
          <a:noFill/>
          <a:ln>
            <a:noFill/>
          </a:ln>
        </p:spPr>
        <p:txBody>
          <a:bodyPr anchorCtr="0" anchor="ctr" bIns="0" lIns="0" spcFirstLastPara="1" rIns="0" wrap="square" tIns="0">
            <a:noAutofit/>
          </a:bodyPr>
          <a:lstStyle/>
          <a:p>
            <a:pPr indent="0" lvl="0" marL="0" marR="0" rtl="0" algn="l">
              <a:lnSpc>
                <a:spcPct val="153846"/>
              </a:lnSpc>
              <a:spcBef>
                <a:spcPts val="0"/>
              </a:spcBef>
              <a:spcAft>
                <a:spcPts val="0"/>
              </a:spcAft>
              <a:buClr>
                <a:srgbClr val="7E97B0"/>
              </a:buClr>
              <a:buSzPts val="1300"/>
              <a:buFont typeface="Inter"/>
              <a:buNone/>
            </a:pPr>
            <a:r>
              <a:rPr b="0" i="0" lang="en-US" sz="1300" u="none" cap="none" strike="noStrike">
                <a:solidFill>
                  <a:srgbClr val="7E97B0"/>
                </a:solidFill>
                <a:latin typeface="Inter"/>
                <a:ea typeface="Inter"/>
                <a:cs typeface="Inter"/>
                <a:sym typeface="Inter"/>
              </a:rPr>
              <a:t>First supervisor: Atze van der Ploeg</a:t>
            </a:r>
            <a:endParaRPr b="0" i="0" sz="1300" u="none" cap="none" strike="noStrike">
              <a:solidFill>
                <a:schemeClr val="dk1"/>
              </a:solidFill>
              <a:latin typeface="Calibri"/>
              <a:ea typeface="Calibri"/>
              <a:cs typeface="Calibri"/>
              <a:sym typeface="Calibri"/>
            </a:endParaRPr>
          </a:p>
          <a:p>
            <a:pPr indent="0" lvl="0" marL="0" marR="0" rtl="0" algn="l">
              <a:lnSpc>
                <a:spcPct val="153846"/>
              </a:lnSpc>
              <a:spcBef>
                <a:spcPts val="0"/>
              </a:spcBef>
              <a:spcAft>
                <a:spcPts val="0"/>
              </a:spcAft>
              <a:buClr>
                <a:srgbClr val="7E97B0"/>
              </a:buClr>
              <a:buSzPts val="1300"/>
              <a:buFont typeface="Inter"/>
              <a:buNone/>
            </a:pPr>
            <a:r>
              <a:rPr b="0" i="0" lang="en-US" sz="1300" u="none" cap="none" strike="noStrike">
                <a:solidFill>
                  <a:srgbClr val="7E97B0"/>
                </a:solidFill>
                <a:latin typeface="Inter"/>
                <a:ea typeface="Inter"/>
                <a:cs typeface="Inter"/>
                <a:sym typeface="Inter"/>
              </a:rPr>
              <a:t>Second supervisor: Klaus Freiherr von Gleissenthal</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8"/>
        </a:solidFill>
      </p:bgPr>
    </p:bg>
    <p:spTree>
      <p:nvGrpSpPr>
        <p:cNvPr id="23" name="Shape 23"/>
        <p:cNvGrpSpPr/>
        <p:nvPr/>
      </p:nvGrpSpPr>
      <p:grpSpPr>
        <a:xfrm>
          <a:off x="0" y="0"/>
          <a:ext cx="0" cy="0"/>
          <a:chOff x="0" y="0"/>
          <a:chExt cx="0" cy="0"/>
        </a:xfrm>
      </p:grpSpPr>
      <p:sp>
        <p:nvSpPr>
          <p:cNvPr id="24" name="Google Shape;24;p4"/>
          <p:cNvSpPr/>
          <p:nvPr/>
        </p:nvSpPr>
        <p:spPr>
          <a:xfrm>
            <a:off x="822960" y="45720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200"/>
              <a:buFont typeface="Inter"/>
              <a:buNone/>
            </a:pPr>
            <a:r>
              <a:rPr b="1" i="0" lang="en-US" sz="1200" u="none" cap="none" strike="noStrike">
                <a:solidFill>
                  <a:srgbClr val="0B5394"/>
                </a:solidFill>
                <a:latin typeface="Inter"/>
                <a:ea typeface="Inter"/>
                <a:cs typeface="Inter"/>
                <a:sym typeface="Inter"/>
              </a:rPr>
              <a:t>THE PLAN</a:t>
            </a:r>
            <a:endParaRPr b="0" i="0" sz="1200" u="none" cap="none" strike="noStrike">
              <a:solidFill>
                <a:schemeClr val="dk1"/>
              </a:solidFill>
              <a:latin typeface="Calibri"/>
              <a:ea typeface="Calibri"/>
              <a:cs typeface="Calibri"/>
              <a:sym typeface="Calibri"/>
            </a:endParaRPr>
          </a:p>
        </p:txBody>
      </p:sp>
      <p:sp>
        <p:nvSpPr>
          <p:cNvPr id="25" name="Google Shape;25;p4"/>
          <p:cNvSpPr/>
          <p:nvPr/>
        </p:nvSpPr>
        <p:spPr>
          <a:xfrm>
            <a:off x="822960" y="749808"/>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Inter"/>
              <a:buNone/>
            </a:pPr>
            <a:r>
              <a:rPr b="1" i="0" lang="en-US" sz="2600" u="none" cap="none" strike="noStrike">
                <a:solidFill>
                  <a:srgbClr val="1A1A1A"/>
                </a:solidFill>
                <a:latin typeface="Inter"/>
                <a:ea typeface="Inter"/>
                <a:cs typeface="Inter"/>
                <a:sym typeface="Inter"/>
              </a:rPr>
              <a:t>Presentation Content</a:t>
            </a:r>
            <a:endParaRPr b="0" i="0" sz="2600" u="none" cap="none" strike="noStrike">
              <a:solidFill>
                <a:schemeClr val="dk1"/>
              </a:solidFill>
              <a:latin typeface="Calibri"/>
              <a:ea typeface="Calibri"/>
              <a:cs typeface="Calibri"/>
              <a:sym typeface="Calibri"/>
            </a:endParaRPr>
          </a:p>
        </p:txBody>
      </p:sp>
      <p:sp>
        <p:nvSpPr>
          <p:cNvPr id="26" name="Google Shape;26;p4"/>
          <p:cNvSpPr/>
          <p:nvPr/>
        </p:nvSpPr>
        <p:spPr>
          <a:xfrm>
            <a:off x="822960" y="155448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100"/>
              <a:buFont typeface="Inter"/>
              <a:buNone/>
            </a:pPr>
            <a:r>
              <a:rPr b="1" i="0" lang="en-US" sz="1100" u="none" cap="none" strike="noStrike">
                <a:solidFill>
                  <a:srgbClr val="0B5394"/>
                </a:solidFill>
                <a:latin typeface="Inter"/>
                <a:ea typeface="Inter"/>
                <a:cs typeface="Inter"/>
                <a:sym typeface="Inter"/>
              </a:rPr>
              <a:t>ACT 1 · SETUP</a:t>
            </a:r>
            <a:endParaRPr b="0" i="0" sz="1100" u="none" cap="none" strike="noStrike">
              <a:solidFill>
                <a:schemeClr val="dk1"/>
              </a:solidFill>
              <a:latin typeface="Calibri"/>
              <a:ea typeface="Calibri"/>
              <a:cs typeface="Calibri"/>
              <a:sym typeface="Calibri"/>
            </a:endParaRPr>
          </a:p>
        </p:txBody>
      </p:sp>
      <p:sp>
        <p:nvSpPr>
          <p:cNvPr id="27" name="Google Shape;27;p4"/>
          <p:cNvSpPr/>
          <p:nvPr/>
        </p:nvSpPr>
        <p:spPr>
          <a:xfrm>
            <a:off x="868680" y="1847088"/>
            <a:ext cx="457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400"/>
              <a:buFont typeface="Inter"/>
              <a:buNone/>
            </a:pPr>
            <a:r>
              <a:rPr b="1" i="0" lang="en-US" sz="1400" u="none" cap="none" strike="noStrike">
                <a:solidFill>
                  <a:srgbClr val="0B5394"/>
                </a:solidFill>
                <a:latin typeface="Inter"/>
                <a:ea typeface="Inter"/>
                <a:cs typeface="Inter"/>
                <a:sym typeface="Inter"/>
              </a:rPr>
              <a:t>1</a:t>
            </a:r>
            <a:endParaRPr b="0" i="0" sz="1400" u="none" cap="none" strike="noStrike">
              <a:solidFill>
                <a:schemeClr val="dk1"/>
              </a:solidFill>
              <a:latin typeface="Calibri"/>
              <a:ea typeface="Calibri"/>
              <a:cs typeface="Calibri"/>
              <a:sym typeface="Calibri"/>
            </a:endParaRPr>
          </a:p>
        </p:txBody>
      </p:sp>
      <p:sp>
        <p:nvSpPr>
          <p:cNvPr id="28" name="Google Shape;28;p4"/>
          <p:cNvSpPr/>
          <p:nvPr/>
        </p:nvSpPr>
        <p:spPr>
          <a:xfrm>
            <a:off x="1371600" y="1847088"/>
            <a:ext cx="9601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Inter"/>
              <a:buNone/>
            </a:pPr>
            <a:r>
              <a:rPr b="1" i="0" lang="en-US" sz="1500" u="none" cap="none" strike="noStrike">
                <a:solidFill>
                  <a:srgbClr val="1A1A1A"/>
                </a:solidFill>
                <a:latin typeface="Inter"/>
                <a:ea typeface="Inter"/>
                <a:cs typeface="Inter"/>
                <a:sym typeface="Inter"/>
              </a:rPr>
              <a:t>The problem</a:t>
            </a:r>
            <a:endParaRPr b="0" i="0" sz="1500" u="none" cap="none" strike="noStrike">
              <a:solidFill>
                <a:schemeClr val="dk1"/>
              </a:solidFill>
              <a:latin typeface="Calibri"/>
              <a:ea typeface="Calibri"/>
              <a:cs typeface="Calibri"/>
              <a:sym typeface="Calibri"/>
            </a:endParaRPr>
          </a:p>
        </p:txBody>
      </p:sp>
      <p:sp>
        <p:nvSpPr>
          <p:cNvPr id="29" name="Google Shape;29;p4"/>
          <p:cNvSpPr/>
          <p:nvPr/>
        </p:nvSpPr>
        <p:spPr>
          <a:xfrm>
            <a:off x="868680" y="2212848"/>
            <a:ext cx="457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400"/>
              <a:buFont typeface="Inter"/>
              <a:buNone/>
            </a:pPr>
            <a:r>
              <a:rPr b="1" i="0" lang="en-US" sz="1400" u="none" cap="none" strike="noStrike">
                <a:solidFill>
                  <a:srgbClr val="0B5394"/>
                </a:solidFill>
                <a:latin typeface="Inter"/>
                <a:ea typeface="Inter"/>
                <a:cs typeface="Inter"/>
                <a:sym typeface="Inter"/>
              </a:rPr>
              <a:t>2</a:t>
            </a:r>
            <a:endParaRPr b="0" i="0" sz="1400" u="none" cap="none" strike="noStrike">
              <a:solidFill>
                <a:schemeClr val="dk1"/>
              </a:solidFill>
              <a:latin typeface="Calibri"/>
              <a:ea typeface="Calibri"/>
              <a:cs typeface="Calibri"/>
              <a:sym typeface="Calibri"/>
            </a:endParaRPr>
          </a:p>
        </p:txBody>
      </p:sp>
      <p:sp>
        <p:nvSpPr>
          <p:cNvPr id="30" name="Google Shape;30;p4"/>
          <p:cNvSpPr/>
          <p:nvPr/>
        </p:nvSpPr>
        <p:spPr>
          <a:xfrm>
            <a:off x="1371600" y="2212848"/>
            <a:ext cx="9601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Inter"/>
              <a:buNone/>
            </a:pPr>
            <a:r>
              <a:rPr b="1" i="0" lang="en-US" sz="1500" u="none" cap="none" strike="noStrike">
                <a:solidFill>
                  <a:srgbClr val="1A1A1A"/>
                </a:solidFill>
                <a:latin typeface="Inter"/>
                <a:ea typeface="Inter"/>
                <a:cs typeface="Inter"/>
                <a:sym typeface="Inter"/>
              </a:rPr>
              <a:t>The idea</a:t>
            </a:r>
            <a:endParaRPr b="0" i="0" sz="1500" u="none" cap="none" strike="noStrike">
              <a:solidFill>
                <a:schemeClr val="dk1"/>
              </a:solidFill>
              <a:latin typeface="Calibri"/>
              <a:ea typeface="Calibri"/>
              <a:cs typeface="Calibri"/>
              <a:sym typeface="Calibri"/>
            </a:endParaRPr>
          </a:p>
        </p:txBody>
      </p:sp>
      <p:sp>
        <p:nvSpPr>
          <p:cNvPr id="31" name="Google Shape;31;p4"/>
          <p:cNvSpPr/>
          <p:nvPr/>
        </p:nvSpPr>
        <p:spPr>
          <a:xfrm>
            <a:off x="868680" y="2578608"/>
            <a:ext cx="457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400"/>
              <a:buFont typeface="Inter"/>
              <a:buNone/>
            </a:pPr>
            <a:r>
              <a:rPr b="1" i="0" lang="en-US" sz="1400" u="none" cap="none" strike="noStrike">
                <a:solidFill>
                  <a:srgbClr val="0B5394"/>
                </a:solidFill>
                <a:latin typeface="Inter"/>
                <a:ea typeface="Inter"/>
                <a:cs typeface="Inter"/>
                <a:sym typeface="Inter"/>
              </a:rPr>
              <a:t>3</a:t>
            </a:r>
            <a:endParaRPr b="0" i="0" sz="1400" u="none" cap="none" strike="noStrike">
              <a:solidFill>
                <a:schemeClr val="dk1"/>
              </a:solidFill>
              <a:latin typeface="Calibri"/>
              <a:ea typeface="Calibri"/>
              <a:cs typeface="Calibri"/>
              <a:sym typeface="Calibri"/>
            </a:endParaRPr>
          </a:p>
        </p:txBody>
      </p:sp>
      <p:sp>
        <p:nvSpPr>
          <p:cNvPr id="32" name="Google Shape;32;p4"/>
          <p:cNvSpPr/>
          <p:nvPr/>
        </p:nvSpPr>
        <p:spPr>
          <a:xfrm>
            <a:off x="1371600" y="2578608"/>
            <a:ext cx="9601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Inter"/>
              <a:buNone/>
            </a:pPr>
            <a:r>
              <a:rPr b="1" i="0" lang="en-US" sz="1500" u="none" cap="none" strike="noStrike">
                <a:solidFill>
                  <a:srgbClr val="1A1A1A"/>
                </a:solidFill>
                <a:latin typeface="Inter"/>
                <a:ea typeface="Inter"/>
                <a:cs typeface="Inter"/>
                <a:sym typeface="Inter"/>
              </a:rPr>
              <a:t>The implementation</a:t>
            </a:r>
            <a:endParaRPr b="0" i="0" sz="1500" u="none" cap="none" strike="noStrike">
              <a:solidFill>
                <a:schemeClr val="dk1"/>
              </a:solidFill>
              <a:latin typeface="Calibri"/>
              <a:ea typeface="Calibri"/>
              <a:cs typeface="Calibri"/>
              <a:sym typeface="Calibri"/>
            </a:endParaRPr>
          </a:p>
        </p:txBody>
      </p:sp>
      <p:sp>
        <p:nvSpPr>
          <p:cNvPr id="33" name="Google Shape;33;p4"/>
          <p:cNvSpPr/>
          <p:nvPr/>
        </p:nvSpPr>
        <p:spPr>
          <a:xfrm>
            <a:off x="822960" y="3310118"/>
            <a:ext cx="1051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00"/>
              <a:buFont typeface="Inter"/>
              <a:buNone/>
            </a:pPr>
            <a:r>
              <a:rPr b="1" i="0" lang="en-US" sz="1100" u="none" cap="none" strike="noStrike">
                <a:solidFill>
                  <a:srgbClr val="C0392B"/>
                </a:solidFill>
                <a:latin typeface="Inter"/>
                <a:ea typeface="Inter"/>
                <a:cs typeface="Inter"/>
                <a:sym typeface="Inter"/>
              </a:rPr>
              <a:t>ACT 2 · THE RESULT</a:t>
            </a:r>
            <a:endParaRPr b="0" i="0" sz="1100" u="none" cap="none" strike="noStrike">
              <a:solidFill>
                <a:schemeClr val="dk1"/>
              </a:solidFill>
              <a:latin typeface="Calibri"/>
              <a:ea typeface="Calibri"/>
              <a:cs typeface="Calibri"/>
              <a:sym typeface="Calibri"/>
            </a:endParaRPr>
          </a:p>
        </p:txBody>
      </p:sp>
      <p:sp>
        <p:nvSpPr>
          <p:cNvPr id="34" name="Google Shape;34;p4"/>
          <p:cNvSpPr/>
          <p:nvPr/>
        </p:nvSpPr>
        <p:spPr>
          <a:xfrm>
            <a:off x="868680" y="3602726"/>
            <a:ext cx="45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400"/>
              <a:buFont typeface="Inter"/>
              <a:buNone/>
            </a:pPr>
            <a:r>
              <a:rPr b="1" lang="en-US">
                <a:solidFill>
                  <a:srgbClr val="C0392B"/>
                </a:solidFill>
                <a:latin typeface="Inter"/>
                <a:ea typeface="Inter"/>
                <a:cs typeface="Inter"/>
                <a:sym typeface="Inter"/>
              </a:rPr>
              <a:t>5</a:t>
            </a:r>
            <a:endParaRPr b="0" i="0" sz="1400" u="none" cap="none" strike="noStrike">
              <a:solidFill>
                <a:schemeClr val="dk1"/>
              </a:solidFill>
              <a:latin typeface="Calibri"/>
              <a:ea typeface="Calibri"/>
              <a:cs typeface="Calibri"/>
              <a:sym typeface="Calibri"/>
            </a:endParaRPr>
          </a:p>
        </p:txBody>
      </p:sp>
      <p:sp>
        <p:nvSpPr>
          <p:cNvPr id="35" name="Google Shape;35;p4"/>
          <p:cNvSpPr/>
          <p:nvPr/>
        </p:nvSpPr>
        <p:spPr>
          <a:xfrm>
            <a:off x="1371600" y="3602726"/>
            <a:ext cx="9601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Inter"/>
              <a:buNone/>
            </a:pPr>
            <a:r>
              <a:rPr b="1" i="0" lang="en-US" sz="1500" u="none" cap="none" strike="noStrike">
                <a:solidFill>
                  <a:srgbClr val="1A1A1A"/>
                </a:solidFill>
                <a:latin typeface="Inter"/>
                <a:ea typeface="Inter"/>
                <a:cs typeface="Inter"/>
                <a:sym typeface="Inter"/>
              </a:rPr>
              <a:t>Throughput</a:t>
            </a:r>
            <a:endParaRPr b="0" i="0" sz="1500" u="none" cap="none" strike="noStrike">
              <a:solidFill>
                <a:schemeClr val="dk1"/>
              </a:solidFill>
              <a:latin typeface="Calibri"/>
              <a:ea typeface="Calibri"/>
              <a:cs typeface="Calibri"/>
              <a:sym typeface="Calibri"/>
            </a:endParaRPr>
          </a:p>
        </p:txBody>
      </p:sp>
      <p:sp>
        <p:nvSpPr>
          <p:cNvPr id="36" name="Google Shape;36;p4"/>
          <p:cNvSpPr/>
          <p:nvPr/>
        </p:nvSpPr>
        <p:spPr>
          <a:xfrm>
            <a:off x="868680" y="3968486"/>
            <a:ext cx="45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400"/>
              <a:buFont typeface="Inter"/>
              <a:buNone/>
            </a:pPr>
            <a:r>
              <a:rPr b="1" lang="en-US">
                <a:solidFill>
                  <a:srgbClr val="C0392B"/>
                </a:solidFill>
                <a:latin typeface="Inter"/>
                <a:ea typeface="Inter"/>
                <a:cs typeface="Inter"/>
                <a:sym typeface="Inter"/>
              </a:rPr>
              <a:t>6</a:t>
            </a:r>
            <a:endParaRPr b="0" i="0" sz="1400" u="none" cap="none" strike="noStrike">
              <a:solidFill>
                <a:schemeClr val="dk1"/>
              </a:solidFill>
              <a:latin typeface="Calibri"/>
              <a:ea typeface="Calibri"/>
              <a:cs typeface="Calibri"/>
              <a:sym typeface="Calibri"/>
            </a:endParaRPr>
          </a:p>
        </p:txBody>
      </p:sp>
      <p:sp>
        <p:nvSpPr>
          <p:cNvPr id="37" name="Google Shape;37;p4"/>
          <p:cNvSpPr/>
          <p:nvPr/>
        </p:nvSpPr>
        <p:spPr>
          <a:xfrm>
            <a:off x="1371600" y="3968486"/>
            <a:ext cx="9601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Inter"/>
              <a:buNone/>
            </a:pPr>
            <a:r>
              <a:rPr b="1" i="0" lang="en-US" sz="1500" u="none" cap="none" strike="noStrike">
                <a:solidFill>
                  <a:srgbClr val="1A1A1A"/>
                </a:solidFill>
                <a:latin typeface="Inter"/>
                <a:ea typeface="Inter"/>
                <a:cs typeface="Inter"/>
                <a:sym typeface="Inter"/>
              </a:rPr>
              <a:t>Collection is not the culprit</a:t>
            </a:r>
            <a:endParaRPr b="0" i="0" sz="1500" u="none" cap="none" strike="noStrike">
              <a:solidFill>
                <a:schemeClr val="dk1"/>
              </a:solidFill>
              <a:latin typeface="Calibri"/>
              <a:ea typeface="Calibri"/>
              <a:cs typeface="Calibri"/>
              <a:sym typeface="Calibri"/>
            </a:endParaRPr>
          </a:p>
        </p:txBody>
      </p:sp>
      <p:sp>
        <p:nvSpPr>
          <p:cNvPr id="38" name="Google Shape;38;p4"/>
          <p:cNvSpPr/>
          <p:nvPr/>
        </p:nvSpPr>
        <p:spPr>
          <a:xfrm>
            <a:off x="868680" y="4334246"/>
            <a:ext cx="45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400"/>
              <a:buFont typeface="Inter"/>
              <a:buNone/>
            </a:pPr>
            <a:r>
              <a:rPr b="1" lang="en-US">
                <a:solidFill>
                  <a:srgbClr val="C0392B"/>
                </a:solidFill>
                <a:latin typeface="Inter"/>
                <a:ea typeface="Inter"/>
                <a:cs typeface="Inter"/>
                <a:sym typeface="Inter"/>
              </a:rPr>
              <a:t>7</a:t>
            </a:r>
            <a:endParaRPr b="0" i="0" sz="1400" u="none" cap="none" strike="noStrike">
              <a:solidFill>
                <a:schemeClr val="dk1"/>
              </a:solidFill>
              <a:latin typeface="Calibri"/>
              <a:ea typeface="Calibri"/>
              <a:cs typeface="Calibri"/>
              <a:sym typeface="Calibri"/>
            </a:endParaRPr>
          </a:p>
        </p:txBody>
      </p:sp>
      <p:sp>
        <p:nvSpPr>
          <p:cNvPr id="39" name="Google Shape;39;p4"/>
          <p:cNvSpPr/>
          <p:nvPr/>
        </p:nvSpPr>
        <p:spPr>
          <a:xfrm>
            <a:off x="1371600" y="4334246"/>
            <a:ext cx="9601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Inter"/>
              <a:buNone/>
            </a:pPr>
            <a:r>
              <a:rPr b="1" i="0" lang="en-US" sz="1500" u="none" cap="none" strike="noStrike">
                <a:solidFill>
                  <a:srgbClr val="1A1A1A"/>
                </a:solidFill>
                <a:latin typeface="Inter"/>
                <a:ea typeface="Inter"/>
                <a:cs typeface="Inter"/>
                <a:sym typeface="Inter"/>
              </a:rPr>
              <a:t>The budget sweep</a:t>
            </a:r>
            <a:endParaRPr b="0" i="0" sz="1500" u="none" cap="none" strike="noStrike">
              <a:solidFill>
                <a:schemeClr val="dk1"/>
              </a:solidFill>
              <a:latin typeface="Calibri"/>
              <a:ea typeface="Calibri"/>
              <a:cs typeface="Calibri"/>
              <a:sym typeface="Calibri"/>
            </a:endParaRPr>
          </a:p>
        </p:txBody>
      </p:sp>
      <p:sp>
        <p:nvSpPr>
          <p:cNvPr id="40" name="Google Shape;40;p4"/>
          <p:cNvSpPr/>
          <p:nvPr/>
        </p:nvSpPr>
        <p:spPr>
          <a:xfrm>
            <a:off x="868680" y="4700006"/>
            <a:ext cx="45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400"/>
              <a:buFont typeface="Inter"/>
              <a:buNone/>
            </a:pPr>
            <a:r>
              <a:rPr b="1" lang="en-US">
                <a:solidFill>
                  <a:srgbClr val="C0392B"/>
                </a:solidFill>
                <a:latin typeface="Inter"/>
                <a:ea typeface="Inter"/>
                <a:cs typeface="Inter"/>
                <a:sym typeface="Inter"/>
              </a:rPr>
              <a:t>8</a:t>
            </a:r>
            <a:endParaRPr b="0" i="0" sz="1400" u="none" cap="none" strike="noStrike">
              <a:solidFill>
                <a:schemeClr val="dk1"/>
              </a:solidFill>
              <a:latin typeface="Calibri"/>
              <a:ea typeface="Calibri"/>
              <a:cs typeface="Calibri"/>
              <a:sym typeface="Calibri"/>
            </a:endParaRPr>
          </a:p>
        </p:txBody>
      </p:sp>
      <p:sp>
        <p:nvSpPr>
          <p:cNvPr id="41" name="Google Shape;41;p4"/>
          <p:cNvSpPr/>
          <p:nvPr/>
        </p:nvSpPr>
        <p:spPr>
          <a:xfrm>
            <a:off x="1371600" y="4700006"/>
            <a:ext cx="9601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Inter"/>
              <a:buNone/>
            </a:pPr>
            <a:r>
              <a:rPr b="1" i="0" lang="en-US" sz="1500" u="none" cap="none" strike="noStrike">
                <a:solidFill>
                  <a:srgbClr val="1A1A1A"/>
                </a:solidFill>
                <a:latin typeface="Inter"/>
                <a:ea typeface="Inter"/>
                <a:cs typeface="Inter"/>
                <a:sym typeface="Inter"/>
              </a:rPr>
              <a:t>The no-GC control</a:t>
            </a:r>
            <a:endParaRPr b="0" i="0" sz="1500" u="none" cap="none" strike="noStrike">
              <a:solidFill>
                <a:schemeClr val="dk1"/>
              </a:solidFill>
              <a:latin typeface="Calibri"/>
              <a:ea typeface="Calibri"/>
              <a:cs typeface="Calibri"/>
              <a:sym typeface="Calibri"/>
            </a:endParaRPr>
          </a:p>
        </p:txBody>
      </p:sp>
      <p:sp>
        <p:nvSpPr>
          <p:cNvPr id="42" name="Google Shape;42;p4"/>
          <p:cNvSpPr/>
          <p:nvPr/>
        </p:nvSpPr>
        <p:spPr>
          <a:xfrm>
            <a:off x="744885" y="5074929"/>
            <a:ext cx="1051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8449"/>
              </a:buClr>
              <a:buSzPts val="1100"/>
              <a:buFont typeface="Inter"/>
              <a:buNone/>
            </a:pPr>
            <a:r>
              <a:rPr b="1" i="0" lang="en-US" sz="1100" u="none" cap="none" strike="noStrike">
                <a:solidFill>
                  <a:srgbClr val="1E8449"/>
                </a:solidFill>
                <a:latin typeface="Inter"/>
                <a:ea typeface="Inter"/>
                <a:cs typeface="Inter"/>
                <a:sym typeface="Inter"/>
              </a:rPr>
              <a:t>ACT 3 · MORE THAN JUST THROUGHPUT</a:t>
            </a:r>
            <a:endParaRPr b="0" i="0" sz="1100" u="none" cap="none" strike="noStrike">
              <a:solidFill>
                <a:schemeClr val="dk1"/>
              </a:solidFill>
              <a:latin typeface="Calibri"/>
              <a:ea typeface="Calibri"/>
              <a:cs typeface="Calibri"/>
              <a:sym typeface="Calibri"/>
            </a:endParaRPr>
          </a:p>
        </p:txBody>
      </p:sp>
      <p:sp>
        <p:nvSpPr>
          <p:cNvPr id="43" name="Google Shape;43;p4"/>
          <p:cNvSpPr/>
          <p:nvPr/>
        </p:nvSpPr>
        <p:spPr>
          <a:xfrm>
            <a:off x="868680" y="5358374"/>
            <a:ext cx="45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8449"/>
              </a:buClr>
              <a:buSzPts val="1400"/>
              <a:buFont typeface="Inter"/>
              <a:buNone/>
            </a:pPr>
            <a:r>
              <a:rPr b="1" lang="en-US">
                <a:solidFill>
                  <a:srgbClr val="1E8449"/>
                </a:solidFill>
                <a:latin typeface="Inter"/>
                <a:ea typeface="Inter"/>
                <a:cs typeface="Inter"/>
                <a:sym typeface="Inter"/>
              </a:rPr>
              <a:t>9</a:t>
            </a:r>
            <a:endParaRPr b="0" i="0" sz="1400" u="none" cap="none" strike="noStrike">
              <a:solidFill>
                <a:schemeClr val="dk1"/>
              </a:solidFill>
              <a:latin typeface="Calibri"/>
              <a:ea typeface="Calibri"/>
              <a:cs typeface="Calibri"/>
              <a:sym typeface="Calibri"/>
            </a:endParaRPr>
          </a:p>
        </p:txBody>
      </p:sp>
      <p:sp>
        <p:nvSpPr>
          <p:cNvPr id="44" name="Google Shape;44;p4"/>
          <p:cNvSpPr/>
          <p:nvPr/>
        </p:nvSpPr>
        <p:spPr>
          <a:xfrm>
            <a:off x="1371600" y="5358374"/>
            <a:ext cx="9601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Inter"/>
              <a:buNone/>
            </a:pPr>
            <a:r>
              <a:rPr b="1" i="0" lang="en-US" sz="1500" u="none" cap="none" strike="noStrike">
                <a:solidFill>
                  <a:srgbClr val="1A1A1A"/>
                </a:solidFill>
                <a:latin typeface="Inter"/>
                <a:ea typeface="Inter"/>
                <a:cs typeface="Inter"/>
                <a:sym typeface="Inter"/>
              </a:rPr>
              <a:t>Latency &amp; space</a:t>
            </a:r>
            <a:endParaRPr b="0" i="0" sz="1500" u="none" cap="none" strike="noStrike">
              <a:solidFill>
                <a:schemeClr val="dk1"/>
              </a:solidFill>
              <a:latin typeface="Calibri"/>
              <a:ea typeface="Calibri"/>
              <a:cs typeface="Calibri"/>
              <a:sym typeface="Calibri"/>
            </a:endParaRPr>
          </a:p>
        </p:txBody>
      </p:sp>
      <p:sp>
        <p:nvSpPr>
          <p:cNvPr id="45" name="Google Shape;45;p4"/>
          <p:cNvSpPr/>
          <p:nvPr/>
        </p:nvSpPr>
        <p:spPr>
          <a:xfrm>
            <a:off x="868680" y="5724134"/>
            <a:ext cx="45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8449"/>
              </a:buClr>
              <a:buSzPts val="1400"/>
              <a:buFont typeface="Inter"/>
              <a:buNone/>
            </a:pPr>
            <a:r>
              <a:rPr b="1" lang="en-US">
                <a:solidFill>
                  <a:srgbClr val="1E8449"/>
                </a:solidFill>
                <a:latin typeface="Inter"/>
                <a:ea typeface="Inter"/>
                <a:cs typeface="Inter"/>
                <a:sym typeface="Inter"/>
              </a:rPr>
              <a:t>10</a:t>
            </a:r>
            <a:endParaRPr b="0" i="0" sz="1400" u="none" cap="none" strike="noStrike">
              <a:solidFill>
                <a:schemeClr val="dk1"/>
              </a:solidFill>
              <a:latin typeface="Calibri"/>
              <a:ea typeface="Calibri"/>
              <a:cs typeface="Calibri"/>
              <a:sym typeface="Calibri"/>
            </a:endParaRPr>
          </a:p>
        </p:txBody>
      </p:sp>
      <p:sp>
        <p:nvSpPr>
          <p:cNvPr id="46" name="Google Shape;46;p4"/>
          <p:cNvSpPr/>
          <p:nvPr/>
        </p:nvSpPr>
        <p:spPr>
          <a:xfrm>
            <a:off x="1371600" y="5724134"/>
            <a:ext cx="9601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Inter"/>
              <a:buNone/>
            </a:pPr>
            <a:r>
              <a:rPr b="1" i="0" lang="en-US" sz="1500" u="none" cap="none" strike="noStrike">
                <a:solidFill>
                  <a:srgbClr val="1A1A1A"/>
                </a:solidFill>
                <a:latin typeface="Inter"/>
                <a:ea typeface="Inter"/>
                <a:cs typeface="Inter"/>
                <a:sym typeface="Inter"/>
              </a:rPr>
              <a:t>Choosing a collector</a:t>
            </a:r>
            <a:endParaRPr b="0" i="0" sz="1500" u="none" cap="none" strike="noStrike">
              <a:solidFill>
                <a:schemeClr val="dk1"/>
              </a:solidFill>
              <a:latin typeface="Calibri"/>
              <a:ea typeface="Calibri"/>
              <a:cs typeface="Calibri"/>
              <a:sym typeface="Calibri"/>
            </a:endParaRPr>
          </a:p>
        </p:txBody>
      </p:sp>
      <p:sp>
        <p:nvSpPr>
          <p:cNvPr id="47" name="Google Shape;47;p4"/>
          <p:cNvSpPr/>
          <p:nvPr/>
        </p:nvSpPr>
        <p:spPr>
          <a:xfrm>
            <a:off x="868680" y="6089894"/>
            <a:ext cx="45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8449"/>
              </a:buClr>
              <a:buSzPts val="1400"/>
              <a:buFont typeface="Inter"/>
              <a:buNone/>
            </a:pPr>
            <a:r>
              <a:rPr b="1" i="0" lang="en-US" sz="1400" u="none" cap="none" strike="noStrike">
                <a:solidFill>
                  <a:srgbClr val="1E8449"/>
                </a:solidFill>
                <a:latin typeface="Inter"/>
                <a:ea typeface="Inter"/>
                <a:cs typeface="Inter"/>
                <a:sym typeface="Inter"/>
              </a:rPr>
              <a:t>1</a:t>
            </a:r>
            <a:r>
              <a:rPr b="1" lang="en-US">
                <a:solidFill>
                  <a:srgbClr val="1E8449"/>
                </a:solidFill>
                <a:latin typeface="Inter"/>
                <a:ea typeface="Inter"/>
                <a:cs typeface="Inter"/>
                <a:sym typeface="Inter"/>
              </a:rPr>
              <a:t>1</a:t>
            </a:r>
            <a:endParaRPr b="0" i="0" sz="1400" u="none" cap="none" strike="noStrike">
              <a:solidFill>
                <a:schemeClr val="dk1"/>
              </a:solidFill>
              <a:latin typeface="Calibri"/>
              <a:ea typeface="Calibri"/>
              <a:cs typeface="Calibri"/>
              <a:sym typeface="Calibri"/>
            </a:endParaRPr>
          </a:p>
        </p:txBody>
      </p:sp>
      <p:sp>
        <p:nvSpPr>
          <p:cNvPr id="48" name="Google Shape;48;p4"/>
          <p:cNvSpPr/>
          <p:nvPr/>
        </p:nvSpPr>
        <p:spPr>
          <a:xfrm>
            <a:off x="1371600" y="6089894"/>
            <a:ext cx="9601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Inter"/>
              <a:buNone/>
            </a:pPr>
            <a:r>
              <a:rPr b="1" i="0" lang="en-US" sz="1500" u="none" cap="none" strike="noStrike">
                <a:solidFill>
                  <a:srgbClr val="1A1A1A"/>
                </a:solidFill>
                <a:latin typeface="Inter"/>
                <a:ea typeface="Inter"/>
                <a:cs typeface="Inter"/>
                <a:sym typeface="Inter"/>
              </a:rPr>
              <a:t>Limitations</a:t>
            </a:r>
            <a:endParaRPr b="0" i="0" sz="1500" u="none" cap="none" strike="noStrike">
              <a:solidFill>
                <a:schemeClr val="dk1"/>
              </a:solidFill>
              <a:latin typeface="Calibri"/>
              <a:ea typeface="Calibri"/>
              <a:cs typeface="Calibri"/>
              <a:sym typeface="Calibri"/>
            </a:endParaRPr>
          </a:p>
        </p:txBody>
      </p:sp>
      <p:sp>
        <p:nvSpPr>
          <p:cNvPr id="49" name="Google Shape;49;p4"/>
          <p:cNvSpPr/>
          <p:nvPr/>
        </p:nvSpPr>
        <p:spPr>
          <a:xfrm>
            <a:off x="868680" y="6455654"/>
            <a:ext cx="45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8449"/>
              </a:buClr>
              <a:buSzPts val="1400"/>
              <a:buFont typeface="Inter"/>
              <a:buNone/>
            </a:pPr>
            <a:r>
              <a:rPr b="1" i="0" lang="en-US" sz="1400" u="none" cap="none" strike="noStrike">
                <a:solidFill>
                  <a:srgbClr val="1E8449"/>
                </a:solidFill>
                <a:latin typeface="Inter"/>
                <a:ea typeface="Inter"/>
                <a:cs typeface="Inter"/>
                <a:sym typeface="Inter"/>
              </a:rPr>
              <a:t>1</a:t>
            </a:r>
            <a:r>
              <a:rPr b="1" lang="en-US">
                <a:solidFill>
                  <a:srgbClr val="1E8449"/>
                </a:solidFill>
                <a:latin typeface="Inter"/>
                <a:ea typeface="Inter"/>
                <a:cs typeface="Inter"/>
                <a:sym typeface="Inter"/>
              </a:rPr>
              <a:t>2</a:t>
            </a:r>
            <a:endParaRPr b="0" i="0" sz="1400" u="none" cap="none" strike="noStrike">
              <a:solidFill>
                <a:schemeClr val="dk1"/>
              </a:solidFill>
              <a:latin typeface="Calibri"/>
              <a:ea typeface="Calibri"/>
              <a:cs typeface="Calibri"/>
              <a:sym typeface="Calibri"/>
            </a:endParaRPr>
          </a:p>
        </p:txBody>
      </p:sp>
      <p:sp>
        <p:nvSpPr>
          <p:cNvPr id="50" name="Google Shape;50;p4"/>
          <p:cNvSpPr/>
          <p:nvPr/>
        </p:nvSpPr>
        <p:spPr>
          <a:xfrm>
            <a:off x="1371600" y="6455654"/>
            <a:ext cx="9601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Inter"/>
              <a:buNone/>
            </a:pPr>
            <a:r>
              <a:rPr b="1" i="0" lang="en-US" sz="1500" u="none" cap="none" strike="noStrike">
                <a:solidFill>
                  <a:srgbClr val="1A1A1A"/>
                </a:solidFill>
                <a:latin typeface="Inter"/>
                <a:ea typeface="Inter"/>
                <a:cs typeface="Inter"/>
                <a:sym typeface="Inter"/>
              </a:rPr>
              <a:t>Conclusion</a:t>
            </a:r>
            <a:endParaRPr b="0" i="0" sz="1500" u="none" cap="none" strike="noStrike">
              <a:solidFill>
                <a:schemeClr val="dk1"/>
              </a:solidFill>
              <a:latin typeface="Calibri"/>
              <a:ea typeface="Calibri"/>
              <a:cs typeface="Calibri"/>
              <a:sym typeface="Calibri"/>
            </a:endParaRPr>
          </a:p>
        </p:txBody>
      </p:sp>
      <p:sp>
        <p:nvSpPr>
          <p:cNvPr id="51" name="Google Shape;51;p4"/>
          <p:cNvSpPr/>
          <p:nvPr/>
        </p:nvSpPr>
        <p:spPr>
          <a:xfrm>
            <a:off x="868680" y="2962658"/>
            <a:ext cx="45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400"/>
              <a:buFont typeface="Inter"/>
              <a:buNone/>
            </a:pPr>
            <a:r>
              <a:rPr b="1" lang="en-US">
                <a:solidFill>
                  <a:srgbClr val="0B5394"/>
                </a:solidFill>
                <a:latin typeface="Inter"/>
                <a:ea typeface="Inter"/>
                <a:cs typeface="Inter"/>
                <a:sym typeface="Inter"/>
              </a:rPr>
              <a:t>4</a:t>
            </a:r>
            <a:endParaRPr b="0" i="0" sz="1400" u="none" cap="none" strike="noStrike">
              <a:solidFill>
                <a:schemeClr val="dk1"/>
              </a:solidFill>
              <a:latin typeface="Calibri"/>
              <a:ea typeface="Calibri"/>
              <a:cs typeface="Calibri"/>
              <a:sym typeface="Calibri"/>
            </a:endParaRPr>
          </a:p>
        </p:txBody>
      </p:sp>
      <p:sp>
        <p:nvSpPr>
          <p:cNvPr id="52" name="Google Shape;52;p4"/>
          <p:cNvSpPr/>
          <p:nvPr/>
        </p:nvSpPr>
        <p:spPr>
          <a:xfrm>
            <a:off x="1371600" y="2962658"/>
            <a:ext cx="9601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Inter"/>
              <a:buNone/>
            </a:pPr>
            <a:r>
              <a:rPr b="1" lang="en-US" sz="1500">
                <a:solidFill>
                  <a:srgbClr val="1A1A1A"/>
                </a:solidFill>
                <a:latin typeface="Inter"/>
                <a:ea typeface="Inter"/>
                <a:cs typeface="Inter"/>
                <a:sym typeface="Inter"/>
              </a:rPr>
              <a:t>What we ask</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8"/>
        </a:solidFill>
      </p:bgPr>
    </p:bg>
    <p:spTree>
      <p:nvGrpSpPr>
        <p:cNvPr id="57" name="Shape 57"/>
        <p:cNvGrpSpPr/>
        <p:nvPr/>
      </p:nvGrpSpPr>
      <p:grpSpPr>
        <a:xfrm>
          <a:off x="0" y="0"/>
          <a:ext cx="0" cy="0"/>
          <a:chOff x="0" y="0"/>
          <a:chExt cx="0" cy="0"/>
        </a:xfrm>
      </p:grpSpPr>
      <p:sp>
        <p:nvSpPr>
          <p:cNvPr id="58" name="Google Shape;58;p5"/>
          <p:cNvSpPr/>
          <p:nvPr/>
        </p:nvSpPr>
        <p:spPr>
          <a:xfrm>
            <a:off x="822960" y="45720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200"/>
              <a:buFont typeface="Inter"/>
              <a:buNone/>
            </a:pPr>
            <a:r>
              <a:rPr b="1" i="0" lang="en-US" sz="1200" u="none" cap="none" strike="noStrike">
                <a:solidFill>
                  <a:srgbClr val="0B5394"/>
                </a:solidFill>
                <a:latin typeface="Inter"/>
                <a:ea typeface="Inter"/>
                <a:cs typeface="Inter"/>
                <a:sym typeface="Inter"/>
              </a:rPr>
              <a:t>ACT 1 · THE PROBLEM</a:t>
            </a:r>
            <a:endParaRPr b="0" i="0" sz="1200" u="none" cap="none" strike="noStrike">
              <a:solidFill>
                <a:schemeClr val="dk1"/>
              </a:solidFill>
              <a:latin typeface="Calibri"/>
              <a:ea typeface="Calibri"/>
              <a:cs typeface="Calibri"/>
              <a:sym typeface="Calibri"/>
            </a:endParaRPr>
          </a:p>
        </p:txBody>
      </p:sp>
      <p:sp>
        <p:nvSpPr>
          <p:cNvPr id="59" name="Google Shape;59;p5"/>
          <p:cNvSpPr/>
          <p:nvPr/>
        </p:nvSpPr>
        <p:spPr>
          <a:xfrm>
            <a:off x="822960" y="749808"/>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Inter"/>
              <a:buNone/>
            </a:pPr>
            <a:r>
              <a:rPr b="1" i="0" lang="en-US" sz="2600" u="none" cap="none" strike="noStrike">
                <a:solidFill>
                  <a:srgbClr val="1A1A1A"/>
                </a:solidFill>
                <a:latin typeface="Inter"/>
                <a:ea typeface="Inter"/>
                <a:cs typeface="Inter"/>
                <a:sym typeface="Inter"/>
              </a:rPr>
              <a:t>Textbook GC's are boring</a:t>
            </a:r>
            <a:endParaRPr b="0" i="0" sz="2600" u="none" cap="none" strike="noStrike">
              <a:solidFill>
                <a:schemeClr val="dk1"/>
              </a:solidFill>
              <a:latin typeface="Calibri"/>
              <a:ea typeface="Calibri"/>
              <a:cs typeface="Calibri"/>
              <a:sym typeface="Calibri"/>
            </a:endParaRPr>
          </a:p>
        </p:txBody>
      </p:sp>
      <p:sp>
        <p:nvSpPr>
          <p:cNvPr id="60" name="Google Shape;60;p5"/>
          <p:cNvSpPr/>
          <p:nvPr/>
        </p:nvSpPr>
        <p:spPr>
          <a:xfrm>
            <a:off x="822960" y="1965960"/>
            <a:ext cx="5577840" cy="1463040"/>
          </a:xfrm>
          <a:prstGeom prst="rect">
            <a:avLst/>
          </a:prstGeom>
          <a:noFill/>
          <a:ln>
            <a:noFill/>
          </a:ln>
        </p:spPr>
        <p:txBody>
          <a:bodyPr anchorCtr="0" anchor="t" bIns="0" lIns="0" spcFirstLastPara="1" rIns="0" wrap="square" tIns="0">
            <a:noAutofit/>
          </a:bodyPr>
          <a:lstStyle/>
          <a:p>
            <a:pPr indent="-177800" lvl="0" marL="177800" marR="0" rtl="0" algn="l">
              <a:lnSpc>
                <a:spcPct val="125000"/>
              </a:lnSpc>
              <a:spcBef>
                <a:spcPts val="0"/>
              </a:spcBef>
              <a:spcAft>
                <a:spcPts val="0"/>
              </a:spcAft>
              <a:buClr>
                <a:srgbClr val="1A1A1A"/>
              </a:buClr>
              <a:buSzPts val="1600"/>
              <a:buFont typeface="Inter"/>
              <a:buChar char="•"/>
            </a:pPr>
            <a:r>
              <a:rPr b="0" i="0" lang="en-US" sz="1600" u="none" cap="none" strike="noStrike">
                <a:solidFill>
                  <a:srgbClr val="1A1A1A"/>
                </a:solidFill>
                <a:latin typeface="Inter"/>
                <a:ea typeface="Inter"/>
                <a:cs typeface="Inter"/>
                <a:sym typeface="Inter"/>
              </a:rPr>
              <a:t>Textbook claims are qualitative: “copying wastes half the heap”, “mark-sweep fragments”</a:t>
            </a:r>
            <a:endParaRPr b="0" i="0" sz="1600" u="none" cap="none" strike="noStrike">
              <a:solidFill>
                <a:schemeClr val="dk1"/>
              </a:solidFill>
              <a:latin typeface="Calibri"/>
              <a:ea typeface="Calibri"/>
              <a:cs typeface="Calibri"/>
              <a:sym typeface="Calibri"/>
            </a:endParaRPr>
          </a:p>
          <a:p>
            <a:pPr indent="-177800" lvl="0" marL="177800" marR="0" rtl="0" algn="l">
              <a:lnSpc>
                <a:spcPct val="125000"/>
              </a:lnSpc>
              <a:spcBef>
                <a:spcPts val="1200"/>
              </a:spcBef>
              <a:spcAft>
                <a:spcPts val="0"/>
              </a:spcAft>
              <a:buClr>
                <a:srgbClr val="1A1A1A"/>
              </a:buClr>
              <a:buSzPts val="1600"/>
              <a:buFont typeface="Inter"/>
              <a:buChar char="•"/>
            </a:pPr>
            <a:r>
              <a:rPr b="0" i="0" lang="en-US" sz="1600" u="none" cap="none" strike="noStrike">
                <a:solidFill>
                  <a:srgbClr val="1A1A1A"/>
                </a:solidFill>
                <a:latin typeface="Inter"/>
                <a:ea typeface="Inter"/>
                <a:cs typeface="Inter"/>
                <a:sym typeface="Inter"/>
              </a:rPr>
              <a:t>No numbers for a real machine: which wins, by how much, why?</a:t>
            </a:r>
            <a:endParaRPr b="0" i="0" sz="1600" u="none" cap="none" strike="noStrike">
              <a:solidFill>
                <a:schemeClr val="dk1"/>
              </a:solidFill>
              <a:latin typeface="Calibri"/>
              <a:ea typeface="Calibri"/>
              <a:cs typeface="Calibri"/>
              <a:sym typeface="Calibri"/>
            </a:endParaRPr>
          </a:p>
        </p:txBody>
      </p:sp>
      <p:sp>
        <p:nvSpPr>
          <p:cNvPr id="61" name="Google Shape;61;p5"/>
          <p:cNvSpPr/>
          <p:nvPr/>
        </p:nvSpPr>
        <p:spPr>
          <a:xfrm>
            <a:off x="6675120" y="1828800"/>
            <a:ext cx="4663440" cy="3566160"/>
          </a:xfrm>
          <a:prstGeom prst="roundRect">
            <a:avLst>
              <a:gd fmla="val 2564" name="adj"/>
            </a:avLst>
          </a:prstGeom>
          <a:solidFill>
            <a:srgbClr val="F1F0EC"/>
          </a:solidFill>
          <a:ln>
            <a:noFill/>
          </a:ln>
          <a:effectLst>
            <a:outerShdw blurRad="889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6995160" y="2057400"/>
            <a:ext cx="4023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500"/>
              <a:buFont typeface="Inter"/>
              <a:buNone/>
            </a:pPr>
            <a:r>
              <a:rPr b="1" i="0" lang="en-US" sz="1500" u="none" cap="none" strike="noStrike">
                <a:solidFill>
                  <a:srgbClr val="0B5394"/>
                </a:solidFill>
                <a:latin typeface="Inter"/>
                <a:ea typeface="Inter"/>
                <a:cs typeface="Inter"/>
                <a:sym typeface="Inter"/>
              </a:rPr>
              <a:t>The catch</a:t>
            </a:r>
            <a:endParaRPr b="0" i="0" sz="1500" u="none" cap="none" strike="noStrike">
              <a:solidFill>
                <a:schemeClr val="dk1"/>
              </a:solidFill>
              <a:latin typeface="Calibri"/>
              <a:ea typeface="Calibri"/>
              <a:cs typeface="Calibri"/>
              <a:sym typeface="Calibri"/>
            </a:endParaRPr>
          </a:p>
        </p:txBody>
      </p:sp>
      <p:sp>
        <p:nvSpPr>
          <p:cNvPr id="63" name="Google Shape;63;p5"/>
          <p:cNvSpPr/>
          <p:nvPr/>
        </p:nvSpPr>
        <p:spPr>
          <a:xfrm>
            <a:off x="6995160" y="2514600"/>
            <a:ext cx="4023360" cy="2377440"/>
          </a:xfrm>
          <a:prstGeom prst="rect">
            <a:avLst/>
          </a:prstGeom>
          <a:noFill/>
          <a:ln>
            <a:noFill/>
          </a:ln>
        </p:spPr>
        <p:txBody>
          <a:bodyPr anchorCtr="0" anchor="t" bIns="0" lIns="0" spcFirstLastPara="1" rIns="0" wrap="square" tIns="0">
            <a:noAutofit/>
          </a:bodyPr>
          <a:lstStyle/>
          <a:p>
            <a:pPr indent="-177800" lvl="0" marL="177800" marR="0" rtl="0" algn="l">
              <a:lnSpc>
                <a:spcPct val="137931"/>
              </a:lnSpc>
              <a:spcBef>
                <a:spcPts val="0"/>
              </a:spcBef>
              <a:spcAft>
                <a:spcPts val="0"/>
              </a:spcAft>
              <a:buClr>
                <a:srgbClr val="1A1A1A"/>
              </a:buClr>
              <a:buSzPts val="1450"/>
              <a:buFont typeface="Inter"/>
              <a:buChar char="•"/>
            </a:pPr>
            <a:r>
              <a:rPr b="0" i="0" lang="en-US" sz="1450" u="none" cap="none" strike="noStrike">
                <a:solidFill>
                  <a:srgbClr val="1A1A1A"/>
                </a:solidFill>
                <a:latin typeface="Inter"/>
                <a:ea typeface="Inter"/>
                <a:cs typeface="Inter"/>
                <a:sym typeface="Inter"/>
              </a:rPr>
              <a:t>Existing comparisons vary collector + runtime + allocator + benchmarks at once</a:t>
            </a:r>
            <a:endParaRPr b="0" i="0" sz="1450" u="none" cap="none" strike="noStrike">
              <a:solidFill>
                <a:schemeClr val="dk1"/>
              </a:solidFill>
              <a:latin typeface="Calibri"/>
              <a:ea typeface="Calibri"/>
              <a:cs typeface="Calibri"/>
              <a:sym typeface="Calibri"/>
            </a:endParaRPr>
          </a:p>
          <a:p>
            <a:pPr indent="-177800" lvl="0" marL="177800" marR="0" rtl="0" algn="l">
              <a:lnSpc>
                <a:spcPct val="137931"/>
              </a:lnSpc>
              <a:spcBef>
                <a:spcPts val="1000"/>
              </a:spcBef>
              <a:spcAft>
                <a:spcPts val="0"/>
              </a:spcAft>
              <a:buClr>
                <a:srgbClr val="1A1A1A"/>
              </a:buClr>
              <a:buSzPts val="1450"/>
              <a:buFont typeface="Inter"/>
              <a:buChar char="•"/>
            </a:pPr>
            <a:r>
              <a:rPr b="0" i="0" lang="en-US" sz="1450" u="none" cap="none" strike="noStrike">
                <a:solidFill>
                  <a:srgbClr val="1A1A1A"/>
                </a:solidFill>
                <a:latin typeface="Inter"/>
                <a:ea typeface="Inter"/>
                <a:cs typeface="Inter"/>
                <a:sym typeface="Inter"/>
              </a:rPr>
              <a:t>The algorithm is entangled with everything around it</a:t>
            </a:r>
            <a:endParaRPr b="0" i="0" sz="1450" u="none" cap="none" strike="noStrike">
              <a:solidFill>
                <a:schemeClr val="dk1"/>
              </a:solidFill>
              <a:latin typeface="Calibri"/>
              <a:ea typeface="Calibri"/>
              <a:cs typeface="Calibri"/>
              <a:sym typeface="Calibri"/>
            </a:endParaRPr>
          </a:p>
          <a:p>
            <a:pPr indent="-177800" lvl="0" marL="177800" marR="0" rtl="0" algn="l">
              <a:lnSpc>
                <a:spcPct val="137931"/>
              </a:lnSpc>
              <a:spcBef>
                <a:spcPts val="1000"/>
              </a:spcBef>
              <a:spcAft>
                <a:spcPts val="0"/>
              </a:spcAft>
              <a:buClr>
                <a:srgbClr val="1A1A1A"/>
              </a:buClr>
              <a:buSzPts val="1450"/>
              <a:buFont typeface="Inter"/>
              <a:buChar char="•"/>
            </a:pPr>
            <a:r>
              <a:rPr b="0" i="0" lang="en-US" sz="1450" u="none" cap="none" strike="noStrike">
                <a:solidFill>
                  <a:srgbClr val="1A1A1A"/>
                </a:solidFill>
                <a:latin typeface="Inter"/>
                <a:ea typeface="Inter"/>
                <a:cs typeface="Inter"/>
                <a:sym typeface="Inter"/>
              </a:rPr>
              <a:t>Result: trade-offs stay </a:t>
            </a:r>
            <a:r>
              <a:rPr lang="en-US" sz="1450">
                <a:solidFill>
                  <a:srgbClr val="1A1A1A"/>
                </a:solidFill>
                <a:latin typeface="Inter"/>
                <a:ea typeface="Inter"/>
                <a:cs typeface="Inter"/>
                <a:sym typeface="Inter"/>
              </a:rPr>
              <a:t>hidden</a:t>
            </a:r>
            <a:r>
              <a:rPr b="0" i="0" lang="en-US" sz="1450" u="none" cap="none" strike="noStrike">
                <a:solidFill>
                  <a:srgbClr val="1A1A1A"/>
                </a:solidFill>
                <a:latin typeface="Inter"/>
                <a:ea typeface="Inter"/>
                <a:cs typeface="Inter"/>
                <a:sym typeface="Inter"/>
              </a:rPr>
              <a:t>, never measured</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8"/>
        </a:solidFill>
      </p:bgPr>
    </p:bg>
    <p:spTree>
      <p:nvGrpSpPr>
        <p:cNvPr id="68" name="Shape 68"/>
        <p:cNvGrpSpPr/>
        <p:nvPr/>
      </p:nvGrpSpPr>
      <p:grpSpPr>
        <a:xfrm>
          <a:off x="0" y="0"/>
          <a:ext cx="0" cy="0"/>
          <a:chOff x="0" y="0"/>
          <a:chExt cx="0" cy="0"/>
        </a:xfrm>
      </p:grpSpPr>
      <p:sp>
        <p:nvSpPr>
          <p:cNvPr id="69" name="Google Shape;69;p6"/>
          <p:cNvSpPr/>
          <p:nvPr/>
        </p:nvSpPr>
        <p:spPr>
          <a:xfrm>
            <a:off x="822960" y="45720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200"/>
              <a:buFont typeface="Inter"/>
              <a:buNone/>
            </a:pPr>
            <a:r>
              <a:rPr b="1" i="0" lang="en-US" sz="1200" u="none" cap="none" strike="noStrike">
                <a:solidFill>
                  <a:srgbClr val="0B5394"/>
                </a:solidFill>
                <a:latin typeface="Inter"/>
                <a:ea typeface="Inter"/>
                <a:cs typeface="Inter"/>
                <a:sym typeface="Inter"/>
              </a:rPr>
              <a:t>ACT 1 · THE IDEA</a:t>
            </a:r>
            <a:endParaRPr b="0" i="0" sz="1200" u="none" cap="none" strike="noStrike">
              <a:solidFill>
                <a:schemeClr val="dk1"/>
              </a:solidFill>
              <a:latin typeface="Calibri"/>
              <a:ea typeface="Calibri"/>
              <a:cs typeface="Calibri"/>
              <a:sym typeface="Calibri"/>
            </a:endParaRPr>
          </a:p>
        </p:txBody>
      </p:sp>
      <p:sp>
        <p:nvSpPr>
          <p:cNvPr id="70" name="Google Shape;70;p6"/>
          <p:cNvSpPr/>
          <p:nvPr/>
        </p:nvSpPr>
        <p:spPr>
          <a:xfrm>
            <a:off x="822960" y="749808"/>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Inter"/>
              <a:buNone/>
            </a:pPr>
            <a:r>
              <a:rPr b="1" i="0" lang="en-US" sz="2600" u="none" cap="none" strike="noStrike">
                <a:solidFill>
                  <a:srgbClr val="1A1A1A"/>
                </a:solidFill>
                <a:latin typeface="Inter"/>
                <a:ea typeface="Inter"/>
                <a:cs typeface="Inter"/>
                <a:sym typeface="Inter"/>
              </a:rPr>
              <a:t>One interface, five GC's, same workload</a:t>
            </a:r>
            <a:endParaRPr b="0" i="0" sz="2600" u="none" cap="none" strike="noStrike">
              <a:solidFill>
                <a:schemeClr val="dk1"/>
              </a:solidFill>
              <a:latin typeface="Calibri"/>
              <a:ea typeface="Calibri"/>
              <a:cs typeface="Calibri"/>
              <a:sym typeface="Calibri"/>
            </a:endParaRPr>
          </a:p>
        </p:txBody>
      </p:sp>
      <p:sp>
        <p:nvSpPr>
          <p:cNvPr id="71" name="Google Shape;71;p6"/>
          <p:cNvSpPr/>
          <p:nvPr/>
        </p:nvSpPr>
        <p:spPr>
          <a:xfrm>
            <a:off x="822960" y="2148840"/>
            <a:ext cx="3108960" cy="2971800"/>
          </a:xfrm>
          <a:prstGeom prst="roundRect">
            <a:avLst>
              <a:gd fmla="val 2462" name="adj"/>
            </a:avLst>
          </a:prstGeom>
          <a:solidFill>
            <a:srgbClr val="F1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822960" y="2331720"/>
            <a:ext cx="3108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600"/>
              <a:buFont typeface="Inter"/>
              <a:buNone/>
            </a:pPr>
            <a:r>
              <a:rPr b="1" i="0" lang="en-US" sz="1600" u="none" cap="none" strike="noStrike">
                <a:solidFill>
                  <a:srgbClr val="1A1A1A"/>
                </a:solidFill>
                <a:latin typeface="Inter"/>
                <a:ea typeface="Inter"/>
                <a:cs typeface="Inter"/>
                <a:sym typeface="Inter"/>
              </a:rPr>
              <a:t>IJVM host</a:t>
            </a:r>
            <a:endParaRPr b="0" i="0" sz="1600" u="none" cap="none" strike="noStrike">
              <a:solidFill>
                <a:schemeClr val="dk1"/>
              </a:solidFill>
              <a:latin typeface="Calibri"/>
              <a:ea typeface="Calibri"/>
              <a:cs typeface="Calibri"/>
              <a:sym typeface="Calibri"/>
            </a:endParaRPr>
          </a:p>
        </p:txBody>
      </p:sp>
      <p:sp>
        <p:nvSpPr>
          <p:cNvPr id="73" name="Google Shape;73;p6"/>
          <p:cNvSpPr/>
          <p:nvPr/>
        </p:nvSpPr>
        <p:spPr>
          <a:xfrm>
            <a:off x="1188720" y="2834640"/>
            <a:ext cx="2468880" cy="2103120"/>
          </a:xfrm>
          <a:prstGeom prst="rect">
            <a:avLst/>
          </a:prstGeom>
          <a:noFill/>
          <a:ln>
            <a:noFill/>
          </a:ln>
        </p:spPr>
        <p:txBody>
          <a:bodyPr anchorCtr="0" anchor="ctr" bIns="0" lIns="0" spcFirstLastPara="1" rIns="0" wrap="square" tIns="0">
            <a:noAutofit/>
          </a:bodyPr>
          <a:lstStyle/>
          <a:p>
            <a:pPr indent="0" lvl="0" marL="0" marR="0" rtl="0" algn="l">
              <a:lnSpc>
                <a:spcPct val="200000"/>
              </a:lnSpc>
              <a:spcBef>
                <a:spcPts val="0"/>
              </a:spcBef>
              <a:spcAft>
                <a:spcPts val="0"/>
              </a:spcAft>
              <a:buClr>
                <a:srgbClr val="6B7177"/>
              </a:buClr>
              <a:buSzPts val="1300"/>
              <a:buFont typeface="JetBrains Mono"/>
              <a:buNone/>
            </a:pPr>
            <a:r>
              <a:rPr lang="en-US" sz="1300">
                <a:solidFill>
                  <a:srgbClr val="6B7177"/>
                </a:solidFill>
                <a:latin typeface="JetBrains Mono"/>
                <a:ea typeface="JetBrains Mono"/>
                <a:cs typeface="JetBrains Mono"/>
                <a:sym typeface="JetBrains Mono"/>
              </a:rPr>
              <a:t>raw allocation</a:t>
            </a:r>
            <a:endParaRPr b="0" i="0" sz="1300" u="none" cap="none" strike="noStrike">
              <a:solidFill>
                <a:schemeClr val="dk1"/>
              </a:solidFill>
              <a:latin typeface="Calibri"/>
              <a:ea typeface="Calibri"/>
              <a:cs typeface="Calibri"/>
              <a:sym typeface="Calibri"/>
            </a:endParaRPr>
          </a:p>
          <a:p>
            <a:pPr indent="0" lvl="0" marL="0" marR="0" rtl="0" algn="l">
              <a:lnSpc>
                <a:spcPct val="200000"/>
              </a:lnSpc>
              <a:spcBef>
                <a:spcPts val="0"/>
              </a:spcBef>
              <a:spcAft>
                <a:spcPts val="0"/>
              </a:spcAft>
              <a:buClr>
                <a:srgbClr val="6B7177"/>
              </a:buClr>
              <a:buSzPts val="1300"/>
              <a:buFont typeface="JetBrains Mono"/>
              <a:buNone/>
            </a:pPr>
            <a:r>
              <a:rPr b="0" i="0" lang="en-US" sz="1300" u="none" cap="none" strike="noStrike">
                <a:solidFill>
                  <a:srgbClr val="6B7177"/>
                </a:solidFill>
                <a:latin typeface="JetBrains Mono"/>
                <a:ea typeface="JetBrains Mono"/>
                <a:cs typeface="JetBrains Mono"/>
                <a:sym typeface="JetBrains Mono"/>
              </a:rPr>
              <a:t>root enumeration</a:t>
            </a:r>
            <a:endParaRPr b="0" i="0" sz="1300" u="none" cap="none" strike="noStrike">
              <a:solidFill>
                <a:schemeClr val="dk1"/>
              </a:solidFill>
              <a:latin typeface="Calibri"/>
              <a:ea typeface="Calibri"/>
              <a:cs typeface="Calibri"/>
              <a:sym typeface="Calibri"/>
            </a:endParaRPr>
          </a:p>
          <a:p>
            <a:pPr indent="0" lvl="0" marL="0" marR="0" rtl="0" algn="l">
              <a:lnSpc>
                <a:spcPct val="200000"/>
              </a:lnSpc>
              <a:spcBef>
                <a:spcPts val="0"/>
              </a:spcBef>
              <a:spcAft>
                <a:spcPts val="0"/>
              </a:spcAft>
              <a:buClr>
                <a:srgbClr val="6B7177"/>
              </a:buClr>
              <a:buSzPts val="1300"/>
              <a:buFont typeface="JetBrains Mono"/>
              <a:buNone/>
            </a:pPr>
            <a:r>
              <a:rPr b="0" i="0" lang="en-US" sz="1300" u="none" cap="none" strike="noStrike">
                <a:solidFill>
                  <a:srgbClr val="6B7177"/>
                </a:solidFill>
                <a:latin typeface="JetBrains Mono"/>
                <a:ea typeface="JetBrains Mono"/>
                <a:cs typeface="JetBrains Mono"/>
                <a:sym typeface="JetBrains Mono"/>
              </a:rPr>
              <a:t>heap walk</a:t>
            </a:r>
            <a:endParaRPr b="0" i="0" sz="1300" u="none" cap="none" strike="noStrike">
              <a:solidFill>
                <a:schemeClr val="dk1"/>
              </a:solidFill>
              <a:latin typeface="Calibri"/>
              <a:ea typeface="Calibri"/>
              <a:cs typeface="Calibri"/>
              <a:sym typeface="Calibri"/>
            </a:endParaRPr>
          </a:p>
          <a:p>
            <a:pPr indent="0" lvl="0" marL="0" marR="0" rtl="0" algn="l">
              <a:lnSpc>
                <a:spcPct val="200000"/>
              </a:lnSpc>
              <a:spcBef>
                <a:spcPts val="0"/>
              </a:spcBef>
              <a:spcAft>
                <a:spcPts val="0"/>
              </a:spcAft>
              <a:buClr>
                <a:srgbClr val="6B7177"/>
              </a:buClr>
              <a:buSzPts val="1300"/>
              <a:buFont typeface="JetBrains Mono"/>
              <a:buNone/>
            </a:pPr>
            <a:r>
              <a:rPr b="0" i="0" lang="en-US" sz="1300" u="none" cap="none" strike="noStrike">
                <a:solidFill>
                  <a:srgbClr val="6B7177"/>
                </a:solidFill>
                <a:latin typeface="JetBrains Mono"/>
                <a:ea typeface="JetBrains Mono"/>
                <a:cs typeface="JetBrains Mono"/>
                <a:sym typeface="JetBrains Mono"/>
              </a:rPr>
              <a:t>mark / forward bits</a:t>
            </a:r>
            <a:endParaRPr b="0" i="0" sz="1300" u="none" cap="none" strike="noStrike">
              <a:solidFill>
                <a:schemeClr val="dk1"/>
              </a:solidFill>
              <a:latin typeface="Calibri"/>
              <a:ea typeface="Calibri"/>
              <a:cs typeface="Calibri"/>
              <a:sym typeface="Calibri"/>
            </a:endParaRPr>
          </a:p>
          <a:p>
            <a:pPr indent="0" lvl="0" marL="0" marR="0" rtl="0" algn="l">
              <a:lnSpc>
                <a:spcPct val="200000"/>
              </a:lnSpc>
              <a:spcBef>
                <a:spcPts val="0"/>
              </a:spcBef>
              <a:spcAft>
                <a:spcPts val="0"/>
              </a:spcAft>
              <a:buClr>
                <a:srgbClr val="6B7177"/>
              </a:buClr>
              <a:buSzPts val="1300"/>
              <a:buFont typeface="JetBrains Mono"/>
              <a:buNone/>
            </a:pPr>
            <a:r>
              <a:rPr b="0" i="0" lang="en-US" sz="1300" u="none" cap="none" strike="noStrike">
                <a:solidFill>
                  <a:srgbClr val="6B7177"/>
                </a:solidFill>
                <a:latin typeface="JetBrains Mono"/>
                <a:ea typeface="JetBrains Mono"/>
                <a:cs typeface="JetBrains Mono"/>
                <a:sym typeface="JetBrains Mono"/>
              </a:rPr>
              <a:t>relocate</a:t>
            </a:r>
            <a:endParaRPr b="0" i="0" sz="1300" u="none" cap="none" strike="noStrike">
              <a:solidFill>
                <a:schemeClr val="dk1"/>
              </a:solidFill>
              <a:latin typeface="Calibri"/>
              <a:ea typeface="Calibri"/>
              <a:cs typeface="Calibri"/>
              <a:sym typeface="Calibri"/>
            </a:endParaRPr>
          </a:p>
        </p:txBody>
      </p:sp>
      <p:sp>
        <p:nvSpPr>
          <p:cNvPr id="74" name="Google Shape;74;p6"/>
          <p:cNvSpPr/>
          <p:nvPr/>
        </p:nvSpPr>
        <p:spPr>
          <a:xfrm>
            <a:off x="4526280" y="3108960"/>
            <a:ext cx="1920240" cy="1051560"/>
          </a:xfrm>
          <a:prstGeom prst="roundRect">
            <a:avLst>
              <a:gd fmla="val 47826" name="adj"/>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a:off x="4526280" y="3246120"/>
            <a:ext cx="1920240" cy="7772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1500"/>
              <a:buFont typeface="Inter"/>
              <a:buNone/>
            </a:pPr>
            <a:r>
              <a:rPr b="1" i="0" lang="en-US" sz="1500" u="none" cap="none" strike="noStrike">
                <a:solidFill>
                  <a:srgbClr val="FFFFFF"/>
                </a:solidFill>
                <a:latin typeface="Inter"/>
                <a:ea typeface="Inter"/>
                <a:cs typeface="Inter"/>
                <a:sym typeface="Inter"/>
              </a:rPr>
              <a:t>one</a:t>
            </a:r>
            <a:endParaRPr b="0" i="0" sz="15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FFFFFF"/>
              </a:buClr>
              <a:buSzPts val="1500"/>
              <a:buFont typeface="Inter"/>
              <a:buNone/>
            </a:pPr>
            <a:r>
              <a:rPr b="1" i="0" lang="en-US" sz="1500" u="none" cap="none" strike="noStrike">
                <a:solidFill>
                  <a:srgbClr val="FFFFFF"/>
                </a:solidFill>
                <a:latin typeface="Inter"/>
                <a:ea typeface="Inter"/>
                <a:cs typeface="Inter"/>
                <a:sym typeface="Inter"/>
              </a:rPr>
              <a:t>interface</a:t>
            </a:r>
            <a:endParaRPr b="0" i="0" sz="1500" u="none" cap="none" strike="noStrike">
              <a:solidFill>
                <a:schemeClr val="dk1"/>
              </a:solidFill>
              <a:latin typeface="Calibri"/>
              <a:ea typeface="Calibri"/>
              <a:cs typeface="Calibri"/>
              <a:sym typeface="Calibri"/>
            </a:endParaRPr>
          </a:p>
        </p:txBody>
      </p:sp>
      <p:cxnSp>
        <p:nvCxnSpPr>
          <p:cNvPr id="76" name="Google Shape;76;p6"/>
          <p:cNvCxnSpPr/>
          <p:nvPr/>
        </p:nvCxnSpPr>
        <p:spPr>
          <a:xfrm>
            <a:off x="3977640" y="3639312"/>
            <a:ext cx="502920" cy="0"/>
          </a:xfrm>
          <a:prstGeom prst="straightConnector1">
            <a:avLst/>
          </a:prstGeom>
          <a:noFill/>
          <a:ln cap="flat" cmpd="sng" w="25400">
            <a:solidFill>
              <a:srgbClr val="1A1A1A"/>
            </a:solidFill>
            <a:prstDash val="solid"/>
            <a:round/>
            <a:headEnd len="sm" w="sm" type="none"/>
            <a:tailEnd len="med" w="med" type="triangle"/>
          </a:ln>
        </p:spPr>
      </p:cxnSp>
      <p:cxnSp>
        <p:nvCxnSpPr>
          <p:cNvPr id="77" name="Google Shape;77;p6"/>
          <p:cNvCxnSpPr/>
          <p:nvPr/>
        </p:nvCxnSpPr>
        <p:spPr>
          <a:xfrm>
            <a:off x="6455664" y="3639312"/>
            <a:ext cx="457200" cy="0"/>
          </a:xfrm>
          <a:prstGeom prst="straightConnector1">
            <a:avLst/>
          </a:prstGeom>
          <a:noFill/>
          <a:ln cap="flat" cmpd="sng" w="25400">
            <a:solidFill>
              <a:srgbClr val="1A1A1A"/>
            </a:solidFill>
            <a:prstDash val="solid"/>
            <a:round/>
            <a:headEnd len="sm" w="sm" type="none"/>
            <a:tailEnd len="med" w="med" type="triangle"/>
          </a:ln>
        </p:spPr>
      </p:cxnSp>
      <p:sp>
        <p:nvSpPr>
          <p:cNvPr id="78" name="Google Shape;78;p6"/>
          <p:cNvSpPr/>
          <p:nvPr/>
        </p:nvSpPr>
        <p:spPr>
          <a:xfrm>
            <a:off x="7040880" y="2011680"/>
            <a:ext cx="4297680" cy="603504"/>
          </a:xfrm>
          <a:prstGeom prst="roundRect">
            <a:avLst>
              <a:gd fmla="val 7576" name="adj"/>
            </a:avLst>
          </a:prstGeom>
          <a:solidFill>
            <a:srgbClr val="FFFFFF"/>
          </a:solidFill>
          <a:ln cap="flat" cmpd="sng" w="19050">
            <a:solidFill>
              <a:srgbClr val="9AA0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7269480" y="2185416"/>
            <a:ext cx="256032" cy="256032"/>
          </a:xfrm>
          <a:prstGeom prst="ellipse">
            <a:avLst/>
          </a:prstGeom>
          <a:solidFill>
            <a:srgbClr val="9AA0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7699248" y="2011680"/>
            <a:ext cx="35661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JetBrains Mono"/>
              <a:buNone/>
            </a:pPr>
            <a:r>
              <a:rPr b="1" i="0" lang="en-US" sz="1500" u="none" cap="none" strike="noStrike">
                <a:solidFill>
                  <a:srgbClr val="1A1A1A"/>
                </a:solidFill>
                <a:latin typeface="JetBrains Mono"/>
                <a:ea typeface="JetBrains Mono"/>
                <a:cs typeface="JetBrains Mono"/>
                <a:sym typeface="JetBrains Mono"/>
              </a:rPr>
              <a:t>baseline</a:t>
            </a:r>
            <a:endParaRPr b="0" i="0" sz="1500" u="none" cap="none" strike="noStrike">
              <a:solidFill>
                <a:schemeClr val="dk1"/>
              </a:solidFill>
              <a:latin typeface="Calibri"/>
              <a:ea typeface="Calibri"/>
              <a:cs typeface="Calibri"/>
              <a:sym typeface="Calibri"/>
            </a:endParaRPr>
          </a:p>
        </p:txBody>
      </p:sp>
      <p:sp>
        <p:nvSpPr>
          <p:cNvPr id="81" name="Google Shape;81;p6"/>
          <p:cNvSpPr/>
          <p:nvPr/>
        </p:nvSpPr>
        <p:spPr>
          <a:xfrm>
            <a:off x="7040880" y="2743200"/>
            <a:ext cx="4297680" cy="603504"/>
          </a:xfrm>
          <a:prstGeom prst="roundRect">
            <a:avLst>
              <a:gd fmla="val 7576" name="adj"/>
            </a:avLst>
          </a:prstGeom>
          <a:solidFill>
            <a:srgbClr val="FFFFFF"/>
          </a:solidFill>
          <a:ln cap="flat" cmpd="sng" w="1905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7269480" y="2916936"/>
            <a:ext cx="256032" cy="256032"/>
          </a:xfrm>
          <a:prstGeom prst="ellipse">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7699248" y="2743200"/>
            <a:ext cx="35661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JetBrains Mono"/>
              <a:buNone/>
            </a:pPr>
            <a:r>
              <a:rPr b="1" i="0" lang="en-US" sz="1500" u="none" cap="none" strike="noStrike">
                <a:solidFill>
                  <a:srgbClr val="1A1A1A"/>
                </a:solidFill>
                <a:latin typeface="JetBrains Mono"/>
                <a:ea typeface="JetBrains Mono"/>
                <a:cs typeface="JetBrains Mono"/>
                <a:sym typeface="JetBrains Mono"/>
              </a:rPr>
              <a:t>mark-sweep</a:t>
            </a:r>
            <a:endParaRPr b="0" i="0" sz="1500" u="none" cap="none" strike="noStrike">
              <a:solidFill>
                <a:schemeClr val="dk1"/>
              </a:solidFill>
              <a:latin typeface="Calibri"/>
              <a:ea typeface="Calibri"/>
              <a:cs typeface="Calibri"/>
              <a:sym typeface="Calibri"/>
            </a:endParaRPr>
          </a:p>
        </p:txBody>
      </p:sp>
      <p:sp>
        <p:nvSpPr>
          <p:cNvPr id="84" name="Google Shape;84;p6"/>
          <p:cNvSpPr/>
          <p:nvPr/>
        </p:nvSpPr>
        <p:spPr>
          <a:xfrm>
            <a:off x="7040880" y="3474720"/>
            <a:ext cx="4297680" cy="603504"/>
          </a:xfrm>
          <a:prstGeom prst="roundRect">
            <a:avLst>
              <a:gd fmla="val 7576" name="adj"/>
            </a:avLst>
          </a:prstGeom>
          <a:solidFill>
            <a:srgbClr val="FFFFFF"/>
          </a:solidFill>
          <a:ln cap="flat" cmpd="sng" w="19050">
            <a:solidFill>
              <a:srgbClr val="1F6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7269480" y="3648456"/>
            <a:ext cx="256032" cy="256032"/>
          </a:xfrm>
          <a:prstGeom prst="ellipse">
            <a:avLst/>
          </a:prstGeom>
          <a:solidFill>
            <a:srgbClr val="1F6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7699248" y="3474720"/>
            <a:ext cx="35661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JetBrains Mono"/>
              <a:buNone/>
            </a:pPr>
            <a:r>
              <a:rPr b="1" i="0" lang="en-US" sz="1500" u="none" cap="none" strike="noStrike">
                <a:solidFill>
                  <a:srgbClr val="1A1A1A"/>
                </a:solidFill>
                <a:latin typeface="JetBrains Mono"/>
                <a:ea typeface="JetBrains Mono"/>
                <a:cs typeface="JetBrains Mono"/>
                <a:sym typeface="JetBrains Mono"/>
              </a:rPr>
              <a:t>mark-compact</a:t>
            </a:r>
            <a:endParaRPr b="0" i="0" sz="1500" u="none" cap="none" strike="noStrike">
              <a:solidFill>
                <a:schemeClr val="dk1"/>
              </a:solidFill>
              <a:latin typeface="Calibri"/>
              <a:ea typeface="Calibri"/>
              <a:cs typeface="Calibri"/>
              <a:sym typeface="Calibri"/>
            </a:endParaRPr>
          </a:p>
        </p:txBody>
      </p:sp>
      <p:sp>
        <p:nvSpPr>
          <p:cNvPr id="87" name="Google Shape;87;p6"/>
          <p:cNvSpPr/>
          <p:nvPr/>
        </p:nvSpPr>
        <p:spPr>
          <a:xfrm>
            <a:off x="7040880" y="4206240"/>
            <a:ext cx="4297680" cy="603504"/>
          </a:xfrm>
          <a:prstGeom prst="roundRect">
            <a:avLst>
              <a:gd fmla="val 7576" name="adj"/>
            </a:avLst>
          </a:prstGeom>
          <a:solidFill>
            <a:srgbClr val="FFFFFF"/>
          </a:solidFill>
          <a:ln cap="flat" cmpd="sng" w="19050">
            <a:solidFill>
              <a:srgbClr val="1E844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7269480" y="4379976"/>
            <a:ext cx="256032" cy="256032"/>
          </a:xfrm>
          <a:prstGeom prst="ellipse">
            <a:avLst/>
          </a:prstGeom>
          <a:solidFill>
            <a:srgbClr val="1E84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
          <p:cNvSpPr/>
          <p:nvPr/>
        </p:nvSpPr>
        <p:spPr>
          <a:xfrm>
            <a:off x="7699248" y="4206240"/>
            <a:ext cx="35661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JetBrains Mono"/>
              <a:buNone/>
            </a:pPr>
            <a:r>
              <a:rPr b="1" i="0" lang="en-US" sz="1500" u="none" cap="none" strike="noStrike">
                <a:solidFill>
                  <a:srgbClr val="1A1A1A"/>
                </a:solidFill>
                <a:latin typeface="JetBrains Mono"/>
                <a:ea typeface="JetBrains Mono"/>
                <a:cs typeface="JetBrains Mono"/>
                <a:sym typeface="JetBrains Mono"/>
              </a:rPr>
              <a:t>cheney</a:t>
            </a:r>
            <a:endParaRPr b="0" i="0" sz="1500" u="none" cap="none" strike="noStrike">
              <a:solidFill>
                <a:schemeClr val="dk1"/>
              </a:solidFill>
              <a:latin typeface="Calibri"/>
              <a:ea typeface="Calibri"/>
              <a:cs typeface="Calibri"/>
              <a:sym typeface="Calibri"/>
            </a:endParaRPr>
          </a:p>
        </p:txBody>
      </p:sp>
      <p:sp>
        <p:nvSpPr>
          <p:cNvPr id="90" name="Google Shape;90;p6"/>
          <p:cNvSpPr/>
          <p:nvPr/>
        </p:nvSpPr>
        <p:spPr>
          <a:xfrm>
            <a:off x="7040880" y="4937760"/>
            <a:ext cx="4297680" cy="603504"/>
          </a:xfrm>
          <a:prstGeom prst="roundRect">
            <a:avLst>
              <a:gd fmla="val 7576" name="adj"/>
            </a:avLst>
          </a:prstGeom>
          <a:solidFill>
            <a:srgbClr val="FFFFFF"/>
          </a:solidFill>
          <a:ln cap="flat" cmpd="sng" w="19050">
            <a:solidFill>
              <a:srgbClr val="8E44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7269480" y="5111496"/>
            <a:ext cx="256032" cy="256032"/>
          </a:xfrm>
          <a:prstGeom prst="ellipse">
            <a:avLst/>
          </a:prstGeom>
          <a:solidFill>
            <a:srgbClr val="8E44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7699248" y="4937760"/>
            <a:ext cx="35661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JetBrains Mono"/>
              <a:buNone/>
            </a:pPr>
            <a:r>
              <a:rPr b="1" i="0" lang="en-US" sz="1500" u="none" cap="none" strike="noStrike">
                <a:solidFill>
                  <a:srgbClr val="1A1A1A"/>
                </a:solidFill>
                <a:latin typeface="JetBrains Mono"/>
                <a:ea typeface="JetBrains Mono"/>
                <a:cs typeface="JetBrains Mono"/>
                <a:sym typeface="JetBrains Mono"/>
              </a:rPr>
              <a:t>generational</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8"/>
        </a:solidFill>
      </p:bgPr>
    </p:bg>
    <p:spTree>
      <p:nvGrpSpPr>
        <p:cNvPr id="97" name="Shape 97"/>
        <p:cNvGrpSpPr/>
        <p:nvPr/>
      </p:nvGrpSpPr>
      <p:grpSpPr>
        <a:xfrm>
          <a:off x="0" y="0"/>
          <a:ext cx="0" cy="0"/>
          <a:chOff x="0" y="0"/>
          <a:chExt cx="0" cy="0"/>
        </a:xfrm>
      </p:grpSpPr>
      <p:sp>
        <p:nvSpPr>
          <p:cNvPr id="98" name="Google Shape;98;p7"/>
          <p:cNvSpPr/>
          <p:nvPr/>
        </p:nvSpPr>
        <p:spPr>
          <a:xfrm>
            <a:off x="822960" y="45720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200"/>
              <a:buFont typeface="Inter"/>
              <a:buNone/>
            </a:pPr>
            <a:r>
              <a:rPr b="1" i="0" lang="en-US" sz="1200" u="none" cap="none" strike="noStrike">
                <a:solidFill>
                  <a:srgbClr val="0B5394"/>
                </a:solidFill>
                <a:latin typeface="Inter"/>
                <a:ea typeface="Inter"/>
                <a:cs typeface="Inter"/>
                <a:sym typeface="Inter"/>
              </a:rPr>
              <a:t>ACT 1 · THE IMPLEMENTATION</a:t>
            </a:r>
            <a:endParaRPr b="0" i="0" sz="1200" u="none" cap="none" strike="noStrike">
              <a:solidFill>
                <a:schemeClr val="dk1"/>
              </a:solidFill>
              <a:latin typeface="Calibri"/>
              <a:ea typeface="Calibri"/>
              <a:cs typeface="Calibri"/>
              <a:sym typeface="Calibri"/>
            </a:endParaRPr>
          </a:p>
        </p:txBody>
      </p:sp>
      <p:sp>
        <p:nvSpPr>
          <p:cNvPr id="99" name="Google Shape;99;p7"/>
          <p:cNvSpPr/>
          <p:nvPr/>
        </p:nvSpPr>
        <p:spPr>
          <a:xfrm>
            <a:off x="822960" y="749808"/>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Inter"/>
              <a:buNone/>
            </a:pPr>
            <a:r>
              <a:rPr b="1" i="0" lang="en-US" sz="2600" u="none" cap="none" strike="noStrike">
                <a:solidFill>
                  <a:srgbClr val="1A1A1A"/>
                </a:solidFill>
                <a:latin typeface="Inter"/>
                <a:ea typeface="Inter"/>
                <a:cs typeface="Inter"/>
                <a:sym typeface="Inter"/>
              </a:rPr>
              <a:t>Designing the VM and the Heap</a:t>
            </a:r>
            <a:endParaRPr b="0" i="0" sz="2600" u="none" cap="none" strike="noStrike">
              <a:solidFill>
                <a:schemeClr val="dk1"/>
              </a:solidFill>
              <a:latin typeface="Calibri"/>
              <a:ea typeface="Calibri"/>
              <a:cs typeface="Calibri"/>
              <a:sym typeface="Calibri"/>
            </a:endParaRPr>
          </a:p>
        </p:txBody>
      </p:sp>
      <p:sp>
        <p:nvSpPr>
          <p:cNvPr id="100" name="Google Shape;100;p7"/>
          <p:cNvSpPr/>
          <p:nvPr/>
        </p:nvSpPr>
        <p:spPr>
          <a:xfrm>
            <a:off x="822960" y="2103120"/>
            <a:ext cx="310896" cy="310896"/>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822960" y="2103120"/>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1</a:t>
            </a:r>
            <a:endParaRPr b="0" i="0" sz="1400" u="none" cap="none" strike="noStrike">
              <a:solidFill>
                <a:schemeClr val="dk1"/>
              </a:solidFill>
              <a:latin typeface="Calibri"/>
              <a:ea typeface="Calibri"/>
              <a:cs typeface="Calibri"/>
              <a:sym typeface="Calibri"/>
            </a:endParaRPr>
          </a:p>
        </p:txBody>
      </p:sp>
      <p:sp>
        <p:nvSpPr>
          <p:cNvPr id="102" name="Google Shape;102;p7"/>
          <p:cNvSpPr/>
          <p:nvPr/>
        </p:nvSpPr>
        <p:spPr>
          <a:xfrm>
            <a:off x="1280160" y="20574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Inter"/>
              <a:buNone/>
            </a:pPr>
            <a:r>
              <a:rPr b="1" i="0" lang="en-US" sz="1600" u="none" cap="none" strike="noStrike">
                <a:solidFill>
                  <a:srgbClr val="1A1A1A"/>
                </a:solidFill>
                <a:latin typeface="Inter"/>
                <a:ea typeface="Inter"/>
                <a:cs typeface="Inter"/>
                <a:sym typeface="Inter"/>
              </a:rPr>
              <a:t>Stack-based IJVM</a:t>
            </a:r>
            <a:endParaRPr b="0" i="0" sz="1600" u="none" cap="none" strike="noStrike">
              <a:solidFill>
                <a:schemeClr val="dk1"/>
              </a:solidFill>
              <a:latin typeface="Calibri"/>
              <a:ea typeface="Calibri"/>
              <a:cs typeface="Calibri"/>
              <a:sym typeface="Calibri"/>
            </a:endParaRPr>
          </a:p>
        </p:txBody>
      </p:sp>
      <p:sp>
        <p:nvSpPr>
          <p:cNvPr id="103" name="Google Shape;103;p7"/>
          <p:cNvSpPr/>
          <p:nvPr/>
        </p:nvSpPr>
        <p:spPr>
          <a:xfrm>
            <a:off x="1280160" y="2441448"/>
            <a:ext cx="5486400" cy="73152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6B7177"/>
              </a:buClr>
              <a:buSzPts val="1300"/>
              <a:buFont typeface="Inter"/>
              <a:buNone/>
            </a:pPr>
            <a:r>
              <a:rPr b="0" i="0" lang="en-US" sz="1300" u="none" cap="none" strike="noStrike">
                <a:solidFill>
                  <a:srgbClr val="6B7177"/>
                </a:solidFill>
                <a:latin typeface="Inter"/>
                <a:ea typeface="Inter"/>
                <a:cs typeface="Inter"/>
                <a:sym typeface="Inter"/>
              </a:rPr>
              <a:t>extended with array heap instructions (</a:t>
            </a:r>
            <a:r>
              <a:rPr b="1" i="0" lang="en-US" sz="1300" u="none" cap="none" strike="noStrike">
                <a:solidFill>
                  <a:srgbClr val="6B7177"/>
                </a:solidFill>
                <a:latin typeface="Inter"/>
                <a:ea typeface="Inter"/>
                <a:cs typeface="Inter"/>
                <a:sym typeface="Inter"/>
              </a:rPr>
              <a:t>NEWARRAY</a:t>
            </a:r>
            <a:r>
              <a:rPr b="0" i="0" lang="en-US" sz="1300" u="none" cap="none" strike="noStrike">
                <a:solidFill>
                  <a:srgbClr val="6B7177"/>
                </a:solidFill>
                <a:latin typeface="Inter"/>
                <a:ea typeface="Inter"/>
                <a:cs typeface="Inter"/>
                <a:sym typeface="Inter"/>
              </a:rPr>
              <a:t> / </a:t>
            </a:r>
            <a:r>
              <a:rPr b="1" i="0" lang="en-US" sz="1300" u="none" cap="none" strike="noStrike">
                <a:solidFill>
                  <a:srgbClr val="6B7177"/>
                </a:solidFill>
                <a:latin typeface="Inter"/>
                <a:ea typeface="Inter"/>
                <a:cs typeface="Inter"/>
                <a:sym typeface="Inter"/>
              </a:rPr>
              <a:t>ANEWARRAY</a:t>
            </a:r>
            <a:r>
              <a:rPr b="0" i="0" lang="en-US" sz="1300" u="none" cap="none" strike="noStrike">
                <a:solidFill>
                  <a:srgbClr val="6B7177"/>
                </a:solidFill>
                <a:latin typeface="Inter"/>
                <a:ea typeface="Inter"/>
                <a:cs typeface="Inter"/>
                <a:sym typeface="Inter"/>
              </a:rPr>
              <a:t>, loads, stores)</a:t>
            </a:r>
            <a:endParaRPr b="0" i="0" sz="1300" u="none" cap="none" strike="noStrike">
              <a:solidFill>
                <a:schemeClr val="dk1"/>
              </a:solidFill>
              <a:latin typeface="Calibri"/>
              <a:ea typeface="Calibri"/>
              <a:cs typeface="Calibri"/>
              <a:sym typeface="Calibri"/>
            </a:endParaRPr>
          </a:p>
        </p:txBody>
      </p:sp>
      <p:sp>
        <p:nvSpPr>
          <p:cNvPr id="104" name="Google Shape;104;p7"/>
          <p:cNvSpPr/>
          <p:nvPr/>
        </p:nvSpPr>
        <p:spPr>
          <a:xfrm>
            <a:off x="822960" y="3429000"/>
            <a:ext cx="310896" cy="310896"/>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p:nvPr/>
        </p:nvSpPr>
        <p:spPr>
          <a:xfrm>
            <a:off x="822960" y="3429000"/>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2</a:t>
            </a:r>
            <a:endParaRPr b="0" i="0" sz="1400" u="none" cap="none" strike="noStrike">
              <a:solidFill>
                <a:schemeClr val="dk1"/>
              </a:solidFill>
              <a:latin typeface="Calibri"/>
              <a:ea typeface="Calibri"/>
              <a:cs typeface="Calibri"/>
              <a:sym typeface="Calibri"/>
            </a:endParaRPr>
          </a:p>
        </p:txBody>
      </p:sp>
      <p:sp>
        <p:nvSpPr>
          <p:cNvPr id="106" name="Google Shape;106;p7"/>
          <p:cNvSpPr/>
          <p:nvPr/>
        </p:nvSpPr>
        <p:spPr>
          <a:xfrm>
            <a:off x="1280160" y="338328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Inter"/>
              <a:buNone/>
            </a:pPr>
            <a:r>
              <a:rPr b="1" i="0" lang="en-US" sz="1600" u="none" cap="none" strike="noStrike">
                <a:solidFill>
                  <a:srgbClr val="1A1A1A"/>
                </a:solidFill>
                <a:latin typeface="Inter"/>
                <a:ea typeface="Inter"/>
                <a:cs typeface="Inter"/>
                <a:sym typeface="Inter"/>
              </a:rPr>
              <a:t>8-byte header, walkable heap</a:t>
            </a:r>
            <a:endParaRPr b="0" i="0" sz="1600" u="none" cap="none" strike="noStrike">
              <a:solidFill>
                <a:schemeClr val="dk1"/>
              </a:solidFill>
              <a:latin typeface="Calibri"/>
              <a:ea typeface="Calibri"/>
              <a:cs typeface="Calibri"/>
              <a:sym typeface="Calibri"/>
            </a:endParaRPr>
          </a:p>
        </p:txBody>
      </p:sp>
      <p:sp>
        <p:nvSpPr>
          <p:cNvPr id="107" name="Google Shape;107;p7"/>
          <p:cNvSpPr/>
          <p:nvPr/>
        </p:nvSpPr>
        <p:spPr>
          <a:xfrm>
            <a:off x="1280160" y="3767328"/>
            <a:ext cx="5486400" cy="73152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6B7177"/>
              </a:buClr>
              <a:buSzPts val="1300"/>
              <a:buFont typeface="Inter"/>
              <a:buNone/>
            </a:pPr>
            <a:r>
              <a:rPr b="0" i="0" lang="en-US" sz="1300" u="none" cap="none" strike="noStrike">
                <a:solidFill>
                  <a:srgbClr val="6B7177"/>
                </a:solidFill>
                <a:latin typeface="Inter"/>
                <a:ea typeface="Inter"/>
                <a:cs typeface="Inter"/>
                <a:sym typeface="Inter"/>
              </a:rPr>
              <a:t>length + tag bits; objects contiguous and </a:t>
            </a:r>
            <a:r>
              <a:rPr lang="en-US" sz="1300">
                <a:solidFill>
                  <a:srgbClr val="6B7177"/>
                </a:solidFill>
                <a:latin typeface="Inter"/>
                <a:ea typeface="Inter"/>
                <a:cs typeface="Inter"/>
                <a:sym typeface="Inter"/>
              </a:rPr>
              <a:t>4</a:t>
            </a:r>
            <a:r>
              <a:rPr b="0" i="0" lang="en-US" sz="1300" u="none" cap="none" strike="noStrike">
                <a:solidFill>
                  <a:srgbClr val="6B7177"/>
                </a:solidFill>
                <a:latin typeface="Inter"/>
                <a:ea typeface="Inter"/>
                <a:cs typeface="Inter"/>
                <a:sym typeface="Inter"/>
              </a:rPr>
              <a:t>-aligned, so the heap can be walked linearly</a:t>
            </a:r>
            <a:endParaRPr b="0" i="0" sz="1300" u="none" cap="none" strike="noStrike">
              <a:solidFill>
                <a:schemeClr val="dk1"/>
              </a:solidFill>
              <a:latin typeface="Calibri"/>
              <a:ea typeface="Calibri"/>
              <a:cs typeface="Calibri"/>
              <a:sym typeface="Calibri"/>
            </a:endParaRPr>
          </a:p>
        </p:txBody>
      </p:sp>
      <p:sp>
        <p:nvSpPr>
          <p:cNvPr id="108" name="Google Shape;108;p7"/>
          <p:cNvSpPr/>
          <p:nvPr/>
        </p:nvSpPr>
        <p:spPr>
          <a:xfrm>
            <a:off x="822960" y="4754880"/>
            <a:ext cx="310896" cy="310896"/>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822960" y="4754880"/>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3</a:t>
            </a:r>
            <a:endParaRPr b="0" i="0" sz="1400" u="none" cap="none" strike="noStrike">
              <a:solidFill>
                <a:schemeClr val="dk1"/>
              </a:solidFill>
              <a:latin typeface="Calibri"/>
              <a:ea typeface="Calibri"/>
              <a:cs typeface="Calibri"/>
              <a:sym typeface="Calibri"/>
            </a:endParaRPr>
          </a:p>
        </p:txBody>
      </p:sp>
      <p:sp>
        <p:nvSpPr>
          <p:cNvPr id="110" name="Google Shape;110;p7"/>
          <p:cNvSpPr/>
          <p:nvPr/>
        </p:nvSpPr>
        <p:spPr>
          <a:xfrm>
            <a:off x="1280160" y="47091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Inter"/>
              <a:buNone/>
            </a:pPr>
            <a:r>
              <a:rPr b="1" i="0" lang="en-US" sz="1600" u="none" cap="none" strike="noStrike">
                <a:solidFill>
                  <a:srgbClr val="1A1A1A"/>
                </a:solidFill>
                <a:latin typeface="Inter"/>
                <a:ea typeface="Inter"/>
                <a:cs typeface="Inter"/>
                <a:sym typeface="Inter"/>
              </a:rPr>
              <a:t>Precise model &amp; roots</a:t>
            </a:r>
            <a:endParaRPr b="0" i="0" sz="1600" u="none" cap="none" strike="noStrike">
              <a:solidFill>
                <a:schemeClr val="dk1"/>
              </a:solidFill>
              <a:latin typeface="Calibri"/>
              <a:ea typeface="Calibri"/>
              <a:cs typeface="Calibri"/>
              <a:sym typeface="Calibri"/>
            </a:endParaRPr>
          </a:p>
        </p:txBody>
      </p:sp>
      <p:sp>
        <p:nvSpPr>
          <p:cNvPr id="111" name="Google Shape;111;p7"/>
          <p:cNvSpPr/>
          <p:nvPr/>
        </p:nvSpPr>
        <p:spPr>
          <a:xfrm>
            <a:off x="1280160" y="5093208"/>
            <a:ext cx="5486400" cy="73152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6B7177"/>
              </a:buClr>
              <a:buSzPts val="1300"/>
              <a:buFont typeface="Inter"/>
              <a:buNone/>
            </a:pPr>
            <a:r>
              <a:rPr b="0" i="0" lang="en-US" sz="1300" u="none" cap="none" strike="noStrike">
                <a:solidFill>
                  <a:srgbClr val="6B7177"/>
                </a:solidFill>
                <a:latin typeface="Inter"/>
                <a:ea typeface="Inter"/>
                <a:cs typeface="Inter"/>
                <a:sym typeface="Inter"/>
              </a:rPr>
              <a:t>tag bits separate references from integers; roots are tagged stack slots, yielded by address</a:t>
            </a:r>
            <a:endParaRPr b="0" i="0" sz="1300" u="none" cap="none" strike="noStrike">
              <a:solidFill>
                <a:schemeClr val="dk1"/>
              </a:solidFill>
              <a:latin typeface="Calibri"/>
              <a:ea typeface="Calibri"/>
              <a:cs typeface="Calibri"/>
              <a:sym typeface="Calibri"/>
            </a:endParaRPr>
          </a:p>
        </p:txBody>
      </p:sp>
      <p:sp>
        <p:nvSpPr>
          <p:cNvPr id="112" name="Google Shape;112;p7"/>
          <p:cNvSpPr/>
          <p:nvPr/>
        </p:nvSpPr>
        <p:spPr>
          <a:xfrm>
            <a:off x="6949440" y="2011680"/>
            <a:ext cx="4389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A6"/>
              </a:buClr>
              <a:buSzPts val="1200"/>
              <a:buFont typeface="Inter"/>
              <a:buNone/>
            </a:pPr>
            <a:r>
              <a:rPr b="1" i="0" lang="en-US" sz="1200" u="none" cap="none" strike="noStrike">
                <a:solidFill>
                  <a:srgbClr val="9AA0A6"/>
                </a:solidFill>
                <a:latin typeface="Inter"/>
                <a:ea typeface="Inter"/>
                <a:cs typeface="Inter"/>
                <a:sym typeface="Inter"/>
              </a:rPr>
              <a:t>object layout</a:t>
            </a:r>
            <a:endParaRPr b="0" i="0" sz="1200" u="none" cap="none" strike="noStrike">
              <a:solidFill>
                <a:schemeClr val="dk1"/>
              </a:solidFill>
              <a:latin typeface="Calibri"/>
              <a:ea typeface="Calibri"/>
              <a:cs typeface="Calibri"/>
              <a:sym typeface="Calibri"/>
            </a:endParaRPr>
          </a:p>
        </p:txBody>
      </p:sp>
      <p:sp>
        <p:nvSpPr>
          <p:cNvPr id="113" name="Google Shape;113;p7"/>
          <p:cNvSpPr/>
          <p:nvPr/>
        </p:nvSpPr>
        <p:spPr>
          <a:xfrm>
            <a:off x="6949440" y="2468880"/>
            <a:ext cx="1188720" cy="868680"/>
          </a:xfrm>
          <a:prstGeom prst="rect">
            <a:avLst/>
          </a:prstGeom>
          <a:solidFill>
            <a:srgbClr val="F1F0EC"/>
          </a:solidFill>
          <a:ln cap="flat" cmpd="sng" w="12700">
            <a:solidFill>
              <a:srgbClr val="9AA0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6949440" y="2468880"/>
            <a:ext cx="1188720" cy="868680"/>
          </a:xfrm>
          <a:prstGeom prst="rect">
            <a:avLst/>
          </a:prstGeom>
          <a:noFill/>
          <a:ln>
            <a:noFill/>
          </a:ln>
        </p:spPr>
        <p:txBody>
          <a:bodyPr anchorCtr="0" anchor="ctr" bIns="0" lIns="0" spcFirstLastPara="1" rIns="0" wrap="square" tIns="0">
            <a:noAutofit/>
          </a:bodyPr>
          <a:lstStyle/>
          <a:p>
            <a:pPr indent="0" lvl="0" marL="0" marR="0" rtl="0" algn="ctr">
              <a:lnSpc>
                <a:spcPct val="118181"/>
              </a:lnSpc>
              <a:spcBef>
                <a:spcPts val="0"/>
              </a:spcBef>
              <a:spcAft>
                <a:spcPts val="0"/>
              </a:spcAft>
              <a:buClr>
                <a:srgbClr val="1A1A1A"/>
              </a:buClr>
              <a:buSzPts val="1100"/>
              <a:buFont typeface="JetBrains Mono"/>
              <a:buNone/>
            </a:pPr>
            <a:r>
              <a:rPr b="0" i="0" lang="en-US" sz="1100" u="none" cap="none" strike="noStrike">
                <a:solidFill>
                  <a:srgbClr val="1A1A1A"/>
                </a:solidFill>
                <a:latin typeface="JetBrains Mono"/>
                <a:ea typeface="JetBrains Mono"/>
                <a:cs typeface="JetBrains Mono"/>
                <a:sym typeface="JetBrains Mono"/>
              </a:rPr>
              <a:t>length</a:t>
            </a:r>
            <a:endParaRPr b="0" i="0" sz="1100" u="none" cap="none" strike="noStrike">
              <a:solidFill>
                <a:schemeClr val="dk1"/>
              </a:solidFill>
              <a:latin typeface="Calibri"/>
              <a:ea typeface="Calibri"/>
              <a:cs typeface="Calibri"/>
              <a:sym typeface="Calibri"/>
            </a:endParaRPr>
          </a:p>
          <a:p>
            <a:pPr indent="0" lvl="0" marL="0" marR="0" rtl="0" algn="ctr">
              <a:lnSpc>
                <a:spcPct val="118181"/>
              </a:lnSpc>
              <a:spcBef>
                <a:spcPts val="0"/>
              </a:spcBef>
              <a:spcAft>
                <a:spcPts val="0"/>
              </a:spcAft>
              <a:buClr>
                <a:srgbClr val="1A1A1A"/>
              </a:buClr>
              <a:buSzPts val="1100"/>
              <a:buFont typeface="JetBrains Mono"/>
              <a:buNone/>
            </a:pPr>
            <a:r>
              <a:rPr b="0" i="0" lang="en-US" sz="1100" u="none" cap="none" strike="noStrike">
                <a:solidFill>
                  <a:srgbClr val="1A1A1A"/>
                </a:solidFill>
                <a:latin typeface="JetBrains Mono"/>
                <a:ea typeface="JetBrains Mono"/>
                <a:cs typeface="JetBrains Mono"/>
                <a:sym typeface="JetBrains Mono"/>
              </a:rPr>
              <a:t>(4B)</a:t>
            </a:r>
            <a:endParaRPr b="0" i="0" sz="1100" u="none" cap="none" strike="noStrike">
              <a:solidFill>
                <a:schemeClr val="dk1"/>
              </a:solidFill>
              <a:latin typeface="Calibri"/>
              <a:ea typeface="Calibri"/>
              <a:cs typeface="Calibri"/>
              <a:sym typeface="Calibri"/>
            </a:endParaRPr>
          </a:p>
        </p:txBody>
      </p:sp>
      <p:sp>
        <p:nvSpPr>
          <p:cNvPr id="115" name="Google Shape;115;p7"/>
          <p:cNvSpPr/>
          <p:nvPr/>
        </p:nvSpPr>
        <p:spPr>
          <a:xfrm>
            <a:off x="8138160" y="2468880"/>
            <a:ext cx="1188720" cy="868680"/>
          </a:xfrm>
          <a:prstGeom prst="rect">
            <a:avLst/>
          </a:prstGeom>
          <a:solidFill>
            <a:srgbClr val="F1F0EC"/>
          </a:solidFill>
          <a:ln cap="flat" cmpd="sng" w="12700">
            <a:solidFill>
              <a:srgbClr val="9AA0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8138160" y="2468880"/>
            <a:ext cx="1188720" cy="868680"/>
          </a:xfrm>
          <a:prstGeom prst="rect">
            <a:avLst/>
          </a:prstGeom>
          <a:noFill/>
          <a:ln>
            <a:noFill/>
          </a:ln>
        </p:spPr>
        <p:txBody>
          <a:bodyPr anchorCtr="0" anchor="ctr" bIns="0" lIns="0" spcFirstLastPara="1" rIns="0" wrap="square" tIns="0">
            <a:noAutofit/>
          </a:bodyPr>
          <a:lstStyle/>
          <a:p>
            <a:pPr indent="0" lvl="0" marL="0" marR="0" rtl="0" algn="ctr">
              <a:lnSpc>
                <a:spcPct val="118181"/>
              </a:lnSpc>
              <a:spcBef>
                <a:spcPts val="0"/>
              </a:spcBef>
              <a:spcAft>
                <a:spcPts val="0"/>
              </a:spcAft>
              <a:buClr>
                <a:srgbClr val="1A1A1A"/>
              </a:buClr>
              <a:buSzPts val="1100"/>
              <a:buFont typeface="JetBrains Mono"/>
              <a:buNone/>
            </a:pPr>
            <a:r>
              <a:rPr b="0" i="0" lang="en-US" sz="1100" u="none" cap="none" strike="noStrike">
                <a:solidFill>
                  <a:srgbClr val="1A1A1A"/>
                </a:solidFill>
                <a:latin typeface="JetBrains Mono"/>
                <a:ea typeface="JetBrains Mono"/>
                <a:cs typeface="JetBrains Mono"/>
                <a:sym typeface="JetBrains Mono"/>
              </a:rPr>
              <a:t>tags</a:t>
            </a:r>
            <a:endParaRPr b="0" i="0" sz="1100" u="none" cap="none" strike="noStrike">
              <a:solidFill>
                <a:schemeClr val="dk1"/>
              </a:solidFill>
              <a:latin typeface="Calibri"/>
              <a:ea typeface="Calibri"/>
              <a:cs typeface="Calibri"/>
              <a:sym typeface="Calibri"/>
            </a:endParaRPr>
          </a:p>
          <a:p>
            <a:pPr indent="0" lvl="0" marL="0" marR="0" rtl="0" algn="ctr">
              <a:lnSpc>
                <a:spcPct val="118181"/>
              </a:lnSpc>
              <a:spcBef>
                <a:spcPts val="0"/>
              </a:spcBef>
              <a:spcAft>
                <a:spcPts val="0"/>
              </a:spcAft>
              <a:buClr>
                <a:srgbClr val="1A1A1A"/>
              </a:buClr>
              <a:buSzPts val="1100"/>
              <a:buFont typeface="JetBrains Mono"/>
              <a:buNone/>
            </a:pPr>
            <a:r>
              <a:rPr b="0" i="0" lang="en-US" sz="1100" u="none" cap="none" strike="noStrike">
                <a:solidFill>
                  <a:srgbClr val="1A1A1A"/>
                </a:solidFill>
                <a:latin typeface="JetBrains Mono"/>
                <a:ea typeface="JetBrains Mono"/>
                <a:cs typeface="JetBrains Mono"/>
                <a:sym typeface="JetBrains Mono"/>
              </a:rPr>
              <a:t>(4B)</a:t>
            </a:r>
            <a:endParaRPr b="0" i="0" sz="1100" u="none" cap="none" strike="noStrike">
              <a:solidFill>
                <a:schemeClr val="dk1"/>
              </a:solidFill>
              <a:latin typeface="Calibri"/>
              <a:ea typeface="Calibri"/>
              <a:cs typeface="Calibri"/>
              <a:sym typeface="Calibri"/>
            </a:endParaRPr>
          </a:p>
        </p:txBody>
      </p:sp>
      <p:sp>
        <p:nvSpPr>
          <p:cNvPr id="117" name="Google Shape;117;p7"/>
          <p:cNvSpPr/>
          <p:nvPr/>
        </p:nvSpPr>
        <p:spPr>
          <a:xfrm>
            <a:off x="9326880" y="2468880"/>
            <a:ext cx="914400" cy="868680"/>
          </a:xfrm>
          <a:prstGeom prst="rect">
            <a:avLst/>
          </a:prstGeom>
          <a:solidFill>
            <a:srgbClr val="FAFAF8"/>
          </a:solidFill>
          <a:ln cap="flat" cmpd="sng" w="12700">
            <a:solidFill>
              <a:srgbClr val="9AA0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a:off x="9326880" y="2468880"/>
            <a:ext cx="914400" cy="868680"/>
          </a:xfrm>
          <a:prstGeom prst="rect">
            <a:avLst/>
          </a:prstGeom>
          <a:noFill/>
          <a:ln>
            <a:noFill/>
          </a:ln>
        </p:spPr>
        <p:txBody>
          <a:bodyPr anchorCtr="0" anchor="ctr" bIns="0" lIns="0" spcFirstLastPara="1" rIns="0" wrap="square" tIns="0">
            <a:noAutofit/>
          </a:bodyPr>
          <a:lstStyle/>
          <a:p>
            <a:pPr indent="0" lvl="0" marL="0" marR="0" rtl="0" algn="ctr">
              <a:lnSpc>
                <a:spcPct val="118181"/>
              </a:lnSpc>
              <a:spcBef>
                <a:spcPts val="0"/>
              </a:spcBef>
              <a:spcAft>
                <a:spcPts val="0"/>
              </a:spcAft>
              <a:buClr>
                <a:srgbClr val="1A1A1A"/>
              </a:buClr>
              <a:buSzPts val="1100"/>
              <a:buFont typeface="JetBrains Mono"/>
              <a:buNone/>
            </a:pPr>
            <a:r>
              <a:rPr b="0" i="0" lang="en-US" sz="1100" u="none" cap="none" strike="noStrike">
                <a:solidFill>
                  <a:srgbClr val="1A1A1A"/>
                </a:solidFill>
                <a:latin typeface="JetBrains Mono"/>
                <a:ea typeface="JetBrains Mono"/>
                <a:cs typeface="JetBrains Mono"/>
                <a:sym typeface="JetBrains Mono"/>
              </a:rPr>
              <a:t>element 0</a:t>
            </a:r>
            <a:endParaRPr b="0" i="0" sz="1100" u="none" cap="none" strike="noStrike">
              <a:solidFill>
                <a:schemeClr val="dk1"/>
              </a:solidFill>
              <a:latin typeface="Calibri"/>
              <a:ea typeface="Calibri"/>
              <a:cs typeface="Calibri"/>
              <a:sym typeface="Calibri"/>
            </a:endParaRPr>
          </a:p>
        </p:txBody>
      </p:sp>
      <p:sp>
        <p:nvSpPr>
          <p:cNvPr id="119" name="Google Shape;119;p7"/>
          <p:cNvSpPr/>
          <p:nvPr/>
        </p:nvSpPr>
        <p:spPr>
          <a:xfrm>
            <a:off x="10241280" y="2468880"/>
            <a:ext cx="914400" cy="868680"/>
          </a:xfrm>
          <a:prstGeom prst="rect">
            <a:avLst/>
          </a:prstGeom>
          <a:solidFill>
            <a:srgbClr val="FAFAF8"/>
          </a:solidFill>
          <a:ln cap="flat" cmpd="sng" w="12700">
            <a:solidFill>
              <a:srgbClr val="9AA0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10241280" y="2468880"/>
            <a:ext cx="914400" cy="868680"/>
          </a:xfrm>
          <a:prstGeom prst="rect">
            <a:avLst/>
          </a:prstGeom>
          <a:noFill/>
          <a:ln>
            <a:noFill/>
          </a:ln>
        </p:spPr>
        <p:txBody>
          <a:bodyPr anchorCtr="0" anchor="ctr" bIns="0" lIns="0" spcFirstLastPara="1" rIns="0" wrap="square" tIns="0">
            <a:noAutofit/>
          </a:bodyPr>
          <a:lstStyle/>
          <a:p>
            <a:pPr indent="0" lvl="0" marL="0" marR="0" rtl="0" algn="ctr">
              <a:lnSpc>
                <a:spcPct val="118181"/>
              </a:lnSpc>
              <a:spcBef>
                <a:spcPts val="0"/>
              </a:spcBef>
              <a:spcAft>
                <a:spcPts val="0"/>
              </a:spcAft>
              <a:buClr>
                <a:srgbClr val="1A1A1A"/>
              </a:buClr>
              <a:buSzPts val="1100"/>
              <a:buFont typeface="JetBrains Mono"/>
              <a:buNone/>
            </a:pPr>
            <a:r>
              <a:rPr b="0" i="0" lang="en-US" sz="1100" u="none" cap="none" strike="noStrike">
                <a:solidFill>
                  <a:srgbClr val="1A1A1A"/>
                </a:solidFill>
                <a:latin typeface="JetBrains Mono"/>
                <a:ea typeface="JetBrains Mono"/>
                <a:cs typeface="JetBrains Mono"/>
                <a:sym typeface="JetBrains Mono"/>
              </a:rPr>
              <a:t>element 1</a:t>
            </a:r>
            <a:endParaRPr b="0" i="0" sz="1100" u="none" cap="none" strike="noStrike">
              <a:solidFill>
                <a:schemeClr val="dk1"/>
              </a:solidFill>
              <a:latin typeface="Calibri"/>
              <a:ea typeface="Calibri"/>
              <a:cs typeface="Calibri"/>
              <a:sym typeface="Calibri"/>
            </a:endParaRPr>
          </a:p>
        </p:txBody>
      </p:sp>
      <p:sp>
        <p:nvSpPr>
          <p:cNvPr id="121" name="Google Shape;121;p7"/>
          <p:cNvSpPr/>
          <p:nvPr/>
        </p:nvSpPr>
        <p:spPr>
          <a:xfrm>
            <a:off x="11155680" y="2468880"/>
            <a:ext cx="640080" cy="868680"/>
          </a:xfrm>
          <a:prstGeom prst="rect">
            <a:avLst/>
          </a:prstGeom>
          <a:solidFill>
            <a:srgbClr val="FAFAF8"/>
          </a:solidFill>
          <a:ln cap="flat" cmpd="sng" w="12700">
            <a:solidFill>
              <a:srgbClr val="9AA0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11155680" y="2468880"/>
            <a:ext cx="640080" cy="868680"/>
          </a:xfrm>
          <a:prstGeom prst="rect">
            <a:avLst/>
          </a:prstGeom>
          <a:noFill/>
          <a:ln>
            <a:noFill/>
          </a:ln>
        </p:spPr>
        <p:txBody>
          <a:bodyPr anchorCtr="0" anchor="ctr" bIns="0" lIns="0" spcFirstLastPara="1" rIns="0" wrap="square" tIns="0">
            <a:noAutofit/>
          </a:bodyPr>
          <a:lstStyle/>
          <a:p>
            <a:pPr indent="0" lvl="0" marL="0" marR="0" rtl="0" algn="ctr">
              <a:lnSpc>
                <a:spcPct val="118181"/>
              </a:lnSpc>
              <a:spcBef>
                <a:spcPts val="0"/>
              </a:spcBef>
              <a:spcAft>
                <a:spcPts val="0"/>
              </a:spcAft>
              <a:buClr>
                <a:srgbClr val="1A1A1A"/>
              </a:buClr>
              <a:buSzPts val="1100"/>
              <a:buFont typeface="JetBrains Mono"/>
              <a:buNone/>
            </a:pPr>
            <a:r>
              <a:rPr b="0" i="0" lang="en-US" sz="1100" u="none" cap="none" strike="noStrike">
                <a:solidFill>
                  <a:srgbClr val="1A1A1A"/>
                </a:solidFill>
                <a:latin typeface="JetBrains Mono"/>
                <a:ea typeface="JetBrains Mono"/>
                <a:cs typeface="JetBrains Mono"/>
                <a:sym typeface="JetBrains Mono"/>
              </a:rPr>
              <a:t>…</a:t>
            </a:r>
            <a:endParaRPr b="0" i="0" sz="1100" u="none" cap="none" strike="noStrike">
              <a:solidFill>
                <a:schemeClr val="dk1"/>
              </a:solidFill>
              <a:latin typeface="Calibri"/>
              <a:ea typeface="Calibri"/>
              <a:cs typeface="Calibri"/>
              <a:sym typeface="Calibri"/>
            </a:endParaRPr>
          </a:p>
        </p:txBody>
      </p:sp>
      <p:sp>
        <p:nvSpPr>
          <p:cNvPr id="123" name="Google Shape;123;p7"/>
          <p:cNvSpPr/>
          <p:nvPr/>
        </p:nvSpPr>
        <p:spPr>
          <a:xfrm>
            <a:off x="6949440" y="3429000"/>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77"/>
              </a:buClr>
              <a:buSzPts val="1100"/>
              <a:buFont typeface="Inter"/>
              <a:buNone/>
            </a:pPr>
            <a:r>
              <a:rPr b="0" i="0" lang="en-US" sz="1100" u="none" cap="none" strike="noStrike">
                <a:solidFill>
                  <a:srgbClr val="6B7177"/>
                </a:solidFill>
                <a:latin typeface="Inter"/>
                <a:ea typeface="Inter"/>
                <a:cs typeface="Inter"/>
                <a:sym typeface="Inter"/>
              </a:rPr>
              <a:t>← 8-byte header →</a:t>
            </a:r>
            <a:endParaRPr b="0" i="0" sz="1100" u="none" cap="none" strike="noStrike">
              <a:solidFill>
                <a:schemeClr val="dk1"/>
              </a:solidFill>
              <a:latin typeface="Calibri"/>
              <a:ea typeface="Calibri"/>
              <a:cs typeface="Calibri"/>
              <a:sym typeface="Calibri"/>
            </a:endParaRPr>
          </a:p>
        </p:txBody>
      </p:sp>
      <p:sp>
        <p:nvSpPr>
          <p:cNvPr id="124" name="Google Shape;124;p7"/>
          <p:cNvSpPr/>
          <p:nvPr/>
        </p:nvSpPr>
        <p:spPr>
          <a:xfrm>
            <a:off x="9326880" y="3429000"/>
            <a:ext cx="24688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77"/>
              </a:buClr>
              <a:buSzPts val="1100"/>
              <a:buFont typeface="Inter"/>
              <a:buNone/>
            </a:pPr>
            <a:r>
              <a:rPr lang="en-US" sz="1100">
                <a:solidFill>
                  <a:srgbClr val="6B7177"/>
                </a:solidFill>
                <a:latin typeface="Inter"/>
                <a:ea typeface="Inter"/>
                <a:cs typeface="Inter"/>
                <a:sym typeface="Inter"/>
              </a:rPr>
              <a:t>int32</a:t>
            </a:r>
            <a:r>
              <a:rPr b="0" i="0" lang="en-US" sz="1100" u="none" cap="none" strike="noStrike">
                <a:solidFill>
                  <a:srgbClr val="6B7177"/>
                </a:solidFill>
                <a:latin typeface="Inter"/>
                <a:ea typeface="Inter"/>
                <a:cs typeface="Inter"/>
                <a:sym typeface="Inter"/>
              </a:rPr>
              <a:t> elements →</a:t>
            </a:r>
            <a:endParaRPr b="0" i="0" sz="1100" u="none" cap="none" strike="noStrike">
              <a:solidFill>
                <a:schemeClr val="dk1"/>
              </a:solidFill>
              <a:latin typeface="Calibri"/>
              <a:ea typeface="Calibri"/>
              <a:cs typeface="Calibri"/>
              <a:sym typeface="Calibri"/>
            </a:endParaRPr>
          </a:p>
        </p:txBody>
      </p:sp>
      <p:sp>
        <p:nvSpPr>
          <p:cNvPr id="125" name="Google Shape;125;p7"/>
          <p:cNvSpPr/>
          <p:nvPr/>
        </p:nvSpPr>
        <p:spPr>
          <a:xfrm>
            <a:off x="6949440" y="4160520"/>
            <a:ext cx="4434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A6"/>
              </a:buClr>
              <a:buSzPts val="1200"/>
              <a:buFont typeface="Inter"/>
              <a:buNone/>
            </a:pPr>
            <a:r>
              <a:rPr b="1" i="0" lang="en-US" sz="1200" u="none" cap="none" strike="noStrike">
                <a:solidFill>
                  <a:srgbClr val="9AA0A6"/>
                </a:solidFill>
                <a:latin typeface="Inter"/>
                <a:ea typeface="Inter"/>
                <a:cs typeface="Inter"/>
                <a:sym typeface="Inter"/>
              </a:rPr>
              <a:t>why it matters</a:t>
            </a:r>
            <a:endParaRPr b="0" i="0" sz="1200" u="none" cap="none" strike="noStrike">
              <a:solidFill>
                <a:schemeClr val="dk1"/>
              </a:solidFill>
              <a:latin typeface="Calibri"/>
              <a:ea typeface="Calibri"/>
              <a:cs typeface="Calibri"/>
              <a:sym typeface="Calibri"/>
            </a:endParaRPr>
          </a:p>
        </p:txBody>
      </p:sp>
      <p:sp>
        <p:nvSpPr>
          <p:cNvPr id="126" name="Google Shape;126;p7"/>
          <p:cNvSpPr/>
          <p:nvPr/>
        </p:nvSpPr>
        <p:spPr>
          <a:xfrm>
            <a:off x="6949440" y="4480560"/>
            <a:ext cx="4434840" cy="1463040"/>
          </a:xfrm>
          <a:prstGeom prst="rect">
            <a:avLst/>
          </a:prstGeom>
          <a:noFill/>
          <a:ln>
            <a:noFill/>
          </a:ln>
        </p:spPr>
        <p:txBody>
          <a:bodyPr anchorCtr="0" anchor="t" bIns="0" lIns="0" spcFirstLastPara="1" rIns="0" wrap="square" tIns="0">
            <a:noAutofit/>
          </a:bodyPr>
          <a:lstStyle/>
          <a:p>
            <a:pPr indent="-177800" lvl="0" marL="177800" marR="0" rtl="0" algn="l">
              <a:lnSpc>
                <a:spcPct val="153846"/>
              </a:lnSpc>
              <a:spcBef>
                <a:spcPts val="0"/>
              </a:spcBef>
              <a:spcAft>
                <a:spcPts val="0"/>
              </a:spcAft>
              <a:buClr>
                <a:srgbClr val="6B7177"/>
              </a:buClr>
              <a:buSzPts val="1300"/>
              <a:buFont typeface="Inter"/>
              <a:buChar char="•"/>
            </a:pPr>
            <a:r>
              <a:rPr b="0" i="0" lang="en-US" sz="1300" u="none" cap="none" strike="noStrike">
                <a:solidFill>
                  <a:srgbClr val="6B7177"/>
                </a:solidFill>
                <a:latin typeface="Inter"/>
                <a:ea typeface="Inter"/>
                <a:cs typeface="Inter"/>
                <a:sym typeface="Inter"/>
              </a:rPr>
              <a:t>walkable heap → sweep &amp; compaction</a:t>
            </a:r>
            <a:endParaRPr b="0" i="0" sz="1300" u="none" cap="none" strike="noStrike">
              <a:solidFill>
                <a:schemeClr val="dk1"/>
              </a:solidFill>
              <a:latin typeface="Calibri"/>
              <a:ea typeface="Calibri"/>
              <a:cs typeface="Calibri"/>
              <a:sym typeface="Calibri"/>
            </a:endParaRPr>
          </a:p>
          <a:p>
            <a:pPr indent="-177800" lvl="0" marL="177800" marR="0" rtl="0" algn="l">
              <a:lnSpc>
                <a:spcPct val="153846"/>
              </a:lnSpc>
              <a:spcBef>
                <a:spcPts val="700"/>
              </a:spcBef>
              <a:spcAft>
                <a:spcPts val="0"/>
              </a:spcAft>
              <a:buClr>
                <a:srgbClr val="6B7177"/>
              </a:buClr>
              <a:buSzPts val="1300"/>
              <a:buFont typeface="Inter"/>
              <a:buChar char="•"/>
            </a:pPr>
            <a:r>
              <a:rPr b="0" i="0" lang="en-US" sz="1300" u="none" cap="none" strike="noStrike">
                <a:solidFill>
                  <a:srgbClr val="6B7177"/>
                </a:solidFill>
                <a:latin typeface="Inter"/>
                <a:ea typeface="Inter"/>
                <a:cs typeface="Inter"/>
                <a:sym typeface="Inter"/>
              </a:rPr>
              <a:t>roots by address → relocate in place</a:t>
            </a:r>
            <a:endParaRPr b="0" i="0" sz="1300" u="none" cap="none" strike="noStrike">
              <a:solidFill>
                <a:schemeClr val="dk1"/>
              </a:solidFill>
              <a:latin typeface="Calibri"/>
              <a:ea typeface="Calibri"/>
              <a:cs typeface="Calibri"/>
              <a:sym typeface="Calibri"/>
            </a:endParaRPr>
          </a:p>
          <a:p>
            <a:pPr indent="-177800" lvl="0" marL="177800" marR="0" rtl="0" algn="l">
              <a:lnSpc>
                <a:spcPct val="153846"/>
              </a:lnSpc>
              <a:spcBef>
                <a:spcPts val="700"/>
              </a:spcBef>
              <a:spcAft>
                <a:spcPts val="0"/>
              </a:spcAft>
              <a:buClr>
                <a:srgbClr val="6B7177"/>
              </a:buClr>
              <a:buSzPts val="1300"/>
              <a:buFont typeface="Inter"/>
              <a:buChar char="•"/>
            </a:pPr>
            <a:r>
              <a:rPr b="0" i="0" lang="en-US" sz="1300" u="none" cap="none" strike="noStrike">
                <a:solidFill>
                  <a:srgbClr val="6B7177"/>
                </a:solidFill>
                <a:latin typeface="Inter"/>
                <a:ea typeface="Inter"/>
                <a:cs typeface="Inter"/>
                <a:sym typeface="Inter"/>
              </a:rPr>
              <a:t>precise tags → no conservative scanning</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8"/>
        </a:solidFill>
      </p:bgPr>
    </p:bg>
    <p:spTree>
      <p:nvGrpSpPr>
        <p:cNvPr id="131" name="Shape 131"/>
        <p:cNvGrpSpPr/>
        <p:nvPr/>
      </p:nvGrpSpPr>
      <p:grpSpPr>
        <a:xfrm>
          <a:off x="0" y="0"/>
          <a:ext cx="0" cy="0"/>
          <a:chOff x="0" y="0"/>
          <a:chExt cx="0" cy="0"/>
        </a:xfrm>
      </p:grpSpPr>
      <p:sp>
        <p:nvSpPr>
          <p:cNvPr id="132" name="Google Shape;132;p8"/>
          <p:cNvSpPr/>
          <p:nvPr/>
        </p:nvSpPr>
        <p:spPr>
          <a:xfrm>
            <a:off x="822960" y="45720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200"/>
              <a:buFont typeface="Inter"/>
              <a:buNone/>
            </a:pPr>
            <a:r>
              <a:rPr b="1" i="0" lang="en-US" sz="1200" u="none" cap="none" strike="noStrike">
                <a:solidFill>
                  <a:srgbClr val="0B5394"/>
                </a:solidFill>
                <a:latin typeface="Inter"/>
                <a:ea typeface="Inter"/>
                <a:cs typeface="Inter"/>
                <a:sym typeface="Inter"/>
              </a:rPr>
              <a:t>ACT 1 · THE IMPLEMENTATION</a:t>
            </a:r>
            <a:endParaRPr b="0" i="0" sz="1200" u="none" cap="none" strike="noStrike">
              <a:solidFill>
                <a:schemeClr val="dk1"/>
              </a:solidFill>
              <a:latin typeface="Calibri"/>
              <a:ea typeface="Calibri"/>
              <a:cs typeface="Calibri"/>
              <a:sym typeface="Calibri"/>
            </a:endParaRPr>
          </a:p>
        </p:txBody>
      </p:sp>
      <p:sp>
        <p:nvSpPr>
          <p:cNvPr id="133" name="Google Shape;133;p8"/>
          <p:cNvSpPr/>
          <p:nvPr/>
        </p:nvSpPr>
        <p:spPr>
          <a:xfrm>
            <a:off x="822960" y="749808"/>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Inter"/>
              <a:buNone/>
            </a:pPr>
            <a:r>
              <a:rPr b="1" i="0" lang="en-US" sz="2600" u="none" cap="none" strike="noStrike">
                <a:solidFill>
                  <a:srgbClr val="1A1A1A"/>
                </a:solidFill>
                <a:latin typeface="Inter"/>
                <a:ea typeface="Inter"/>
                <a:cs typeface="Inter"/>
                <a:sym typeface="Inter"/>
              </a:rPr>
              <a:t>The collectors</a:t>
            </a:r>
            <a:endParaRPr b="0" i="0" sz="2600" u="none" cap="none" strike="noStrike">
              <a:solidFill>
                <a:schemeClr val="dk1"/>
              </a:solidFill>
              <a:latin typeface="Calibri"/>
              <a:ea typeface="Calibri"/>
              <a:cs typeface="Calibri"/>
              <a:sym typeface="Calibri"/>
            </a:endParaRPr>
          </a:p>
        </p:txBody>
      </p:sp>
      <p:sp>
        <p:nvSpPr>
          <p:cNvPr id="134" name="Google Shape;134;p8"/>
          <p:cNvSpPr/>
          <p:nvPr/>
        </p:nvSpPr>
        <p:spPr>
          <a:xfrm>
            <a:off x="1280160" y="2011680"/>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A6"/>
              </a:buClr>
              <a:buSzPts val="1100"/>
              <a:buFont typeface="Inter"/>
              <a:buNone/>
            </a:pPr>
            <a:r>
              <a:rPr b="1" i="0" lang="en-US" sz="1100" u="none" cap="none" strike="noStrike">
                <a:solidFill>
                  <a:srgbClr val="9AA0A6"/>
                </a:solidFill>
                <a:latin typeface="Inter"/>
                <a:ea typeface="Inter"/>
                <a:cs typeface="Inter"/>
                <a:sym typeface="Inter"/>
              </a:rPr>
              <a:t>collector</a:t>
            </a:r>
            <a:endParaRPr b="0" i="0" sz="1100" u="none" cap="none" strike="noStrike">
              <a:solidFill>
                <a:schemeClr val="dk1"/>
              </a:solidFill>
              <a:latin typeface="Calibri"/>
              <a:ea typeface="Calibri"/>
              <a:cs typeface="Calibri"/>
              <a:sym typeface="Calibri"/>
            </a:endParaRPr>
          </a:p>
        </p:txBody>
      </p:sp>
      <p:sp>
        <p:nvSpPr>
          <p:cNvPr id="135" name="Google Shape;135;p8"/>
          <p:cNvSpPr/>
          <p:nvPr/>
        </p:nvSpPr>
        <p:spPr>
          <a:xfrm>
            <a:off x="4023360" y="201168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A6"/>
              </a:buClr>
              <a:buSzPts val="1100"/>
              <a:buFont typeface="Inter"/>
              <a:buNone/>
            </a:pPr>
            <a:r>
              <a:rPr b="1" i="0" lang="en-US" sz="1100" u="none" cap="none" strike="noStrike">
                <a:solidFill>
                  <a:srgbClr val="9AA0A6"/>
                </a:solidFill>
                <a:latin typeface="Inter"/>
                <a:ea typeface="Inter"/>
                <a:cs typeface="Inter"/>
                <a:sym typeface="Inter"/>
              </a:rPr>
              <a:t>allocation</a:t>
            </a:r>
            <a:endParaRPr b="0" i="0" sz="1100" u="none" cap="none" strike="noStrike">
              <a:solidFill>
                <a:schemeClr val="dk1"/>
              </a:solidFill>
              <a:latin typeface="Calibri"/>
              <a:ea typeface="Calibri"/>
              <a:cs typeface="Calibri"/>
              <a:sym typeface="Calibri"/>
            </a:endParaRPr>
          </a:p>
        </p:txBody>
      </p:sp>
      <p:sp>
        <p:nvSpPr>
          <p:cNvPr id="136" name="Google Shape;136;p8"/>
          <p:cNvSpPr/>
          <p:nvPr/>
        </p:nvSpPr>
        <p:spPr>
          <a:xfrm>
            <a:off x="7772400" y="201168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0A6"/>
              </a:buClr>
              <a:buSzPts val="1100"/>
              <a:buFont typeface="Inter"/>
              <a:buNone/>
            </a:pPr>
            <a:r>
              <a:rPr b="1" i="0" lang="en-US" sz="1100" u="none" cap="none" strike="noStrike">
                <a:solidFill>
                  <a:srgbClr val="9AA0A6"/>
                </a:solidFill>
                <a:latin typeface="Inter"/>
                <a:ea typeface="Inter"/>
                <a:cs typeface="Inter"/>
                <a:sym typeface="Inter"/>
              </a:rPr>
              <a:t>reclamation</a:t>
            </a:r>
            <a:endParaRPr b="0" i="0" sz="1100" u="none" cap="none" strike="noStrike">
              <a:solidFill>
                <a:schemeClr val="dk1"/>
              </a:solidFill>
              <a:latin typeface="Calibri"/>
              <a:ea typeface="Calibri"/>
              <a:cs typeface="Calibri"/>
              <a:sym typeface="Calibri"/>
            </a:endParaRPr>
          </a:p>
        </p:txBody>
      </p:sp>
      <p:sp>
        <p:nvSpPr>
          <p:cNvPr id="137" name="Google Shape;137;p8"/>
          <p:cNvSpPr/>
          <p:nvPr/>
        </p:nvSpPr>
        <p:spPr>
          <a:xfrm>
            <a:off x="822960" y="2468880"/>
            <a:ext cx="274320" cy="274320"/>
          </a:xfrm>
          <a:prstGeom prst="ellipse">
            <a:avLst/>
          </a:prstGeom>
          <a:solidFill>
            <a:srgbClr val="9AA0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1280160" y="2377440"/>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JetBrains Mono"/>
              <a:buNone/>
            </a:pPr>
            <a:r>
              <a:rPr b="1" i="0" lang="en-US" sz="1600" u="none" cap="none" strike="noStrike">
                <a:solidFill>
                  <a:srgbClr val="1A1A1A"/>
                </a:solidFill>
                <a:latin typeface="JetBrains Mono"/>
                <a:ea typeface="JetBrains Mono"/>
                <a:cs typeface="JetBrains Mono"/>
                <a:sym typeface="JetBrains Mono"/>
              </a:rPr>
              <a:t>baseline</a:t>
            </a:r>
            <a:endParaRPr b="0" i="0" sz="1600" u="none" cap="none" strike="noStrike">
              <a:solidFill>
                <a:schemeClr val="dk1"/>
              </a:solidFill>
              <a:latin typeface="Calibri"/>
              <a:ea typeface="Calibri"/>
              <a:cs typeface="Calibri"/>
              <a:sym typeface="Calibri"/>
            </a:endParaRPr>
          </a:p>
        </p:txBody>
      </p:sp>
      <p:sp>
        <p:nvSpPr>
          <p:cNvPr id="139" name="Google Shape;139;p8"/>
          <p:cNvSpPr/>
          <p:nvPr/>
        </p:nvSpPr>
        <p:spPr>
          <a:xfrm>
            <a:off x="4023360" y="2377440"/>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400"/>
              <a:buFont typeface="Inter"/>
              <a:buNone/>
            </a:pPr>
            <a:r>
              <a:rPr b="0" i="0" lang="en-US" sz="1400" u="none" cap="none" strike="noStrike">
                <a:solidFill>
                  <a:srgbClr val="1A1A1A"/>
                </a:solidFill>
                <a:latin typeface="Inter"/>
                <a:ea typeface="Inter"/>
                <a:cs typeface="Inter"/>
                <a:sym typeface="Inter"/>
              </a:rPr>
              <a:t>bump pointer</a:t>
            </a:r>
            <a:endParaRPr b="0" i="0" sz="1400" u="none" cap="none" strike="noStrike">
              <a:solidFill>
                <a:schemeClr val="dk1"/>
              </a:solidFill>
              <a:latin typeface="Calibri"/>
              <a:ea typeface="Calibri"/>
              <a:cs typeface="Calibri"/>
              <a:sym typeface="Calibri"/>
            </a:endParaRPr>
          </a:p>
        </p:txBody>
      </p:sp>
      <p:sp>
        <p:nvSpPr>
          <p:cNvPr id="140" name="Google Shape;140;p8"/>
          <p:cNvSpPr/>
          <p:nvPr/>
        </p:nvSpPr>
        <p:spPr>
          <a:xfrm>
            <a:off x="7772400" y="2377440"/>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7"/>
              </a:buClr>
              <a:buSzPts val="1300"/>
              <a:buFont typeface="Inter"/>
              <a:buNone/>
            </a:pPr>
            <a:r>
              <a:rPr b="0" i="0" lang="en-US" sz="1300" u="none" cap="none" strike="noStrike">
                <a:solidFill>
                  <a:srgbClr val="6B7177"/>
                </a:solidFill>
                <a:latin typeface="Inter"/>
                <a:ea typeface="Inter"/>
                <a:cs typeface="Inter"/>
                <a:sym typeface="Inter"/>
              </a:rPr>
              <a:t>never collects</a:t>
            </a:r>
            <a:r>
              <a:rPr lang="en-US" sz="1300">
                <a:solidFill>
                  <a:srgbClr val="6B7177"/>
                </a:solidFill>
                <a:latin typeface="Inter"/>
                <a:ea typeface="Inter"/>
                <a:cs typeface="Inter"/>
                <a:sym typeface="Inter"/>
              </a:rPr>
              <a:t>. It is the</a:t>
            </a:r>
            <a:r>
              <a:rPr b="0" i="0" lang="en-US" sz="1300" u="none" cap="none" strike="noStrike">
                <a:solidFill>
                  <a:srgbClr val="6B7177"/>
                </a:solidFill>
                <a:latin typeface="Inter"/>
                <a:ea typeface="Inter"/>
                <a:cs typeface="Inter"/>
                <a:sym typeface="Inter"/>
              </a:rPr>
              <a:t> performance floor</a:t>
            </a:r>
            <a:endParaRPr b="0" i="0" sz="1300" u="none" cap="none" strike="noStrike">
              <a:solidFill>
                <a:schemeClr val="dk1"/>
              </a:solidFill>
              <a:latin typeface="Calibri"/>
              <a:ea typeface="Calibri"/>
              <a:cs typeface="Calibri"/>
              <a:sym typeface="Calibri"/>
            </a:endParaRPr>
          </a:p>
        </p:txBody>
      </p:sp>
      <p:sp>
        <p:nvSpPr>
          <p:cNvPr id="141" name="Google Shape;141;p8"/>
          <p:cNvSpPr/>
          <p:nvPr/>
        </p:nvSpPr>
        <p:spPr>
          <a:xfrm>
            <a:off x="822960" y="3072384"/>
            <a:ext cx="274320" cy="274320"/>
          </a:xfrm>
          <a:prstGeom prst="ellipse">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1280160" y="2980944"/>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JetBrains Mono"/>
              <a:buNone/>
            </a:pPr>
            <a:r>
              <a:rPr b="1" i="0" lang="en-US" sz="1600" u="none" cap="none" strike="noStrike">
                <a:solidFill>
                  <a:srgbClr val="1A1A1A"/>
                </a:solidFill>
                <a:latin typeface="JetBrains Mono"/>
                <a:ea typeface="JetBrains Mono"/>
                <a:cs typeface="JetBrains Mono"/>
                <a:sym typeface="JetBrains Mono"/>
              </a:rPr>
              <a:t>mark-sweep</a:t>
            </a:r>
            <a:endParaRPr b="0" i="0" sz="1600" u="none" cap="none" strike="noStrike">
              <a:solidFill>
                <a:schemeClr val="dk1"/>
              </a:solidFill>
              <a:latin typeface="Calibri"/>
              <a:ea typeface="Calibri"/>
              <a:cs typeface="Calibri"/>
              <a:sym typeface="Calibri"/>
            </a:endParaRPr>
          </a:p>
        </p:txBody>
      </p:sp>
      <p:sp>
        <p:nvSpPr>
          <p:cNvPr id="143" name="Google Shape;143;p8"/>
          <p:cNvSpPr/>
          <p:nvPr/>
        </p:nvSpPr>
        <p:spPr>
          <a:xfrm>
            <a:off x="4023360" y="2980944"/>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400"/>
              <a:buFont typeface="Inter"/>
              <a:buNone/>
            </a:pPr>
            <a:r>
              <a:rPr b="0" i="0" lang="en-US" sz="1400" u="none" cap="none" strike="noStrike">
                <a:solidFill>
                  <a:srgbClr val="1A1A1A"/>
                </a:solidFill>
                <a:latin typeface="Inter"/>
                <a:ea typeface="Inter"/>
                <a:cs typeface="Inter"/>
                <a:sym typeface="Inter"/>
              </a:rPr>
              <a:t>size-segregated free lists</a:t>
            </a:r>
            <a:endParaRPr b="0" i="0" sz="1400" u="none" cap="none" strike="noStrike">
              <a:solidFill>
                <a:schemeClr val="dk1"/>
              </a:solidFill>
              <a:latin typeface="Calibri"/>
              <a:ea typeface="Calibri"/>
              <a:cs typeface="Calibri"/>
              <a:sym typeface="Calibri"/>
            </a:endParaRPr>
          </a:p>
        </p:txBody>
      </p:sp>
      <p:sp>
        <p:nvSpPr>
          <p:cNvPr id="144" name="Google Shape;144;p8"/>
          <p:cNvSpPr/>
          <p:nvPr/>
        </p:nvSpPr>
        <p:spPr>
          <a:xfrm>
            <a:off x="7772400" y="2980944"/>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7"/>
              </a:buClr>
              <a:buSzPts val="1300"/>
              <a:buFont typeface="Inter"/>
              <a:buNone/>
            </a:pPr>
            <a:r>
              <a:rPr b="0" i="0" lang="en-US" sz="1300" u="none" cap="none" strike="noStrike">
                <a:solidFill>
                  <a:srgbClr val="6B7177"/>
                </a:solidFill>
                <a:latin typeface="Inter"/>
                <a:ea typeface="Inter"/>
                <a:cs typeface="Inter"/>
                <a:sym typeface="Inter"/>
              </a:rPr>
              <a:t>mark, then sweep into free lists</a:t>
            </a:r>
            <a:endParaRPr b="0" i="0" sz="1300" u="none" cap="none" strike="noStrike">
              <a:solidFill>
                <a:schemeClr val="dk1"/>
              </a:solidFill>
              <a:latin typeface="Calibri"/>
              <a:ea typeface="Calibri"/>
              <a:cs typeface="Calibri"/>
              <a:sym typeface="Calibri"/>
            </a:endParaRPr>
          </a:p>
        </p:txBody>
      </p:sp>
      <p:sp>
        <p:nvSpPr>
          <p:cNvPr id="145" name="Google Shape;145;p8"/>
          <p:cNvSpPr/>
          <p:nvPr/>
        </p:nvSpPr>
        <p:spPr>
          <a:xfrm>
            <a:off x="822960" y="3675888"/>
            <a:ext cx="274320" cy="274320"/>
          </a:xfrm>
          <a:prstGeom prst="ellipse">
            <a:avLst/>
          </a:prstGeom>
          <a:solidFill>
            <a:srgbClr val="1F6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1280160" y="3584448"/>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JetBrains Mono"/>
              <a:buNone/>
            </a:pPr>
            <a:r>
              <a:rPr b="1" i="0" lang="en-US" sz="1600" u="none" cap="none" strike="noStrike">
                <a:solidFill>
                  <a:srgbClr val="1A1A1A"/>
                </a:solidFill>
                <a:latin typeface="JetBrains Mono"/>
                <a:ea typeface="JetBrains Mono"/>
                <a:cs typeface="JetBrains Mono"/>
                <a:sym typeface="JetBrains Mono"/>
              </a:rPr>
              <a:t>mark-compact</a:t>
            </a:r>
            <a:endParaRPr b="0" i="0" sz="1600" u="none" cap="none" strike="noStrike">
              <a:solidFill>
                <a:schemeClr val="dk1"/>
              </a:solidFill>
              <a:latin typeface="Calibri"/>
              <a:ea typeface="Calibri"/>
              <a:cs typeface="Calibri"/>
              <a:sym typeface="Calibri"/>
            </a:endParaRPr>
          </a:p>
        </p:txBody>
      </p:sp>
      <p:sp>
        <p:nvSpPr>
          <p:cNvPr id="147" name="Google Shape;147;p8"/>
          <p:cNvSpPr/>
          <p:nvPr/>
        </p:nvSpPr>
        <p:spPr>
          <a:xfrm>
            <a:off x="4023360" y="3584448"/>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400"/>
              <a:buFont typeface="Inter"/>
              <a:buNone/>
            </a:pPr>
            <a:r>
              <a:rPr b="0" i="0" lang="en-US" sz="1400" u="none" cap="none" strike="noStrike">
                <a:solidFill>
                  <a:srgbClr val="1A1A1A"/>
                </a:solidFill>
                <a:latin typeface="Inter"/>
                <a:ea typeface="Inter"/>
                <a:cs typeface="Inter"/>
                <a:sym typeface="Inter"/>
              </a:rPr>
              <a:t>bump pointer</a:t>
            </a:r>
            <a:endParaRPr b="0" i="0" sz="1400" u="none" cap="none" strike="noStrike">
              <a:solidFill>
                <a:schemeClr val="dk1"/>
              </a:solidFill>
              <a:latin typeface="Calibri"/>
              <a:ea typeface="Calibri"/>
              <a:cs typeface="Calibri"/>
              <a:sym typeface="Calibri"/>
            </a:endParaRPr>
          </a:p>
        </p:txBody>
      </p:sp>
      <p:sp>
        <p:nvSpPr>
          <p:cNvPr id="148" name="Google Shape;148;p8"/>
          <p:cNvSpPr/>
          <p:nvPr/>
        </p:nvSpPr>
        <p:spPr>
          <a:xfrm>
            <a:off x="7772400" y="3584448"/>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7"/>
              </a:buClr>
              <a:buSzPts val="1300"/>
              <a:buFont typeface="Inter"/>
              <a:buNone/>
            </a:pPr>
            <a:r>
              <a:rPr b="0" i="0" lang="en-US" sz="1300" u="none" cap="none" strike="noStrike">
                <a:solidFill>
                  <a:srgbClr val="6B7177"/>
                </a:solidFill>
                <a:latin typeface="Inter"/>
                <a:ea typeface="Inter"/>
                <a:cs typeface="Inter"/>
                <a:sym typeface="Inter"/>
              </a:rPr>
              <a:t>mark, forward, update refs, relocate</a:t>
            </a:r>
            <a:endParaRPr b="0" i="0" sz="1300" u="none" cap="none" strike="noStrike">
              <a:solidFill>
                <a:schemeClr val="dk1"/>
              </a:solidFill>
              <a:latin typeface="Calibri"/>
              <a:ea typeface="Calibri"/>
              <a:cs typeface="Calibri"/>
              <a:sym typeface="Calibri"/>
            </a:endParaRPr>
          </a:p>
        </p:txBody>
      </p:sp>
      <p:sp>
        <p:nvSpPr>
          <p:cNvPr id="149" name="Google Shape;149;p8"/>
          <p:cNvSpPr/>
          <p:nvPr/>
        </p:nvSpPr>
        <p:spPr>
          <a:xfrm>
            <a:off x="822960" y="4279392"/>
            <a:ext cx="274320" cy="274320"/>
          </a:xfrm>
          <a:prstGeom prst="ellipse">
            <a:avLst/>
          </a:prstGeom>
          <a:solidFill>
            <a:srgbClr val="1E84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1280160" y="4187952"/>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JetBrains Mono"/>
              <a:buNone/>
            </a:pPr>
            <a:r>
              <a:rPr b="1" i="0" lang="en-US" sz="1600" u="none" cap="none" strike="noStrike">
                <a:solidFill>
                  <a:srgbClr val="1A1A1A"/>
                </a:solidFill>
                <a:latin typeface="JetBrains Mono"/>
                <a:ea typeface="JetBrains Mono"/>
                <a:cs typeface="JetBrains Mono"/>
                <a:sym typeface="JetBrains Mono"/>
              </a:rPr>
              <a:t>cheney</a:t>
            </a:r>
            <a:endParaRPr b="0" i="0" sz="1600" u="none" cap="none" strike="noStrike">
              <a:solidFill>
                <a:schemeClr val="dk1"/>
              </a:solidFill>
              <a:latin typeface="Calibri"/>
              <a:ea typeface="Calibri"/>
              <a:cs typeface="Calibri"/>
              <a:sym typeface="Calibri"/>
            </a:endParaRPr>
          </a:p>
        </p:txBody>
      </p:sp>
      <p:sp>
        <p:nvSpPr>
          <p:cNvPr id="151" name="Google Shape;151;p8"/>
          <p:cNvSpPr/>
          <p:nvPr/>
        </p:nvSpPr>
        <p:spPr>
          <a:xfrm>
            <a:off x="4023360" y="4187952"/>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400"/>
              <a:buFont typeface="Inter"/>
              <a:buNone/>
            </a:pPr>
            <a:r>
              <a:rPr b="0" i="0" lang="en-US" sz="1400" u="none" cap="none" strike="noStrike">
                <a:solidFill>
                  <a:srgbClr val="1A1A1A"/>
                </a:solidFill>
                <a:latin typeface="Inter"/>
                <a:ea typeface="Inter"/>
                <a:cs typeface="Inter"/>
                <a:sym typeface="Inter"/>
              </a:rPr>
              <a:t>bump (one semispace)</a:t>
            </a:r>
            <a:endParaRPr b="0" i="0" sz="1400" u="none" cap="none" strike="noStrike">
              <a:solidFill>
                <a:schemeClr val="dk1"/>
              </a:solidFill>
              <a:latin typeface="Calibri"/>
              <a:ea typeface="Calibri"/>
              <a:cs typeface="Calibri"/>
              <a:sym typeface="Calibri"/>
            </a:endParaRPr>
          </a:p>
        </p:txBody>
      </p:sp>
      <p:sp>
        <p:nvSpPr>
          <p:cNvPr id="152" name="Google Shape;152;p8"/>
          <p:cNvSpPr/>
          <p:nvPr/>
        </p:nvSpPr>
        <p:spPr>
          <a:xfrm>
            <a:off x="7772400" y="4187952"/>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7"/>
              </a:buClr>
              <a:buSzPts val="1300"/>
              <a:buFont typeface="Inter"/>
              <a:buNone/>
            </a:pPr>
            <a:r>
              <a:rPr b="0" i="0" lang="en-US" sz="1300" u="none" cap="none" strike="noStrike">
                <a:solidFill>
                  <a:srgbClr val="6B7177"/>
                </a:solidFill>
                <a:latin typeface="Inter"/>
                <a:ea typeface="Inter"/>
                <a:cs typeface="Inter"/>
                <a:sym typeface="Inter"/>
              </a:rPr>
              <a:t>copy live to the other semispace</a:t>
            </a:r>
            <a:endParaRPr b="0" i="0" sz="1300" u="none" cap="none" strike="noStrike">
              <a:solidFill>
                <a:schemeClr val="dk1"/>
              </a:solidFill>
              <a:latin typeface="Calibri"/>
              <a:ea typeface="Calibri"/>
              <a:cs typeface="Calibri"/>
              <a:sym typeface="Calibri"/>
            </a:endParaRPr>
          </a:p>
        </p:txBody>
      </p:sp>
      <p:sp>
        <p:nvSpPr>
          <p:cNvPr id="153" name="Google Shape;153;p8"/>
          <p:cNvSpPr/>
          <p:nvPr/>
        </p:nvSpPr>
        <p:spPr>
          <a:xfrm>
            <a:off x="1280160" y="4791452"/>
            <a:ext cx="2651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JetBrains Mono"/>
              <a:buNone/>
            </a:pPr>
            <a:r>
              <a:rPr b="1" lang="en-US" sz="1600">
                <a:solidFill>
                  <a:srgbClr val="1A1A1A"/>
                </a:solidFill>
                <a:latin typeface="JetBrains Mono"/>
                <a:ea typeface="JetBrains Mono"/>
                <a:cs typeface="JetBrains Mono"/>
                <a:sym typeface="JetBrains Mono"/>
              </a:rPr>
              <a:t>generational</a:t>
            </a:r>
            <a:endParaRPr b="0" i="0" sz="1600" u="none" cap="none" strike="noStrike">
              <a:solidFill>
                <a:schemeClr val="dk1"/>
              </a:solidFill>
              <a:latin typeface="Calibri"/>
              <a:ea typeface="Calibri"/>
              <a:cs typeface="Calibri"/>
              <a:sym typeface="Calibri"/>
            </a:endParaRPr>
          </a:p>
        </p:txBody>
      </p:sp>
      <p:sp>
        <p:nvSpPr>
          <p:cNvPr id="154" name="Google Shape;154;p8"/>
          <p:cNvSpPr/>
          <p:nvPr/>
        </p:nvSpPr>
        <p:spPr>
          <a:xfrm>
            <a:off x="4023360" y="4791452"/>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400"/>
              <a:buFont typeface="Inter"/>
              <a:buNone/>
            </a:pPr>
            <a:r>
              <a:rPr sz="1400" b="0">
                <a:solidFill>
                  <a:srgbClr val="1A1A1A"/>
                </a:solidFill>
                <a:latin typeface="Inter"/>
              </a:rPr>
              <a:t>bump (nursery)</a:t>
            </a:r>
            <a:endParaRPr b="0" i="0" sz="1400" u="none" cap="none" strike="noStrike">
              <a:solidFill>
                <a:schemeClr val="dk1"/>
              </a:solidFill>
              <a:latin typeface="Calibri"/>
              <a:ea typeface="Calibri"/>
              <a:cs typeface="Calibri"/>
              <a:sym typeface="Calibri"/>
            </a:endParaRPr>
          </a:p>
        </p:txBody>
      </p:sp>
      <p:sp>
        <p:nvSpPr>
          <p:cNvPr id="155" name="Google Shape;155;p8"/>
          <p:cNvSpPr/>
          <p:nvPr/>
        </p:nvSpPr>
        <p:spPr>
          <a:xfrm>
            <a:off x="7772400" y="4791452"/>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7"/>
              </a:buClr>
              <a:buSzPts val="1300"/>
              <a:buFont typeface="Inter"/>
              <a:buNone/>
            </a:pPr>
            <a:r>
              <a:rPr sz="1300" b="0">
                <a:solidFill>
                  <a:srgbClr val="6B7177"/>
                </a:solidFill>
                <a:latin typeface="Inter"/>
              </a:rPr>
              <a:t>copy nursery survivors to old gen; mark-compact when full</a:t>
            </a:r>
            <a:endParaRPr b="0" i="0" sz="1300" u="none" cap="none" strike="noStrike">
              <a:solidFill>
                <a:schemeClr val="dk1"/>
              </a:solidFill>
              <a:latin typeface="Calibri"/>
              <a:ea typeface="Calibri"/>
              <a:cs typeface="Calibri"/>
              <a:sym typeface="Calibri"/>
            </a:endParaRPr>
          </a:p>
        </p:txBody>
      </p:sp>
      <p:sp>
        <p:nvSpPr>
          <p:cNvPr id="156" name="Google Shape;156;p8"/>
          <p:cNvSpPr/>
          <p:nvPr/>
        </p:nvSpPr>
        <p:spPr>
          <a:xfrm>
            <a:off x="832167" y="4882896"/>
            <a:ext cx="255900" cy="255900"/>
          </a:xfrm>
          <a:prstGeom prst="ellipse">
            <a:avLst/>
          </a:prstGeom>
          <a:solidFill>
            <a:srgbClr val="8E44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274320"/>
          </a:xfrm>
          <a:prstGeom prst="rect">
            <a:avLst/>
          </a:prstGeom>
          <a:noFill/>
        </p:spPr>
        <p:txBody>
          <a:bodyPr wrap="square" anchor="t" lIns="0" rIns="0" tIns="0" bIns="0">
            <a:spAutoFit/>
          </a:bodyPr>
          <a:lstStyle/>
          <a:p>
            <a:pPr algn="l"/>
            <a:r>
              <a:rPr sz="1200" b="1" i="0">
                <a:solidFill>
                  <a:srgbClr val="0B5394"/>
                </a:solidFill>
                <a:latin typeface="Inter"/>
              </a:rPr>
              <a:t>ACT 1 · THE COLLECTORS</a:t>
            </a:r>
          </a:p>
        </p:txBody>
      </p:sp>
      <p:sp>
        <p:nvSpPr>
          <p:cNvPr id="3" name="TextBox 2"/>
          <p:cNvSpPr txBox="1"/>
          <p:nvPr/>
        </p:nvSpPr>
        <p:spPr>
          <a:xfrm>
            <a:off x="822960" y="731520"/>
            <a:ext cx="8686800" cy="640080"/>
          </a:xfrm>
          <a:prstGeom prst="rect">
            <a:avLst/>
          </a:prstGeom>
          <a:noFill/>
        </p:spPr>
        <p:txBody>
          <a:bodyPr wrap="square" anchor="t" lIns="0" rIns="0" tIns="0" bIns="0">
            <a:spAutoFit/>
          </a:bodyPr>
          <a:lstStyle/>
          <a:p>
            <a:pPr algn="l"/>
            <a:r>
              <a:rPr sz="2600" b="1" i="0">
                <a:solidFill>
                  <a:srgbClr val="1A1A1A"/>
                </a:solidFill>
                <a:latin typeface="Inter"/>
              </a:rPr>
              <a:t>Mark-Sweep</a:t>
            </a:r>
          </a:p>
        </p:txBody>
      </p:sp>
      <p:sp>
        <p:nvSpPr>
          <p:cNvPr id="4" name="Rectangle 3"/>
          <p:cNvSpPr/>
          <p:nvPr/>
        </p:nvSpPr>
        <p:spPr>
          <a:xfrm>
            <a:off x="822960" y="1536192"/>
            <a:ext cx="237744" cy="23774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2144" y="1490472"/>
            <a:ext cx="4572000" cy="329184"/>
          </a:xfrm>
          <a:prstGeom prst="rect">
            <a:avLst/>
          </a:prstGeom>
          <a:noFill/>
        </p:spPr>
        <p:txBody>
          <a:bodyPr wrap="square" anchor="t" lIns="0" rIns="0" tIns="0" bIns="0">
            <a:spAutoFit/>
          </a:bodyPr>
          <a:lstStyle/>
          <a:p>
            <a:pPr algn="l"/>
            <a:r>
              <a:rPr sz="1500" b="1" i="0">
                <a:solidFill>
                  <a:srgbClr val="1A1A1A"/>
                </a:solidFill>
                <a:latin typeface="JetBrains Mono"/>
              </a:rPr>
              <a:t>mark-sweep</a:t>
            </a:r>
          </a:p>
        </p:txBody>
      </p:sp>
      <p:sp>
        <p:nvSpPr>
          <p:cNvPr id="6" name="TextBox 5"/>
          <p:cNvSpPr txBox="1"/>
          <p:nvPr/>
        </p:nvSpPr>
        <p:spPr>
          <a:xfrm>
            <a:off x="822960" y="2121408"/>
            <a:ext cx="4572000" cy="256032"/>
          </a:xfrm>
          <a:prstGeom prst="rect">
            <a:avLst/>
          </a:prstGeom>
          <a:noFill/>
        </p:spPr>
        <p:txBody>
          <a:bodyPr wrap="square" anchor="t" lIns="0" rIns="0" tIns="0" bIns="0">
            <a:spAutoFit/>
          </a:bodyPr>
          <a:lstStyle/>
          <a:p>
            <a:pPr algn="l"/>
            <a:r>
              <a:rPr sz="1100" b="1" i="0">
                <a:solidFill>
                  <a:srgbClr val="9AA0A6"/>
                </a:solidFill>
                <a:latin typeface="Inter"/>
              </a:rPr>
              <a:t>HOW IT WORKS</a:t>
            </a:r>
          </a:p>
        </p:txBody>
      </p:sp>
      <p:sp>
        <p:nvSpPr>
          <p:cNvPr id="7" name="Rectangle 6"/>
          <p:cNvSpPr/>
          <p:nvPr/>
        </p:nvSpPr>
        <p:spPr>
          <a:xfrm>
            <a:off x="822960" y="2523744"/>
            <a:ext cx="219456" cy="21945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2144" y="2468880"/>
            <a:ext cx="4297680" cy="292608"/>
          </a:xfrm>
          <a:prstGeom prst="rect">
            <a:avLst/>
          </a:prstGeom>
          <a:noFill/>
        </p:spPr>
        <p:txBody>
          <a:bodyPr wrap="square" anchor="t" lIns="0" rIns="0" tIns="0" bIns="0">
            <a:spAutoFit/>
          </a:bodyPr>
          <a:lstStyle/>
          <a:p>
            <a:pPr algn="l"/>
            <a:r>
              <a:rPr sz="1400" b="1" i="0">
                <a:solidFill>
                  <a:srgbClr val="1A1A1A"/>
                </a:solidFill>
                <a:latin typeface="Inter"/>
              </a:rPr>
              <a:t>Mark</a:t>
            </a:r>
          </a:p>
        </p:txBody>
      </p:sp>
      <p:sp>
        <p:nvSpPr>
          <p:cNvPr id="9" name="TextBox 8"/>
          <p:cNvSpPr txBox="1"/>
          <p:nvPr/>
        </p:nvSpPr>
        <p:spPr>
          <a:xfrm>
            <a:off x="1152144" y="2779776"/>
            <a:ext cx="4434840" cy="566928"/>
          </a:xfrm>
          <a:prstGeom prst="rect">
            <a:avLst/>
          </a:prstGeom>
          <a:noFill/>
        </p:spPr>
        <p:txBody>
          <a:bodyPr wrap="square" anchor="t" lIns="0" rIns="0" tIns="0" bIns="0">
            <a:spAutoFit/>
          </a:bodyPr>
          <a:lstStyle/>
          <a:p>
            <a:pPr algn="l"/>
            <a:r>
              <a:rPr sz="1200" b="0" i="0">
                <a:solidFill>
                  <a:srgbClr val="6B7177"/>
                </a:solidFill>
                <a:latin typeface="Inter"/>
              </a:rPr>
              <a:t>Start from the roots and follow every pointer, marking each object you can reach as live.</a:t>
            </a:r>
          </a:p>
        </p:txBody>
      </p:sp>
      <p:sp>
        <p:nvSpPr>
          <p:cNvPr id="10" name="Rectangle 9"/>
          <p:cNvSpPr/>
          <p:nvPr/>
        </p:nvSpPr>
        <p:spPr>
          <a:xfrm>
            <a:off x="822960" y="3456432"/>
            <a:ext cx="219456" cy="21945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52144" y="3401568"/>
            <a:ext cx="4297680" cy="292608"/>
          </a:xfrm>
          <a:prstGeom prst="rect">
            <a:avLst/>
          </a:prstGeom>
          <a:noFill/>
        </p:spPr>
        <p:txBody>
          <a:bodyPr wrap="square" anchor="t" lIns="0" rIns="0" tIns="0" bIns="0">
            <a:spAutoFit/>
          </a:bodyPr>
          <a:lstStyle/>
          <a:p>
            <a:pPr algn="l"/>
            <a:r>
              <a:rPr sz="1400" b="1" i="0">
                <a:solidFill>
                  <a:srgbClr val="1A1A1A"/>
                </a:solidFill>
                <a:latin typeface="Inter"/>
              </a:rPr>
              <a:t>Sweep</a:t>
            </a:r>
          </a:p>
        </p:txBody>
      </p:sp>
      <p:sp>
        <p:nvSpPr>
          <p:cNvPr id="12" name="TextBox 11"/>
          <p:cNvSpPr txBox="1"/>
          <p:nvPr/>
        </p:nvSpPr>
        <p:spPr>
          <a:xfrm>
            <a:off x="1152144" y="3712464"/>
            <a:ext cx="4434840" cy="566928"/>
          </a:xfrm>
          <a:prstGeom prst="rect">
            <a:avLst/>
          </a:prstGeom>
          <a:noFill/>
        </p:spPr>
        <p:txBody>
          <a:bodyPr wrap="square" anchor="t" lIns="0" rIns="0" tIns="0" bIns="0">
            <a:spAutoFit/>
          </a:bodyPr>
          <a:lstStyle/>
          <a:p>
            <a:pPr algn="l"/>
            <a:r>
              <a:rPr sz="1200" b="0" i="0">
                <a:solidFill>
                  <a:srgbClr val="6B7177"/>
                </a:solidFill>
                <a:latin typeface="Inter"/>
              </a:rPr>
              <a:t>Walk the whole heap; anything left unmarked is garbage and goes onto a free list.</a:t>
            </a:r>
          </a:p>
        </p:txBody>
      </p:sp>
      <p:sp>
        <p:nvSpPr>
          <p:cNvPr id="13" name="Rectangle 12"/>
          <p:cNvSpPr/>
          <p:nvPr/>
        </p:nvSpPr>
        <p:spPr>
          <a:xfrm>
            <a:off x="822960" y="4389120"/>
            <a:ext cx="219456" cy="21945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2144" y="4334256"/>
            <a:ext cx="4297680" cy="292608"/>
          </a:xfrm>
          <a:prstGeom prst="rect">
            <a:avLst/>
          </a:prstGeom>
          <a:noFill/>
        </p:spPr>
        <p:txBody>
          <a:bodyPr wrap="square" anchor="t" lIns="0" rIns="0" tIns="0" bIns="0">
            <a:spAutoFit/>
          </a:bodyPr>
          <a:lstStyle/>
          <a:p>
            <a:pPr algn="l"/>
            <a:r>
              <a:rPr sz="1400" b="1" i="0">
                <a:solidFill>
                  <a:srgbClr val="1A1A1A"/>
                </a:solidFill>
                <a:latin typeface="Inter"/>
              </a:rPr>
              <a:t>Reuse in place</a:t>
            </a:r>
          </a:p>
        </p:txBody>
      </p:sp>
      <p:sp>
        <p:nvSpPr>
          <p:cNvPr id="15" name="TextBox 14"/>
          <p:cNvSpPr txBox="1"/>
          <p:nvPr/>
        </p:nvSpPr>
        <p:spPr>
          <a:xfrm>
            <a:off x="1152144" y="4645152"/>
            <a:ext cx="4434840" cy="566928"/>
          </a:xfrm>
          <a:prstGeom prst="rect">
            <a:avLst/>
          </a:prstGeom>
          <a:noFill/>
        </p:spPr>
        <p:txBody>
          <a:bodyPr wrap="square" anchor="t" lIns="0" rIns="0" tIns="0" bIns="0">
            <a:spAutoFit/>
          </a:bodyPr>
          <a:lstStyle/>
          <a:p>
            <a:pPr algn="l"/>
            <a:r>
              <a:rPr sz="1200" b="0" i="0">
                <a:solidFill>
                  <a:srgbClr val="6B7177"/>
                </a:solidFill>
                <a:latin typeface="Inter"/>
              </a:rPr>
              <a:t>Nothing moves — addresses never change, so no pointers need updating.</a:t>
            </a:r>
          </a:p>
        </p:txBody>
      </p:sp>
      <p:sp>
        <p:nvSpPr>
          <p:cNvPr id="16" name="TextBox 15"/>
          <p:cNvSpPr txBox="1"/>
          <p:nvPr/>
        </p:nvSpPr>
        <p:spPr>
          <a:xfrm>
            <a:off x="822960" y="5413248"/>
            <a:ext cx="4572000" cy="237744"/>
          </a:xfrm>
          <a:prstGeom prst="rect">
            <a:avLst/>
          </a:prstGeom>
          <a:noFill/>
        </p:spPr>
        <p:txBody>
          <a:bodyPr wrap="square" anchor="t" lIns="0" rIns="0" tIns="0" bIns="0">
            <a:spAutoFit/>
          </a:bodyPr>
          <a:lstStyle/>
          <a:p>
            <a:pPr algn="l"/>
            <a:r>
              <a:rPr sz="1100" b="1" i="0">
                <a:solidFill>
                  <a:srgbClr val="9AA0A6"/>
                </a:solidFill>
                <a:latin typeface="Inter"/>
              </a:rPr>
              <a:t>TRADE-OFF</a:t>
            </a:r>
          </a:p>
        </p:txBody>
      </p:sp>
      <p:sp>
        <p:nvSpPr>
          <p:cNvPr id="17" name="TextBox 16"/>
          <p:cNvSpPr txBox="1"/>
          <p:nvPr/>
        </p:nvSpPr>
        <p:spPr>
          <a:xfrm>
            <a:off x="822960" y="5687568"/>
            <a:ext cx="4754880" cy="822960"/>
          </a:xfrm>
          <a:prstGeom prst="rect">
            <a:avLst/>
          </a:prstGeom>
          <a:noFill/>
        </p:spPr>
        <p:txBody>
          <a:bodyPr wrap="square" anchor="t" lIns="0" rIns="0" tIns="0" bIns="0">
            <a:spAutoFit/>
          </a:bodyPr>
          <a:lstStyle/>
          <a:p>
            <a:pPr algn="l"/>
            <a:r>
              <a:rPr sz="1200" b="0" i="0">
                <a:solidFill>
                  <a:srgbClr val="6B7177"/>
                </a:solidFill>
                <a:latin typeface="Inter"/>
              </a:rPr>
              <a:t>Simple and non-moving, but reclaimed space is scattered, so the heap fragments.</a:t>
            </a:r>
          </a:p>
        </p:txBody>
      </p:sp>
      <p:sp>
        <p:nvSpPr>
          <p:cNvPr id="18" name="TextBox 17"/>
          <p:cNvSpPr txBox="1"/>
          <p:nvPr/>
        </p:nvSpPr>
        <p:spPr>
          <a:xfrm>
            <a:off x="5989320" y="2121408"/>
            <a:ext cx="5394960" cy="256032"/>
          </a:xfrm>
          <a:prstGeom prst="rect">
            <a:avLst/>
          </a:prstGeom>
          <a:noFill/>
        </p:spPr>
        <p:txBody>
          <a:bodyPr wrap="square" anchor="t" lIns="0" rIns="0" tIns="0" bIns="0">
            <a:spAutoFit/>
          </a:bodyPr>
          <a:lstStyle/>
          <a:p>
            <a:pPr algn="l"/>
            <a:r>
              <a:rPr sz="1100" b="1" i="0">
                <a:solidFill>
                  <a:srgbClr val="9AA0A6"/>
                </a:solidFill>
                <a:latin typeface="Inter"/>
              </a:rPr>
              <a:t>HEAP VIEW</a:t>
            </a:r>
          </a:p>
        </p:txBody>
      </p:sp>
      <p:sp>
        <p:nvSpPr>
          <p:cNvPr id="19" name="TextBox 18"/>
          <p:cNvSpPr txBox="1"/>
          <p:nvPr/>
        </p:nvSpPr>
        <p:spPr>
          <a:xfrm>
            <a:off x="6126480" y="2505456"/>
            <a:ext cx="5394960" cy="237744"/>
          </a:xfrm>
          <a:prstGeom prst="rect">
            <a:avLst/>
          </a:prstGeom>
          <a:noFill/>
        </p:spPr>
        <p:txBody>
          <a:bodyPr wrap="square" anchor="t" lIns="0" rIns="0" tIns="0" bIns="0">
            <a:spAutoFit/>
          </a:bodyPr>
          <a:lstStyle/>
          <a:p>
            <a:pPr algn="l"/>
            <a:r>
              <a:rPr sz="1100" b="0" i="0">
                <a:solidFill>
                  <a:srgbClr val="6B7177"/>
                </a:solidFill>
                <a:latin typeface="Inter"/>
              </a:rPr>
              <a:t>after marking from the roots</a:t>
            </a:r>
          </a:p>
        </p:txBody>
      </p:sp>
      <p:sp>
        <p:nvSpPr>
          <p:cNvPr id="20" name="Rectangle 19"/>
          <p:cNvSpPr/>
          <p:nvPr/>
        </p:nvSpPr>
        <p:spPr>
          <a:xfrm>
            <a:off x="6126480" y="2798064"/>
            <a:ext cx="548640" cy="42062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A</a:t>
            </a:r>
          </a:p>
        </p:txBody>
      </p:sp>
      <p:sp>
        <p:nvSpPr>
          <p:cNvPr id="21" name="Rectangle 20"/>
          <p:cNvSpPr/>
          <p:nvPr/>
        </p:nvSpPr>
        <p:spPr>
          <a:xfrm>
            <a:off x="6739128" y="2798064"/>
            <a:ext cx="548640" cy="420624"/>
          </a:xfrm>
          <a:prstGeom prst="rect">
            <a:avLst/>
          </a:prstGeom>
          <a:solidFill>
            <a:srgbClr val="F1F0EC"/>
          </a:solidFill>
          <a:ln w="1270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0" i="0">
                <a:solidFill>
                  <a:srgbClr val="B6BABF"/>
                </a:solidFill>
                <a:latin typeface="JetBrains Mono"/>
              </a:rPr>
              <a:t>×</a:t>
            </a:r>
          </a:p>
        </p:txBody>
      </p:sp>
      <p:sp>
        <p:nvSpPr>
          <p:cNvPr id="22" name="Rectangle 21"/>
          <p:cNvSpPr/>
          <p:nvPr/>
        </p:nvSpPr>
        <p:spPr>
          <a:xfrm>
            <a:off x="7351775" y="2798064"/>
            <a:ext cx="548640" cy="42062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B</a:t>
            </a:r>
          </a:p>
        </p:txBody>
      </p:sp>
      <p:sp>
        <p:nvSpPr>
          <p:cNvPr id="23" name="Rectangle 22"/>
          <p:cNvSpPr/>
          <p:nvPr/>
        </p:nvSpPr>
        <p:spPr>
          <a:xfrm>
            <a:off x="7964423" y="2798064"/>
            <a:ext cx="548640" cy="420624"/>
          </a:xfrm>
          <a:prstGeom prst="rect">
            <a:avLst/>
          </a:prstGeom>
          <a:solidFill>
            <a:srgbClr val="F1F0EC"/>
          </a:solidFill>
          <a:ln w="1270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0" i="0">
                <a:solidFill>
                  <a:srgbClr val="B6BABF"/>
                </a:solidFill>
                <a:latin typeface="JetBrains Mono"/>
              </a:rPr>
              <a:t>×</a:t>
            </a:r>
          </a:p>
        </p:txBody>
      </p:sp>
      <p:sp>
        <p:nvSpPr>
          <p:cNvPr id="24" name="Rectangle 23"/>
          <p:cNvSpPr/>
          <p:nvPr/>
        </p:nvSpPr>
        <p:spPr>
          <a:xfrm>
            <a:off x="8577072" y="2798064"/>
            <a:ext cx="548640" cy="420624"/>
          </a:xfrm>
          <a:prstGeom prst="rect">
            <a:avLst/>
          </a:prstGeom>
          <a:solidFill>
            <a:srgbClr val="F1F0EC"/>
          </a:solidFill>
          <a:ln w="1270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0" i="0">
                <a:solidFill>
                  <a:srgbClr val="B6BABF"/>
                </a:solidFill>
                <a:latin typeface="JetBrains Mono"/>
              </a:rPr>
              <a:t>×</a:t>
            </a:r>
          </a:p>
        </p:txBody>
      </p:sp>
      <p:sp>
        <p:nvSpPr>
          <p:cNvPr id="25" name="Rectangle 24"/>
          <p:cNvSpPr/>
          <p:nvPr/>
        </p:nvSpPr>
        <p:spPr>
          <a:xfrm>
            <a:off x="9189719" y="2798064"/>
            <a:ext cx="548640" cy="42062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C</a:t>
            </a:r>
          </a:p>
        </p:txBody>
      </p:sp>
      <p:sp>
        <p:nvSpPr>
          <p:cNvPr id="26" name="Down Arrow 25"/>
          <p:cNvSpPr/>
          <p:nvPr/>
        </p:nvSpPr>
        <p:spPr>
          <a:xfrm>
            <a:off x="7708392" y="3346704"/>
            <a:ext cx="420624" cy="384048"/>
          </a:xfrm>
          <a:prstGeom prst="downArrow">
            <a:avLst/>
          </a:prstGeom>
          <a:solidFill>
            <a:srgbClr val="9AA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3803904"/>
            <a:ext cx="5394960" cy="237744"/>
          </a:xfrm>
          <a:prstGeom prst="rect">
            <a:avLst/>
          </a:prstGeom>
          <a:noFill/>
        </p:spPr>
        <p:txBody>
          <a:bodyPr wrap="square" anchor="t" lIns="0" rIns="0" tIns="0" bIns="0">
            <a:spAutoFit/>
          </a:bodyPr>
          <a:lstStyle/>
          <a:p>
            <a:pPr algn="l"/>
            <a:r>
              <a:rPr sz="1100" b="0" i="0">
                <a:solidFill>
                  <a:srgbClr val="6B7177"/>
                </a:solidFill>
                <a:latin typeface="Inter"/>
              </a:rPr>
              <a:t>after sweeping — live cells stay put</a:t>
            </a:r>
          </a:p>
        </p:txBody>
      </p:sp>
      <p:sp>
        <p:nvSpPr>
          <p:cNvPr id="28" name="Rectangle 27"/>
          <p:cNvSpPr/>
          <p:nvPr/>
        </p:nvSpPr>
        <p:spPr>
          <a:xfrm>
            <a:off x="6126480" y="4096512"/>
            <a:ext cx="548640" cy="42062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A</a:t>
            </a:r>
          </a:p>
        </p:txBody>
      </p:sp>
      <p:sp>
        <p:nvSpPr>
          <p:cNvPr id="29" name="Rectangle 28"/>
          <p:cNvSpPr/>
          <p:nvPr/>
        </p:nvSpPr>
        <p:spPr>
          <a:xfrm>
            <a:off x="6739128" y="4096512"/>
            <a:ext cx="548640" cy="420624"/>
          </a:xfrm>
          <a:prstGeom prst="rect">
            <a:avLst/>
          </a:prstGeom>
          <a:solidFill>
            <a:srgbClr val="FFFFFF"/>
          </a:solidFill>
          <a:ln w="12700">
            <a:solidFill>
              <a:srgbClr val="9AA0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0" i="0">
                <a:solidFill>
                  <a:srgbClr val="9AA0A6"/>
                </a:solidFill>
                <a:latin typeface="Inter"/>
              </a:rPr>
              <a:t>free</a:t>
            </a:r>
          </a:p>
        </p:txBody>
      </p:sp>
      <p:sp>
        <p:nvSpPr>
          <p:cNvPr id="30" name="Rectangle 29"/>
          <p:cNvSpPr/>
          <p:nvPr/>
        </p:nvSpPr>
        <p:spPr>
          <a:xfrm>
            <a:off x="7351775" y="4096512"/>
            <a:ext cx="548640" cy="42062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B</a:t>
            </a:r>
          </a:p>
        </p:txBody>
      </p:sp>
      <p:sp>
        <p:nvSpPr>
          <p:cNvPr id="31" name="Rectangle 30"/>
          <p:cNvSpPr/>
          <p:nvPr/>
        </p:nvSpPr>
        <p:spPr>
          <a:xfrm>
            <a:off x="7964423" y="4096512"/>
            <a:ext cx="548640" cy="420624"/>
          </a:xfrm>
          <a:prstGeom prst="rect">
            <a:avLst/>
          </a:prstGeom>
          <a:solidFill>
            <a:srgbClr val="FFFFFF"/>
          </a:solidFill>
          <a:ln w="12700">
            <a:solidFill>
              <a:srgbClr val="9AA0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0" i="0">
                <a:solidFill>
                  <a:srgbClr val="9AA0A6"/>
                </a:solidFill>
                <a:latin typeface="Inter"/>
              </a:rPr>
              <a:t>free</a:t>
            </a:r>
          </a:p>
        </p:txBody>
      </p:sp>
      <p:sp>
        <p:nvSpPr>
          <p:cNvPr id="32" name="Rectangle 31"/>
          <p:cNvSpPr/>
          <p:nvPr/>
        </p:nvSpPr>
        <p:spPr>
          <a:xfrm>
            <a:off x="8577072" y="4096512"/>
            <a:ext cx="548640" cy="420624"/>
          </a:xfrm>
          <a:prstGeom prst="rect">
            <a:avLst/>
          </a:prstGeom>
          <a:solidFill>
            <a:srgbClr val="FFFFFF"/>
          </a:solidFill>
          <a:ln w="12700">
            <a:solidFill>
              <a:srgbClr val="9AA0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0" i="0">
                <a:solidFill>
                  <a:srgbClr val="9AA0A6"/>
                </a:solidFill>
                <a:latin typeface="Inter"/>
              </a:rPr>
              <a:t>free</a:t>
            </a:r>
          </a:p>
        </p:txBody>
      </p:sp>
      <p:sp>
        <p:nvSpPr>
          <p:cNvPr id="33" name="Rectangle 32"/>
          <p:cNvSpPr/>
          <p:nvPr/>
        </p:nvSpPr>
        <p:spPr>
          <a:xfrm>
            <a:off x="9189719" y="4096512"/>
            <a:ext cx="548640" cy="42062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C</a:t>
            </a:r>
          </a:p>
        </p:txBody>
      </p:sp>
      <p:sp>
        <p:nvSpPr>
          <p:cNvPr id="34" name="TextBox 33"/>
          <p:cNvSpPr txBox="1"/>
          <p:nvPr/>
        </p:nvSpPr>
        <p:spPr>
          <a:xfrm>
            <a:off x="6126480" y="4590288"/>
            <a:ext cx="5394960" cy="237744"/>
          </a:xfrm>
          <a:prstGeom prst="rect">
            <a:avLst/>
          </a:prstGeom>
          <a:noFill/>
        </p:spPr>
        <p:txBody>
          <a:bodyPr wrap="square" anchor="t" lIns="0" rIns="0" tIns="0" bIns="0">
            <a:spAutoFit/>
          </a:bodyPr>
          <a:lstStyle/>
          <a:p>
            <a:pPr algn="l"/>
            <a:r>
              <a:rPr sz="1050" b="0" i="0">
                <a:solidFill>
                  <a:srgbClr val="9AA0A6"/>
                </a:solidFill>
                <a:latin typeface="Inter"/>
              </a:rPr>
              <a:t>freed gaps → free list (note: A, B, C never moved)</a:t>
            </a:r>
          </a:p>
        </p:txBody>
      </p:sp>
      <p:sp>
        <p:nvSpPr>
          <p:cNvPr id="35" name="TextBox 34"/>
          <p:cNvSpPr txBox="1"/>
          <p:nvPr/>
        </p:nvSpPr>
        <p:spPr>
          <a:xfrm>
            <a:off x="5989320" y="5852160"/>
            <a:ext cx="5440680" cy="777240"/>
          </a:xfrm>
          <a:prstGeom prst="rect">
            <a:avLst/>
          </a:prstGeom>
          <a:noFill/>
        </p:spPr>
        <p:txBody>
          <a:bodyPr wrap="square" anchor="t" lIns="0" rIns="0" tIns="0" bIns="0">
            <a:spAutoFit/>
          </a:bodyPr>
          <a:lstStyle/>
          <a:p>
            <a:pPr algn="l"/>
            <a:r>
              <a:rPr sz="1150" b="0" i="0">
                <a:solidFill>
                  <a:srgbClr val="6B7177"/>
                </a:solidFill>
                <a:latin typeface="Inter"/>
              </a:rPr>
              <a:t>Live objects keep their addresses; the gaps between them are reclaimed onto a free list. No copying — but free space stays scattered.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274320"/>
          </a:xfrm>
          <a:prstGeom prst="rect">
            <a:avLst/>
          </a:prstGeom>
          <a:noFill/>
        </p:spPr>
        <p:txBody>
          <a:bodyPr wrap="square" anchor="t" lIns="0" rIns="0" tIns="0" bIns="0">
            <a:spAutoFit/>
          </a:bodyPr>
          <a:lstStyle/>
          <a:p>
            <a:pPr algn="l"/>
            <a:r>
              <a:rPr sz="1200" b="1" i="0">
                <a:solidFill>
                  <a:srgbClr val="0B5394"/>
                </a:solidFill>
                <a:latin typeface="Inter"/>
              </a:rPr>
              <a:t>ACT 1 · THE COLLECTORS</a:t>
            </a:r>
          </a:p>
        </p:txBody>
      </p:sp>
      <p:sp>
        <p:nvSpPr>
          <p:cNvPr id="3" name="TextBox 2"/>
          <p:cNvSpPr txBox="1"/>
          <p:nvPr/>
        </p:nvSpPr>
        <p:spPr>
          <a:xfrm>
            <a:off x="822960" y="731520"/>
            <a:ext cx="8686800" cy="640080"/>
          </a:xfrm>
          <a:prstGeom prst="rect">
            <a:avLst/>
          </a:prstGeom>
          <a:noFill/>
        </p:spPr>
        <p:txBody>
          <a:bodyPr wrap="square" anchor="t" lIns="0" rIns="0" tIns="0" bIns="0">
            <a:spAutoFit/>
          </a:bodyPr>
          <a:lstStyle/>
          <a:p>
            <a:pPr algn="l"/>
            <a:r>
              <a:rPr sz="2600" b="1" i="0">
                <a:solidFill>
                  <a:srgbClr val="1A1A1A"/>
                </a:solidFill>
                <a:latin typeface="Inter"/>
              </a:rPr>
              <a:t>Mark-Compact</a:t>
            </a:r>
          </a:p>
        </p:txBody>
      </p:sp>
      <p:sp>
        <p:nvSpPr>
          <p:cNvPr id="4" name="Rectangle 3"/>
          <p:cNvSpPr/>
          <p:nvPr/>
        </p:nvSpPr>
        <p:spPr>
          <a:xfrm>
            <a:off x="822960" y="1536192"/>
            <a:ext cx="237744" cy="23774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2144" y="1490472"/>
            <a:ext cx="4572000" cy="329184"/>
          </a:xfrm>
          <a:prstGeom prst="rect">
            <a:avLst/>
          </a:prstGeom>
          <a:noFill/>
        </p:spPr>
        <p:txBody>
          <a:bodyPr wrap="square" anchor="t" lIns="0" rIns="0" tIns="0" bIns="0">
            <a:spAutoFit/>
          </a:bodyPr>
          <a:lstStyle/>
          <a:p>
            <a:pPr algn="l"/>
            <a:r>
              <a:rPr sz="1500" b="1" i="0">
                <a:solidFill>
                  <a:srgbClr val="1A1A1A"/>
                </a:solidFill>
                <a:latin typeface="JetBrains Mono"/>
              </a:rPr>
              <a:t>mark-compact</a:t>
            </a:r>
          </a:p>
        </p:txBody>
      </p:sp>
      <p:sp>
        <p:nvSpPr>
          <p:cNvPr id="6" name="TextBox 5"/>
          <p:cNvSpPr txBox="1"/>
          <p:nvPr/>
        </p:nvSpPr>
        <p:spPr>
          <a:xfrm>
            <a:off x="822960" y="2121408"/>
            <a:ext cx="4572000" cy="256032"/>
          </a:xfrm>
          <a:prstGeom prst="rect">
            <a:avLst/>
          </a:prstGeom>
          <a:noFill/>
        </p:spPr>
        <p:txBody>
          <a:bodyPr wrap="square" anchor="t" lIns="0" rIns="0" tIns="0" bIns="0">
            <a:spAutoFit/>
          </a:bodyPr>
          <a:lstStyle/>
          <a:p>
            <a:pPr algn="l"/>
            <a:r>
              <a:rPr sz="1100" b="1" i="0">
                <a:solidFill>
                  <a:srgbClr val="9AA0A6"/>
                </a:solidFill>
                <a:latin typeface="Inter"/>
              </a:rPr>
              <a:t>HOW IT WORKS</a:t>
            </a:r>
          </a:p>
        </p:txBody>
      </p:sp>
      <p:sp>
        <p:nvSpPr>
          <p:cNvPr id="7" name="Rectangle 6"/>
          <p:cNvSpPr/>
          <p:nvPr/>
        </p:nvSpPr>
        <p:spPr>
          <a:xfrm>
            <a:off x="822960" y="2523744"/>
            <a:ext cx="219456" cy="219456"/>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2144" y="2468880"/>
            <a:ext cx="4297680" cy="292608"/>
          </a:xfrm>
          <a:prstGeom prst="rect">
            <a:avLst/>
          </a:prstGeom>
          <a:noFill/>
        </p:spPr>
        <p:txBody>
          <a:bodyPr wrap="square" anchor="t" lIns="0" rIns="0" tIns="0" bIns="0">
            <a:spAutoFit/>
          </a:bodyPr>
          <a:lstStyle/>
          <a:p>
            <a:pPr algn="l"/>
            <a:r>
              <a:rPr sz="1400" b="1" i="0">
                <a:solidFill>
                  <a:srgbClr val="1A1A1A"/>
                </a:solidFill>
                <a:latin typeface="Inter"/>
              </a:rPr>
              <a:t>Mark</a:t>
            </a:r>
          </a:p>
        </p:txBody>
      </p:sp>
      <p:sp>
        <p:nvSpPr>
          <p:cNvPr id="9" name="TextBox 8"/>
          <p:cNvSpPr txBox="1"/>
          <p:nvPr/>
        </p:nvSpPr>
        <p:spPr>
          <a:xfrm>
            <a:off x="1152144" y="2779776"/>
            <a:ext cx="4434840" cy="566928"/>
          </a:xfrm>
          <a:prstGeom prst="rect">
            <a:avLst/>
          </a:prstGeom>
          <a:noFill/>
        </p:spPr>
        <p:txBody>
          <a:bodyPr wrap="square" anchor="t" lIns="0" rIns="0" tIns="0" bIns="0">
            <a:spAutoFit/>
          </a:bodyPr>
          <a:lstStyle/>
          <a:p>
            <a:pPr algn="l"/>
            <a:r>
              <a:rPr sz="1200" b="0" i="0">
                <a:solidFill>
                  <a:srgbClr val="6B7177"/>
                </a:solidFill>
                <a:latin typeface="Inter"/>
              </a:rPr>
              <a:t>As in mark-sweep, trace from the roots to find every live object.</a:t>
            </a:r>
          </a:p>
        </p:txBody>
      </p:sp>
      <p:sp>
        <p:nvSpPr>
          <p:cNvPr id="10" name="Rectangle 9"/>
          <p:cNvSpPr/>
          <p:nvPr/>
        </p:nvSpPr>
        <p:spPr>
          <a:xfrm>
            <a:off x="822960" y="3456432"/>
            <a:ext cx="219456" cy="219456"/>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52144" y="3401568"/>
            <a:ext cx="4297680" cy="292608"/>
          </a:xfrm>
          <a:prstGeom prst="rect">
            <a:avLst/>
          </a:prstGeom>
          <a:noFill/>
        </p:spPr>
        <p:txBody>
          <a:bodyPr wrap="square" anchor="t" lIns="0" rIns="0" tIns="0" bIns="0">
            <a:spAutoFit/>
          </a:bodyPr>
          <a:lstStyle/>
          <a:p>
            <a:pPr algn="l"/>
            <a:r>
              <a:rPr sz="1400" b="1" i="0">
                <a:solidFill>
                  <a:srgbClr val="1A1A1A"/>
                </a:solidFill>
                <a:latin typeface="Inter"/>
              </a:rPr>
              <a:t>Slide together</a:t>
            </a:r>
          </a:p>
        </p:txBody>
      </p:sp>
      <p:sp>
        <p:nvSpPr>
          <p:cNvPr id="12" name="TextBox 11"/>
          <p:cNvSpPr txBox="1"/>
          <p:nvPr/>
        </p:nvSpPr>
        <p:spPr>
          <a:xfrm>
            <a:off x="1152144" y="3712464"/>
            <a:ext cx="4434840" cy="566928"/>
          </a:xfrm>
          <a:prstGeom prst="rect">
            <a:avLst/>
          </a:prstGeom>
          <a:noFill/>
        </p:spPr>
        <p:txBody>
          <a:bodyPr wrap="square" anchor="t" lIns="0" rIns="0" tIns="0" bIns="0">
            <a:spAutoFit/>
          </a:bodyPr>
          <a:lstStyle/>
          <a:p>
            <a:pPr algn="l"/>
            <a:r>
              <a:rPr sz="1200" b="0" i="0">
                <a:solidFill>
                  <a:srgbClr val="6B7177"/>
                </a:solidFill>
                <a:latin typeface="Inter"/>
              </a:rPr>
              <a:t>Move all the live objects to one end of the heap, packed tightly.</a:t>
            </a:r>
          </a:p>
        </p:txBody>
      </p:sp>
      <p:sp>
        <p:nvSpPr>
          <p:cNvPr id="13" name="Rectangle 12"/>
          <p:cNvSpPr/>
          <p:nvPr/>
        </p:nvSpPr>
        <p:spPr>
          <a:xfrm>
            <a:off x="822960" y="4389120"/>
            <a:ext cx="219456" cy="219456"/>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2144" y="4334256"/>
            <a:ext cx="4297680" cy="292608"/>
          </a:xfrm>
          <a:prstGeom prst="rect">
            <a:avLst/>
          </a:prstGeom>
          <a:noFill/>
        </p:spPr>
        <p:txBody>
          <a:bodyPr wrap="square" anchor="t" lIns="0" rIns="0" tIns="0" bIns="0">
            <a:spAutoFit/>
          </a:bodyPr>
          <a:lstStyle/>
          <a:p>
            <a:pPr algn="l"/>
            <a:r>
              <a:rPr sz="1400" b="1" i="0">
                <a:solidFill>
                  <a:srgbClr val="1A1A1A"/>
                </a:solidFill>
                <a:latin typeface="Inter"/>
              </a:rPr>
              <a:t>Fix pointers</a:t>
            </a:r>
          </a:p>
        </p:txBody>
      </p:sp>
      <p:sp>
        <p:nvSpPr>
          <p:cNvPr id="15" name="TextBox 14"/>
          <p:cNvSpPr txBox="1"/>
          <p:nvPr/>
        </p:nvSpPr>
        <p:spPr>
          <a:xfrm>
            <a:off x="1152144" y="4645152"/>
            <a:ext cx="4434840" cy="566928"/>
          </a:xfrm>
          <a:prstGeom prst="rect">
            <a:avLst/>
          </a:prstGeom>
          <a:noFill/>
        </p:spPr>
        <p:txBody>
          <a:bodyPr wrap="square" anchor="t" lIns="0" rIns="0" tIns="0" bIns="0">
            <a:spAutoFit/>
          </a:bodyPr>
          <a:lstStyle/>
          <a:p>
            <a:pPr algn="l"/>
            <a:r>
              <a:rPr sz="1200" b="0" i="0">
                <a:solidFill>
                  <a:srgbClr val="6B7177"/>
                </a:solidFill>
                <a:latin typeface="Inter"/>
              </a:rPr>
              <a:t>Update every reference to point at each object's new address.</a:t>
            </a:r>
          </a:p>
        </p:txBody>
      </p:sp>
      <p:sp>
        <p:nvSpPr>
          <p:cNvPr id="16" name="TextBox 15"/>
          <p:cNvSpPr txBox="1"/>
          <p:nvPr/>
        </p:nvSpPr>
        <p:spPr>
          <a:xfrm>
            <a:off x="822960" y="5413248"/>
            <a:ext cx="4572000" cy="237744"/>
          </a:xfrm>
          <a:prstGeom prst="rect">
            <a:avLst/>
          </a:prstGeom>
          <a:noFill/>
        </p:spPr>
        <p:txBody>
          <a:bodyPr wrap="square" anchor="t" lIns="0" rIns="0" tIns="0" bIns="0">
            <a:spAutoFit/>
          </a:bodyPr>
          <a:lstStyle/>
          <a:p>
            <a:pPr algn="l"/>
            <a:r>
              <a:rPr sz="1100" b="1" i="0">
                <a:solidFill>
                  <a:srgbClr val="9AA0A6"/>
                </a:solidFill>
                <a:latin typeface="Inter"/>
              </a:rPr>
              <a:t>TRADE-OFF</a:t>
            </a:r>
          </a:p>
        </p:txBody>
      </p:sp>
      <p:sp>
        <p:nvSpPr>
          <p:cNvPr id="17" name="TextBox 16"/>
          <p:cNvSpPr txBox="1"/>
          <p:nvPr/>
        </p:nvSpPr>
        <p:spPr>
          <a:xfrm>
            <a:off x="822960" y="5687568"/>
            <a:ext cx="4754880" cy="822960"/>
          </a:xfrm>
          <a:prstGeom prst="rect">
            <a:avLst/>
          </a:prstGeom>
          <a:noFill/>
        </p:spPr>
        <p:txBody>
          <a:bodyPr wrap="square" anchor="t" lIns="0" rIns="0" tIns="0" bIns="0">
            <a:spAutoFit/>
          </a:bodyPr>
          <a:lstStyle/>
          <a:p>
            <a:pPr algn="l"/>
            <a:r>
              <a:rPr sz="1200" b="0" i="0">
                <a:solidFill>
                  <a:srgbClr val="6B7177"/>
                </a:solidFill>
                <a:latin typeface="Inter"/>
              </a:rPr>
              <a:t>Leaves one contiguous free region (no fragmentation), but takes several passes over the heap.</a:t>
            </a:r>
          </a:p>
        </p:txBody>
      </p:sp>
      <p:sp>
        <p:nvSpPr>
          <p:cNvPr id="18" name="TextBox 17"/>
          <p:cNvSpPr txBox="1"/>
          <p:nvPr/>
        </p:nvSpPr>
        <p:spPr>
          <a:xfrm>
            <a:off x="5989320" y="2121408"/>
            <a:ext cx="5394960" cy="256032"/>
          </a:xfrm>
          <a:prstGeom prst="rect">
            <a:avLst/>
          </a:prstGeom>
          <a:noFill/>
        </p:spPr>
        <p:txBody>
          <a:bodyPr wrap="square" anchor="t" lIns="0" rIns="0" tIns="0" bIns="0">
            <a:spAutoFit/>
          </a:bodyPr>
          <a:lstStyle/>
          <a:p>
            <a:pPr algn="l"/>
            <a:r>
              <a:rPr sz="1100" b="1" i="0">
                <a:solidFill>
                  <a:srgbClr val="9AA0A6"/>
                </a:solidFill>
                <a:latin typeface="Inter"/>
              </a:rPr>
              <a:t>HEAP VIEW</a:t>
            </a:r>
          </a:p>
        </p:txBody>
      </p:sp>
      <p:sp>
        <p:nvSpPr>
          <p:cNvPr id="19" name="TextBox 18"/>
          <p:cNvSpPr txBox="1"/>
          <p:nvPr/>
        </p:nvSpPr>
        <p:spPr>
          <a:xfrm>
            <a:off x="6126480" y="2505456"/>
            <a:ext cx="5394960" cy="237744"/>
          </a:xfrm>
          <a:prstGeom prst="rect">
            <a:avLst/>
          </a:prstGeom>
          <a:noFill/>
        </p:spPr>
        <p:txBody>
          <a:bodyPr wrap="square" anchor="t" lIns="0" rIns="0" tIns="0" bIns="0">
            <a:spAutoFit/>
          </a:bodyPr>
          <a:lstStyle/>
          <a:p>
            <a:pPr algn="l"/>
            <a:r>
              <a:rPr sz="1100" b="0" i="0">
                <a:solidFill>
                  <a:srgbClr val="6B7177"/>
                </a:solidFill>
                <a:latin typeface="Inter"/>
              </a:rPr>
              <a:t>before — live objects scattered</a:t>
            </a:r>
          </a:p>
        </p:txBody>
      </p:sp>
      <p:sp>
        <p:nvSpPr>
          <p:cNvPr id="20" name="Rectangle 19"/>
          <p:cNvSpPr/>
          <p:nvPr/>
        </p:nvSpPr>
        <p:spPr>
          <a:xfrm>
            <a:off x="6126480" y="2798064"/>
            <a:ext cx="548640" cy="42062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A</a:t>
            </a:r>
          </a:p>
        </p:txBody>
      </p:sp>
      <p:sp>
        <p:nvSpPr>
          <p:cNvPr id="21" name="Rectangle 20"/>
          <p:cNvSpPr/>
          <p:nvPr/>
        </p:nvSpPr>
        <p:spPr>
          <a:xfrm>
            <a:off x="6739128" y="2798064"/>
            <a:ext cx="548640" cy="420624"/>
          </a:xfrm>
          <a:prstGeom prst="rect">
            <a:avLst/>
          </a:prstGeom>
          <a:solidFill>
            <a:srgbClr val="F1F0EC"/>
          </a:solidFill>
          <a:ln w="1270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0" i="0">
                <a:solidFill>
                  <a:srgbClr val="B6BABF"/>
                </a:solidFill>
                <a:latin typeface="JetBrains Mono"/>
              </a:rPr>
              <a:t>×</a:t>
            </a:r>
          </a:p>
        </p:txBody>
      </p:sp>
      <p:sp>
        <p:nvSpPr>
          <p:cNvPr id="22" name="Rectangle 21"/>
          <p:cNvSpPr/>
          <p:nvPr/>
        </p:nvSpPr>
        <p:spPr>
          <a:xfrm>
            <a:off x="7351775" y="2798064"/>
            <a:ext cx="548640" cy="42062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B</a:t>
            </a:r>
          </a:p>
        </p:txBody>
      </p:sp>
      <p:sp>
        <p:nvSpPr>
          <p:cNvPr id="23" name="Rectangle 22"/>
          <p:cNvSpPr/>
          <p:nvPr/>
        </p:nvSpPr>
        <p:spPr>
          <a:xfrm>
            <a:off x="7964423" y="2798064"/>
            <a:ext cx="548640" cy="420624"/>
          </a:xfrm>
          <a:prstGeom prst="rect">
            <a:avLst/>
          </a:prstGeom>
          <a:solidFill>
            <a:srgbClr val="F1F0EC"/>
          </a:solidFill>
          <a:ln w="1270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0" i="0">
                <a:solidFill>
                  <a:srgbClr val="B6BABF"/>
                </a:solidFill>
                <a:latin typeface="JetBrains Mono"/>
              </a:rPr>
              <a:t>×</a:t>
            </a:r>
          </a:p>
        </p:txBody>
      </p:sp>
      <p:sp>
        <p:nvSpPr>
          <p:cNvPr id="24" name="Rectangle 23"/>
          <p:cNvSpPr/>
          <p:nvPr/>
        </p:nvSpPr>
        <p:spPr>
          <a:xfrm>
            <a:off x="8577072" y="2798064"/>
            <a:ext cx="548640" cy="420624"/>
          </a:xfrm>
          <a:prstGeom prst="rect">
            <a:avLst/>
          </a:prstGeom>
          <a:solidFill>
            <a:srgbClr val="F1F0EC"/>
          </a:solidFill>
          <a:ln w="1270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0" i="0">
                <a:solidFill>
                  <a:srgbClr val="B6BABF"/>
                </a:solidFill>
                <a:latin typeface="JetBrains Mono"/>
              </a:rPr>
              <a:t>×</a:t>
            </a:r>
          </a:p>
        </p:txBody>
      </p:sp>
      <p:sp>
        <p:nvSpPr>
          <p:cNvPr id="25" name="Rectangle 24"/>
          <p:cNvSpPr/>
          <p:nvPr/>
        </p:nvSpPr>
        <p:spPr>
          <a:xfrm>
            <a:off x="9189719" y="2798064"/>
            <a:ext cx="548640" cy="42062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C</a:t>
            </a:r>
          </a:p>
        </p:txBody>
      </p:sp>
      <p:sp>
        <p:nvSpPr>
          <p:cNvPr id="26" name="Down Arrow 25"/>
          <p:cNvSpPr/>
          <p:nvPr/>
        </p:nvSpPr>
        <p:spPr>
          <a:xfrm>
            <a:off x="7708392" y="3346704"/>
            <a:ext cx="420624" cy="384048"/>
          </a:xfrm>
          <a:prstGeom prst="downArrow">
            <a:avLst/>
          </a:prstGeom>
          <a:solidFill>
            <a:srgbClr val="9AA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3803904"/>
            <a:ext cx="5394960" cy="237744"/>
          </a:xfrm>
          <a:prstGeom prst="rect">
            <a:avLst/>
          </a:prstGeom>
          <a:noFill/>
        </p:spPr>
        <p:txBody>
          <a:bodyPr wrap="square" anchor="t" lIns="0" rIns="0" tIns="0" bIns="0">
            <a:spAutoFit/>
          </a:bodyPr>
          <a:lstStyle/>
          <a:p>
            <a:pPr algn="l"/>
            <a:r>
              <a:rPr sz="1100" b="0" i="0">
                <a:solidFill>
                  <a:srgbClr val="6B7177"/>
                </a:solidFill>
                <a:latin typeface="Inter"/>
              </a:rPr>
              <a:t>after — survivors slid to one end</a:t>
            </a:r>
          </a:p>
        </p:txBody>
      </p:sp>
      <p:sp>
        <p:nvSpPr>
          <p:cNvPr id="28" name="Rectangle 27"/>
          <p:cNvSpPr/>
          <p:nvPr/>
        </p:nvSpPr>
        <p:spPr>
          <a:xfrm>
            <a:off x="6126480" y="4096512"/>
            <a:ext cx="548640" cy="42062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A</a:t>
            </a:r>
          </a:p>
        </p:txBody>
      </p:sp>
      <p:sp>
        <p:nvSpPr>
          <p:cNvPr id="29" name="Rectangle 28"/>
          <p:cNvSpPr/>
          <p:nvPr/>
        </p:nvSpPr>
        <p:spPr>
          <a:xfrm>
            <a:off x="6739128" y="4096512"/>
            <a:ext cx="548640" cy="42062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B</a:t>
            </a:r>
          </a:p>
        </p:txBody>
      </p:sp>
      <p:sp>
        <p:nvSpPr>
          <p:cNvPr id="30" name="Rectangle 29"/>
          <p:cNvSpPr/>
          <p:nvPr/>
        </p:nvSpPr>
        <p:spPr>
          <a:xfrm>
            <a:off x="7351775" y="4096512"/>
            <a:ext cx="548640" cy="42062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C</a:t>
            </a:r>
          </a:p>
        </p:txBody>
      </p:sp>
      <p:sp>
        <p:nvSpPr>
          <p:cNvPr id="31" name="Rectangle 30"/>
          <p:cNvSpPr/>
          <p:nvPr/>
        </p:nvSpPr>
        <p:spPr>
          <a:xfrm>
            <a:off x="7964424" y="4096512"/>
            <a:ext cx="1773936" cy="420624"/>
          </a:xfrm>
          <a:prstGeom prst="rect">
            <a:avLst/>
          </a:prstGeom>
          <a:solidFill>
            <a:srgbClr val="FFFFFF"/>
          </a:solidFill>
          <a:ln w="12700">
            <a:solidFill>
              <a:srgbClr val="9AA0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0" i="0">
                <a:solidFill>
                  <a:srgbClr val="9AA0A6"/>
                </a:solidFill>
                <a:latin typeface="Inter"/>
              </a:rPr>
              <a:t>one contiguous free region</a:t>
            </a:r>
          </a:p>
        </p:txBody>
      </p:sp>
      <p:sp>
        <p:nvSpPr>
          <p:cNvPr id="32" name="TextBox 31"/>
          <p:cNvSpPr txBox="1"/>
          <p:nvPr/>
        </p:nvSpPr>
        <p:spPr>
          <a:xfrm>
            <a:off x="5989320" y="5852160"/>
            <a:ext cx="5440680" cy="777240"/>
          </a:xfrm>
          <a:prstGeom prst="rect">
            <a:avLst/>
          </a:prstGeom>
          <a:noFill/>
        </p:spPr>
        <p:txBody>
          <a:bodyPr wrap="square" anchor="t" lIns="0" rIns="0" tIns="0" bIns="0">
            <a:spAutoFit/>
          </a:bodyPr>
          <a:lstStyle/>
          <a:p>
            <a:pPr algn="l"/>
            <a:r>
              <a:rPr sz="1150" b="0" i="0">
                <a:solidFill>
                  <a:srgbClr val="6B7177"/>
                </a:solidFill>
                <a:latin typeface="Inter"/>
              </a:rPr>
              <a:t>Marked objects are slid together to one end, leaving a single free region. Allocation becomes a cheap bump pointer again — at the cost of extra passes to relocate and fix pointers.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274320"/>
          </a:xfrm>
          <a:prstGeom prst="rect">
            <a:avLst/>
          </a:prstGeom>
          <a:noFill/>
        </p:spPr>
        <p:txBody>
          <a:bodyPr wrap="square" anchor="t" lIns="0" rIns="0" tIns="0" bIns="0">
            <a:spAutoFit/>
          </a:bodyPr>
          <a:lstStyle/>
          <a:p>
            <a:pPr algn="l"/>
            <a:r>
              <a:rPr sz="1200" b="1" i="0">
                <a:solidFill>
                  <a:srgbClr val="0B5394"/>
                </a:solidFill>
                <a:latin typeface="Inter"/>
              </a:rPr>
              <a:t>ACT 1 · THE COLLECTORS</a:t>
            </a:r>
          </a:p>
        </p:txBody>
      </p:sp>
      <p:sp>
        <p:nvSpPr>
          <p:cNvPr id="3" name="TextBox 2"/>
          <p:cNvSpPr txBox="1"/>
          <p:nvPr/>
        </p:nvSpPr>
        <p:spPr>
          <a:xfrm>
            <a:off x="822960" y="731520"/>
            <a:ext cx="8686800" cy="640080"/>
          </a:xfrm>
          <a:prstGeom prst="rect">
            <a:avLst/>
          </a:prstGeom>
          <a:noFill/>
        </p:spPr>
        <p:txBody>
          <a:bodyPr wrap="square" anchor="t" lIns="0" rIns="0" tIns="0" bIns="0">
            <a:spAutoFit/>
          </a:bodyPr>
          <a:lstStyle/>
          <a:p>
            <a:pPr algn="l"/>
            <a:r>
              <a:rPr sz="2600" b="1" i="0">
                <a:solidFill>
                  <a:srgbClr val="1A1A1A"/>
                </a:solidFill>
                <a:latin typeface="Inter"/>
              </a:rPr>
              <a:t>Copying — Cheney semi-space</a:t>
            </a:r>
          </a:p>
        </p:txBody>
      </p:sp>
      <p:sp>
        <p:nvSpPr>
          <p:cNvPr id="4" name="Rectangle 3"/>
          <p:cNvSpPr/>
          <p:nvPr/>
        </p:nvSpPr>
        <p:spPr>
          <a:xfrm>
            <a:off x="822960" y="1536192"/>
            <a:ext cx="237744" cy="237744"/>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2144" y="1490472"/>
            <a:ext cx="4572000" cy="329184"/>
          </a:xfrm>
          <a:prstGeom prst="rect">
            <a:avLst/>
          </a:prstGeom>
          <a:noFill/>
        </p:spPr>
        <p:txBody>
          <a:bodyPr wrap="square" anchor="t" lIns="0" rIns="0" tIns="0" bIns="0">
            <a:spAutoFit/>
          </a:bodyPr>
          <a:lstStyle/>
          <a:p>
            <a:pPr algn="l"/>
            <a:r>
              <a:rPr sz="1500" b="1" i="0">
                <a:solidFill>
                  <a:srgbClr val="1A1A1A"/>
                </a:solidFill>
                <a:latin typeface="JetBrains Mono"/>
              </a:rPr>
              <a:t>cheney</a:t>
            </a:r>
          </a:p>
        </p:txBody>
      </p:sp>
      <p:sp>
        <p:nvSpPr>
          <p:cNvPr id="6" name="TextBox 5"/>
          <p:cNvSpPr txBox="1"/>
          <p:nvPr/>
        </p:nvSpPr>
        <p:spPr>
          <a:xfrm>
            <a:off x="822960" y="2121408"/>
            <a:ext cx="4572000" cy="256032"/>
          </a:xfrm>
          <a:prstGeom prst="rect">
            <a:avLst/>
          </a:prstGeom>
          <a:noFill/>
        </p:spPr>
        <p:txBody>
          <a:bodyPr wrap="square" anchor="t" lIns="0" rIns="0" tIns="0" bIns="0">
            <a:spAutoFit/>
          </a:bodyPr>
          <a:lstStyle/>
          <a:p>
            <a:pPr algn="l"/>
            <a:r>
              <a:rPr sz="1100" b="1" i="0">
                <a:solidFill>
                  <a:srgbClr val="9AA0A6"/>
                </a:solidFill>
                <a:latin typeface="Inter"/>
              </a:rPr>
              <a:t>HOW IT WORKS</a:t>
            </a:r>
          </a:p>
        </p:txBody>
      </p:sp>
      <p:sp>
        <p:nvSpPr>
          <p:cNvPr id="7" name="Rectangle 6"/>
          <p:cNvSpPr/>
          <p:nvPr/>
        </p:nvSpPr>
        <p:spPr>
          <a:xfrm>
            <a:off x="822960" y="2523744"/>
            <a:ext cx="219456" cy="219456"/>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2144" y="2468880"/>
            <a:ext cx="4297680" cy="292608"/>
          </a:xfrm>
          <a:prstGeom prst="rect">
            <a:avLst/>
          </a:prstGeom>
          <a:noFill/>
        </p:spPr>
        <p:txBody>
          <a:bodyPr wrap="square" anchor="t" lIns="0" rIns="0" tIns="0" bIns="0">
            <a:spAutoFit/>
          </a:bodyPr>
          <a:lstStyle/>
          <a:p>
            <a:pPr algn="l"/>
            <a:r>
              <a:rPr sz="1400" b="1" i="0">
                <a:solidFill>
                  <a:srgbClr val="1A1A1A"/>
                </a:solidFill>
                <a:latin typeface="Inter"/>
              </a:rPr>
              <a:t>Two halves</a:t>
            </a:r>
          </a:p>
        </p:txBody>
      </p:sp>
      <p:sp>
        <p:nvSpPr>
          <p:cNvPr id="9" name="TextBox 8"/>
          <p:cNvSpPr txBox="1"/>
          <p:nvPr/>
        </p:nvSpPr>
        <p:spPr>
          <a:xfrm>
            <a:off x="1152144" y="2779776"/>
            <a:ext cx="4434840" cy="566928"/>
          </a:xfrm>
          <a:prstGeom prst="rect">
            <a:avLst/>
          </a:prstGeom>
          <a:noFill/>
        </p:spPr>
        <p:txBody>
          <a:bodyPr wrap="square" anchor="t" lIns="0" rIns="0" tIns="0" bIns="0">
            <a:spAutoFit/>
          </a:bodyPr>
          <a:lstStyle/>
          <a:p>
            <a:pPr algn="l"/>
            <a:r>
              <a:rPr sz="1200" b="0" i="0">
                <a:solidFill>
                  <a:srgbClr val="6B7177"/>
                </a:solidFill>
                <a:latin typeface="Inter"/>
              </a:rPr>
              <a:t>Split the heap in two. The program only ever allocates into one half.</a:t>
            </a:r>
          </a:p>
        </p:txBody>
      </p:sp>
      <p:sp>
        <p:nvSpPr>
          <p:cNvPr id="10" name="Rectangle 9"/>
          <p:cNvSpPr/>
          <p:nvPr/>
        </p:nvSpPr>
        <p:spPr>
          <a:xfrm>
            <a:off x="822960" y="3456432"/>
            <a:ext cx="219456" cy="219456"/>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52144" y="3401568"/>
            <a:ext cx="4297680" cy="292608"/>
          </a:xfrm>
          <a:prstGeom prst="rect">
            <a:avLst/>
          </a:prstGeom>
          <a:noFill/>
        </p:spPr>
        <p:txBody>
          <a:bodyPr wrap="square" anchor="t" lIns="0" rIns="0" tIns="0" bIns="0">
            <a:spAutoFit/>
          </a:bodyPr>
          <a:lstStyle/>
          <a:p>
            <a:pPr algn="l"/>
            <a:r>
              <a:rPr sz="1400" b="1" i="0">
                <a:solidFill>
                  <a:srgbClr val="1A1A1A"/>
                </a:solidFill>
                <a:latin typeface="Inter"/>
              </a:rPr>
              <a:t>Copy the living</a:t>
            </a:r>
          </a:p>
        </p:txBody>
      </p:sp>
      <p:sp>
        <p:nvSpPr>
          <p:cNvPr id="12" name="TextBox 11"/>
          <p:cNvSpPr txBox="1"/>
          <p:nvPr/>
        </p:nvSpPr>
        <p:spPr>
          <a:xfrm>
            <a:off x="1152144" y="3712464"/>
            <a:ext cx="4434840" cy="566928"/>
          </a:xfrm>
          <a:prstGeom prst="rect">
            <a:avLst/>
          </a:prstGeom>
          <a:noFill/>
        </p:spPr>
        <p:txBody>
          <a:bodyPr wrap="square" anchor="t" lIns="0" rIns="0" tIns="0" bIns="0">
            <a:spAutoFit/>
          </a:bodyPr>
          <a:lstStyle/>
          <a:p>
            <a:pPr algn="l"/>
            <a:r>
              <a:rPr sz="1200" b="0" i="0">
                <a:solidFill>
                  <a:srgbClr val="6B7177"/>
                </a:solidFill>
                <a:latin typeface="Inter"/>
              </a:rPr>
              <a:t>When it fills, copy just the live objects into the empty half, packed.</a:t>
            </a:r>
          </a:p>
        </p:txBody>
      </p:sp>
      <p:sp>
        <p:nvSpPr>
          <p:cNvPr id="13" name="Rectangle 12"/>
          <p:cNvSpPr/>
          <p:nvPr/>
        </p:nvSpPr>
        <p:spPr>
          <a:xfrm>
            <a:off x="822960" y="4389120"/>
            <a:ext cx="219456" cy="219456"/>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2144" y="4334256"/>
            <a:ext cx="4297680" cy="292608"/>
          </a:xfrm>
          <a:prstGeom prst="rect">
            <a:avLst/>
          </a:prstGeom>
          <a:noFill/>
        </p:spPr>
        <p:txBody>
          <a:bodyPr wrap="square" anchor="t" lIns="0" rIns="0" tIns="0" bIns="0">
            <a:spAutoFit/>
          </a:bodyPr>
          <a:lstStyle/>
          <a:p>
            <a:pPr algn="l"/>
            <a:r>
              <a:rPr sz="1400" b="1" i="0">
                <a:solidFill>
                  <a:srgbClr val="1A1A1A"/>
                </a:solidFill>
                <a:latin typeface="Inter"/>
              </a:rPr>
              <a:t>Flip</a:t>
            </a:r>
          </a:p>
        </p:txBody>
      </p:sp>
      <p:sp>
        <p:nvSpPr>
          <p:cNvPr id="15" name="TextBox 14"/>
          <p:cNvSpPr txBox="1"/>
          <p:nvPr/>
        </p:nvSpPr>
        <p:spPr>
          <a:xfrm>
            <a:off x="1152144" y="4645152"/>
            <a:ext cx="4434840" cy="566928"/>
          </a:xfrm>
          <a:prstGeom prst="rect">
            <a:avLst/>
          </a:prstGeom>
          <a:noFill/>
        </p:spPr>
        <p:txBody>
          <a:bodyPr wrap="square" anchor="t" lIns="0" rIns="0" tIns="0" bIns="0">
            <a:spAutoFit/>
          </a:bodyPr>
          <a:lstStyle/>
          <a:p>
            <a:pPr algn="l"/>
            <a:r>
              <a:rPr sz="1200" b="0" i="0">
                <a:solidFill>
                  <a:srgbClr val="6B7177"/>
                </a:solidFill>
                <a:latin typeface="Inter"/>
              </a:rPr>
              <a:t>Swap the roles of the two halves and carry on. Dead objects are simply left behind.</a:t>
            </a:r>
          </a:p>
        </p:txBody>
      </p:sp>
      <p:sp>
        <p:nvSpPr>
          <p:cNvPr id="16" name="TextBox 15"/>
          <p:cNvSpPr txBox="1"/>
          <p:nvPr/>
        </p:nvSpPr>
        <p:spPr>
          <a:xfrm>
            <a:off x="822960" y="5413248"/>
            <a:ext cx="4572000" cy="237744"/>
          </a:xfrm>
          <a:prstGeom prst="rect">
            <a:avLst/>
          </a:prstGeom>
          <a:noFill/>
        </p:spPr>
        <p:txBody>
          <a:bodyPr wrap="square" anchor="t" lIns="0" rIns="0" tIns="0" bIns="0">
            <a:spAutoFit/>
          </a:bodyPr>
          <a:lstStyle/>
          <a:p>
            <a:pPr algn="l"/>
            <a:r>
              <a:rPr sz="1100" b="1" i="0">
                <a:solidFill>
                  <a:srgbClr val="9AA0A6"/>
                </a:solidFill>
                <a:latin typeface="Inter"/>
              </a:rPr>
              <a:t>TRADE-OFF</a:t>
            </a:r>
          </a:p>
        </p:txBody>
      </p:sp>
      <p:sp>
        <p:nvSpPr>
          <p:cNvPr id="17" name="TextBox 16"/>
          <p:cNvSpPr txBox="1"/>
          <p:nvPr/>
        </p:nvSpPr>
        <p:spPr>
          <a:xfrm>
            <a:off x="822960" y="5687568"/>
            <a:ext cx="4754880" cy="822960"/>
          </a:xfrm>
          <a:prstGeom prst="rect">
            <a:avLst/>
          </a:prstGeom>
          <a:noFill/>
        </p:spPr>
        <p:txBody>
          <a:bodyPr wrap="square" anchor="t" lIns="0" rIns="0" tIns="0" bIns="0">
            <a:spAutoFit/>
          </a:bodyPr>
          <a:lstStyle/>
          <a:p>
            <a:pPr algn="l"/>
            <a:r>
              <a:rPr sz="1200" b="0" i="0">
                <a:solidFill>
                  <a:srgbClr val="6B7177"/>
                </a:solidFill>
                <a:latin typeface="Inter"/>
              </a:rPr>
              <a:t>Allocation and compaction are almost free, but only half the heap is ever usable.</a:t>
            </a:r>
          </a:p>
        </p:txBody>
      </p:sp>
      <p:sp>
        <p:nvSpPr>
          <p:cNvPr id="18" name="TextBox 17"/>
          <p:cNvSpPr txBox="1"/>
          <p:nvPr/>
        </p:nvSpPr>
        <p:spPr>
          <a:xfrm>
            <a:off x="5989320" y="2121408"/>
            <a:ext cx="5394960" cy="256032"/>
          </a:xfrm>
          <a:prstGeom prst="rect">
            <a:avLst/>
          </a:prstGeom>
          <a:noFill/>
        </p:spPr>
        <p:txBody>
          <a:bodyPr wrap="square" anchor="t" lIns="0" rIns="0" tIns="0" bIns="0">
            <a:spAutoFit/>
          </a:bodyPr>
          <a:lstStyle/>
          <a:p>
            <a:pPr algn="l"/>
            <a:r>
              <a:rPr sz="1100" b="1" i="0">
                <a:solidFill>
                  <a:srgbClr val="9AA0A6"/>
                </a:solidFill>
                <a:latin typeface="Inter"/>
              </a:rPr>
              <a:t>HEAP VIEW</a:t>
            </a:r>
          </a:p>
        </p:txBody>
      </p:sp>
      <p:sp>
        <p:nvSpPr>
          <p:cNvPr id="19" name="TextBox 18"/>
          <p:cNvSpPr txBox="1"/>
          <p:nvPr/>
        </p:nvSpPr>
        <p:spPr>
          <a:xfrm>
            <a:off x="6016752" y="2505456"/>
            <a:ext cx="2395728" cy="237744"/>
          </a:xfrm>
          <a:prstGeom prst="rect">
            <a:avLst/>
          </a:prstGeom>
          <a:noFill/>
        </p:spPr>
        <p:txBody>
          <a:bodyPr wrap="square" anchor="t" lIns="0" rIns="0" tIns="0" bIns="0">
            <a:spAutoFit/>
          </a:bodyPr>
          <a:lstStyle/>
          <a:p>
            <a:pPr algn="l"/>
            <a:r>
              <a:rPr sz="1100" b="1" i="0">
                <a:solidFill>
                  <a:srgbClr val="6B7177"/>
                </a:solidFill>
                <a:latin typeface="Inter"/>
              </a:rPr>
              <a:t>from-space (active)</a:t>
            </a:r>
          </a:p>
        </p:txBody>
      </p:sp>
      <p:sp>
        <p:nvSpPr>
          <p:cNvPr id="20" name="Rectangle 19"/>
          <p:cNvSpPr/>
          <p:nvPr/>
        </p:nvSpPr>
        <p:spPr>
          <a:xfrm>
            <a:off x="6016752" y="2944368"/>
            <a:ext cx="2395728" cy="1417320"/>
          </a:xfrm>
          <a:prstGeom prst="rect">
            <a:avLst/>
          </a:prstGeom>
          <a:solidFill>
            <a:srgbClr val="E4F2EA"/>
          </a:solidFill>
          <a:ln w="1587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3474720"/>
            <a:ext cx="457200" cy="402336"/>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A</a:t>
            </a:r>
          </a:p>
        </p:txBody>
      </p:sp>
      <p:sp>
        <p:nvSpPr>
          <p:cNvPr id="22" name="Rectangle 21"/>
          <p:cNvSpPr/>
          <p:nvPr/>
        </p:nvSpPr>
        <p:spPr>
          <a:xfrm>
            <a:off x="6693408" y="3474720"/>
            <a:ext cx="457200" cy="402336"/>
          </a:xfrm>
          <a:prstGeom prst="rect">
            <a:avLst/>
          </a:prstGeom>
          <a:solidFill>
            <a:srgbClr val="F1F0EC"/>
          </a:solidFill>
          <a:ln w="1270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0" i="0">
                <a:solidFill>
                  <a:srgbClr val="B6BABF"/>
                </a:solidFill>
                <a:latin typeface="JetBrains Mono"/>
              </a:rPr>
              <a:t>×</a:t>
            </a:r>
          </a:p>
        </p:txBody>
      </p:sp>
      <p:sp>
        <p:nvSpPr>
          <p:cNvPr id="23" name="Rectangle 22"/>
          <p:cNvSpPr/>
          <p:nvPr/>
        </p:nvSpPr>
        <p:spPr>
          <a:xfrm>
            <a:off x="7205472" y="3474720"/>
            <a:ext cx="457200" cy="402336"/>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B</a:t>
            </a:r>
          </a:p>
        </p:txBody>
      </p:sp>
      <p:sp>
        <p:nvSpPr>
          <p:cNvPr id="24" name="TextBox 23"/>
          <p:cNvSpPr txBox="1"/>
          <p:nvPr/>
        </p:nvSpPr>
        <p:spPr>
          <a:xfrm>
            <a:off x="8979407" y="2505456"/>
            <a:ext cx="2395728" cy="237744"/>
          </a:xfrm>
          <a:prstGeom prst="rect">
            <a:avLst/>
          </a:prstGeom>
          <a:noFill/>
        </p:spPr>
        <p:txBody>
          <a:bodyPr wrap="square" anchor="t" lIns="0" rIns="0" tIns="0" bIns="0">
            <a:spAutoFit/>
          </a:bodyPr>
          <a:lstStyle/>
          <a:p>
            <a:pPr algn="l"/>
            <a:r>
              <a:rPr sz="1100" b="1" i="0">
                <a:solidFill>
                  <a:srgbClr val="9AA0A6"/>
                </a:solidFill>
                <a:latin typeface="Inter"/>
              </a:rPr>
              <a:t>to-space (empty)</a:t>
            </a:r>
          </a:p>
        </p:txBody>
      </p:sp>
      <p:sp>
        <p:nvSpPr>
          <p:cNvPr id="25" name="Rectangle 24"/>
          <p:cNvSpPr/>
          <p:nvPr/>
        </p:nvSpPr>
        <p:spPr>
          <a:xfrm>
            <a:off x="8979407" y="2944368"/>
            <a:ext cx="2395728" cy="1417320"/>
          </a:xfrm>
          <a:prstGeom prst="rect">
            <a:avLst/>
          </a:prstGeom>
          <a:solidFill>
            <a:srgbClr val="FFFFFF"/>
          </a:solidFill>
          <a:ln w="15875">
            <a:solidFill>
              <a:srgbClr val="9AA0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8467344" y="3506724"/>
            <a:ext cx="457200" cy="310896"/>
          </a:xfrm>
          <a:prstGeom prst="rightArrow">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3122676"/>
            <a:ext cx="749808" cy="310896"/>
          </a:xfrm>
          <a:prstGeom prst="rect">
            <a:avLst/>
          </a:prstGeom>
          <a:noFill/>
        </p:spPr>
        <p:txBody>
          <a:bodyPr wrap="square" anchor="t" lIns="0" rIns="0" tIns="0" bIns="0">
            <a:spAutoFit/>
          </a:bodyPr>
          <a:lstStyle/>
          <a:p>
            <a:pPr algn="ctr"/>
            <a:r>
              <a:rPr sz="950" b="1" i="0">
                <a:solidFill>
                  <a:srgbClr val="1E8449"/>
                </a:solidFill>
                <a:latin typeface="Inter"/>
              </a:rPr>
              <a:t>copy live</a:t>
            </a:r>
          </a:p>
        </p:txBody>
      </p:sp>
      <p:sp>
        <p:nvSpPr>
          <p:cNvPr id="28" name="Rectangle 27"/>
          <p:cNvSpPr/>
          <p:nvPr/>
        </p:nvSpPr>
        <p:spPr>
          <a:xfrm>
            <a:off x="9143999" y="3474720"/>
            <a:ext cx="457200" cy="402336"/>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A</a:t>
            </a:r>
          </a:p>
        </p:txBody>
      </p:sp>
      <p:sp>
        <p:nvSpPr>
          <p:cNvPr id="29" name="Rectangle 28"/>
          <p:cNvSpPr/>
          <p:nvPr/>
        </p:nvSpPr>
        <p:spPr>
          <a:xfrm>
            <a:off x="9656063" y="3474720"/>
            <a:ext cx="457200" cy="402336"/>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B</a:t>
            </a:r>
          </a:p>
        </p:txBody>
      </p:sp>
      <p:sp>
        <p:nvSpPr>
          <p:cNvPr id="30" name="TextBox 29"/>
          <p:cNvSpPr txBox="1"/>
          <p:nvPr/>
        </p:nvSpPr>
        <p:spPr>
          <a:xfrm>
            <a:off x="6016752" y="4489704"/>
            <a:ext cx="5486400" cy="274320"/>
          </a:xfrm>
          <a:prstGeom prst="rect">
            <a:avLst/>
          </a:prstGeom>
          <a:noFill/>
        </p:spPr>
        <p:txBody>
          <a:bodyPr wrap="square" anchor="t" lIns="0" rIns="0" tIns="0" bIns="0">
            <a:spAutoFit/>
          </a:bodyPr>
          <a:lstStyle/>
          <a:p>
            <a:pPr algn="l"/>
            <a:r>
              <a:rPr sz="1050" b="0" i="0">
                <a:solidFill>
                  <a:srgbClr val="9AA0A6"/>
                </a:solidFill>
                <a:latin typeface="Inter"/>
              </a:rPr>
              <a:t>…then flip: to-space becomes the new active half  ⇄</a:t>
            </a:r>
          </a:p>
        </p:txBody>
      </p:sp>
      <p:sp>
        <p:nvSpPr>
          <p:cNvPr id="31" name="TextBox 30"/>
          <p:cNvSpPr txBox="1"/>
          <p:nvPr/>
        </p:nvSpPr>
        <p:spPr>
          <a:xfrm>
            <a:off x="5989320" y="5852160"/>
            <a:ext cx="5440680" cy="777240"/>
          </a:xfrm>
          <a:prstGeom prst="rect">
            <a:avLst/>
          </a:prstGeom>
          <a:noFill/>
        </p:spPr>
        <p:txBody>
          <a:bodyPr wrap="square" anchor="t" lIns="0" rIns="0" tIns="0" bIns="0">
            <a:spAutoFit/>
          </a:bodyPr>
          <a:lstStyle/>
          <a:p>
            <a:pPr algn="l"/>
            <a:r>
              <a:rPr sz="1150" b="0" i="0">
                <a:solidFill>
                  <a:srgbClr val="6B7177"/>
                </a:solidFill>
                <a:latin typeface="Inter"/>
              </a:rPr>
              <a:t>The heap is two equal halves. Live objects are copied into the empty half and the roles flip; the dead are abandoned wholesale. Cheap and compacting — but you pay with half the heap.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274320"/>
          </a:xfrm>
          <a:prstGeom prst="rect">
            <a:avLst/>
          </a:prstGeom>
          <a:noFill/>
        </p:spPr>
        <p:txBody>
          <a:bodyPr wrap="square" anchor="t" lIns="0" rIns="0" tIns="0" bIns="0">
            <a:spAutoFit/>
          </a:bodyPr>
          <a:lstStyle/>
          <a:p>
            <a:pPr algn="l"/>
            <a:r>
              <a:rPr sz="1200" b="1" i="0">
                <a:solidFill>
                  <a:srgbClr val="0B5394"/>
                </a:solidFill>
                <a:latin typeface="Inter"/>
              </a:rPr>
              <a:t>ACT 1 · THE COLLECTORS</a:t>
            </a:r>
          </a:p>
        </p:txBody>
      </p:sp>
      <p:sp>
        <p:nvSpPr>
          <p:cNvPr id="3" name="TextBox 2"/>
          <p:cNvSpPr txBox="1"/>
          <p:nvPr/>
        </p:nvSpPr>
        <p:spPr>
          <a:xfrm>
            <a:off x="822960" y="731520"/>
            <a:ext cx="8686800" cy="640080"/>
          </a:xfrm>
          <a:prstGeom prst="rect">
            <a:avLst/>
          </a:prstGeom>
          <a:noFill/>
        </p:spPr>
        <p:txBody>
          <a:bodyPr wrap="square" anchor="t" lIns="0" rIns="0" tIns="0" bIns="0">
            <a:spAutoFit/>
          </a:bodyPr>
          <a:lstStyle/>
          <a:p>
            <a:pPr algn="l"/>
            <a:r>
              <a:rPr sz="2600" b="1" i="0">
                <a:solidFill>
                  <a:srgbClr val="1A1A1A"/>
                </a:solidFill>
                <a:latin typeface="Inter"/>
              </a:rPr>
              <a:t>Generational</a:t>
            </a:r>
          </a:p>
        </p:txBody>
      </p:sp>
      <p:sp>
        <p:nvSpPr>
          <p:cNvPr id="4" name="Rectangle 3"/>
          <p:cNvSpPr/>
          <p:nvPr/>
        </p:nvSpPr>
        <p:spPr>
          <a:xfrm>
            <a:off x="822960" y="1536192"/>
            <a:ext cx="237744" cy="2377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2144" y="1490472"/>
            <a:ext cx="4572000" cy="329184"/>
          </a:xfrm>
          <a:prstGeom prst="rect">
            <a:avLst/>
          </a:prstGeom>
          <a:noFill/>
        </p:spPr>
        <p:txBody>
          <a:bodyPr wrap="square" anchor="t" lIns="0" rIns="0" tIns="0" bIns="0">
            <a:spAutoFit/>
          </a:bodyPr>
          <a:lstStyle/>
          <a:p>
            <a:pPr algn="l"/>
            <a:r>
              <a:rPr sz="1500" b="1" i="0">
                <a:solidFill>
                  <a:srgbClr val="1A1A1A"/>
                </a:solidFill>
                <a:latin typeface="JetBrains Mono"/>
              </a:rPr>
              <a:t>generational</a:t>
            </a:r>
          </a:p>
        </p:txBody>
      </p:sp>
      <p:sp>
        <p:nvSpPr>
          <p:cNvPr id="6" name="TextBox 5"/>
          <p:cNvSpPr txBox="1"/>
          <p:nvPr/>
        </p:nvSpPr>
        <p:spPr>
          <a:xfrm>
            <a:off x="822960" y="2121408"/>
            <a:ext cx="4572000" cy="256032"/>
          </a:xfrm>
          <a:prstGeom prst="rect">
            <a:avLst/>
          </a:prstGeom>
          <a:noFill/>
        </p:spPr>
        <p:txBody>
          <a:bodyPr wrap="square" anchor="t" lIns="0" rIns="0" tIns="0" bIns="0">
            <a:spAutoFit/>
          </a:bodyPr>
          <a:lstStyle/>
          <a:p>
            <a:pPr algn="l"/>
            <a:r>
              <a:rPr sz="1100" b="1" i="0">
                <a:solidFill>
                  <a:srgbClr val="9AA0A6"/>
                </a:solidFill>
                <a:latin typeface="Inter"/>
              </a:rPr>
              <a:t>HOW IT WORKS</a:t>
            </a:r>
          </a:p>
        </p:txBody>
      </p:sp>
      <p:sp>
        <p:nvSpPr>
          <p:cNvPr id="7" name="Rectangle 6"/>
          <p:cNvSpPr/>
          <p:nvPr/>
        </p:nvSpPr>
        <p:spPr>
          <a:xfrm>
            <a:off x="822960" y="2523744"/>
            <a:ext cx="219456" cy="219456"/>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2144" y="2468880"/>
            <a:ext cx="4297680" cy="292608"/>
          </a:xfrm>
          <a:prstGeom prst="rect">
            <a:avLst/>
          </a:prstGeom>
          <a:noFill/>
        </p:spPr>
        <p:txBody>
          <a:bodyPr wrap="square" anchor="t" lIns="0" rIns="0" tIns="0" bIns="0">
            <a:spAutoFit/>
          </a:bodyPr>
          <a:lstStyle/>
          <a:p>
            <a:pPr algn="l"/>
            <a:r>
              <a:rPr sz="1400" b="1" i="0">
                <a:solidFill>
                  <a:srgbClr val="1A1A1A"/>
                </a:solidFill>
                <a:latin typeface="Inter"/>
              </a:rPr>
              <a:t>Most objects die young</a:t>
            </a:r>
          </a:p>
        </p:txBody>
      </p:sp>
      <p:sp>
        <p:nvSpPr>
          <p:cNvPr id="9" name="TextBox 8"/>
          <p:cNvSpPr txBox="1"/>
          <p:nvPr/>
        </p:nvSpPr>
        <p:spPr>
          <a:xfrm>
            <a:off x="1152144" y="2779776"/>
            <a:ext cx="4434840" cy="566928"/>
          </a:xfrm>
          <a:prstGeom prst="rect">
            <a:avLst/>
          </a:prstGeom>
          <a:noFill/>
        </p:spPr>
        <p:txBody>
          <a:bodyPr wrap="square" anchor="t" lIns="0" rIns="0" tIns="0" bIns="0">
            <a:spAutoFit/>
          </a:bodyPr>
          <a:lstStyle/>
          <a:p>
            <a:pPr algn="l"/>
            <a:r>
              <a:rPr sz="1200" b="0" i="0">
                <a:solidFill>
                  <a:srgbClr val="6B7177"/>
                </a:solidFill>
                <a:latin typeface="Inter"/>
              </a:rPr>
              <a:t>So split the heap into a small young nursery and a large old region.</a:t>
            </a:r>
          </a:p>
        </p:txBody>
      </p:sp>
      <p:sp>
        <p:nvSpPr>
          <p:cNvPr id="10" name="Rectangle 9"/>
          <p:cNvSpPr/>
          <p:nvPr/>
        </p:nvSpPr>
        <p:spPr>
          <a:xfrm>
            <a:off x="822960" y="3456432"/>
            <a:ext cx="219456" cy="219456"/>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52144" y="3401568"/>
            <a:ext cx="4297680" cy="292608"/>
          </a:xfrm>
          <a:prstGeom prst="rect">
            <a:avLst/>
          </a:prstGeom>
          <a:noFill/>
        </p:spPr>
        <p:txBody>
          <a:bodyPr wrap="square" anchor="t" lIns="0" rIns="0" tIns="0" bIns="0">
            <a:spAutoFit/>
          </a:bodyPr>
          <a:lstStyle/>
          <a:p>
            <a:pPr algn="l"/>
            <a:r>
              <a:rPr sz="1400" b="1" i="0">
                <a:solidFill>
                  <a:srgbClr val="1A1A1A"/>
                </a:solidFill>
                <a:latin typeface="Inter"/>
              </a:rPr>
              <a:t>Collect the nursery often</a:t>
            </a:r>
          </a:p>
        </p:txBody>
      </p:sp>
      <p:sp>
        <p:nvSpPr>
          <p:cNvPr id="12" name="TextBox 11"/>
          <p:cNvSpPr txBox="1"/>
          <p:nvPr/>
        </p:nvSpPr>
        <p:spPr>
          <a:xfrm>
            <a:off x="1152144" y="3712464"/>
            <a:ext cx="4434840" cy="566928"/>
          </a:xfrm>
          <a:prstGeom prst="rect">
            <a:avLst/>
          </a:prstGeom>
          <a:noFill/>
        </p:spPr>
        <p:txBody>
          <a:bodyPr wrap="square" anchor="t" lIns="0" rIns="0" tIns="0" bIns="0">
            <a:spAutoFit/>
          </a:bodyPr>
          <a:lstStyle/>
          <a:p>
            <a:pPr algn="l"/>
            <a:r>
              <a:rPr sz="1200" b="0" i="0">
                <a:solidFill>
                  <a:srgbClr val="6B7177"/>
                </a:solidFill>
                <a:latin typeface="Inter"/>
              </a:rPr>
              <a:t>Cheap, frequent collections; the few survivors are promoted to the old region.</a:t>
            </a:r>
          </a:p>
        </p:txBody>
      </p:sp>
      <p:sp>
        <p:nvSpPr>
          <p:cNvPr id="13" name="Rectangle 12"/>
          <p:cNvSpPr/>
          <p:nvPr/>
        </p:nvSpPr>
        <p:spPr>
          <a:xfrm>
            <a:off x="822960" y="4389120"/>
            <a:ext cx="219456" cy="219456"/>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2144" y="4334256"/>
            <a:ext cx="4297680" cy="292608"/>
          </a:xfrm>
          <a:prstGeom prst="rect">
            <a:avLst/>
          </a:prstGeom>
          <a:noFill/>
        </p:spPr>
        <p:txBody>
          <a:bodyPr wrap="square" anchor="t" lIns="0" rIns="0" tIns="0" bIns="0">
            <a:spAutoFit/>
          </a:bodyPr>
          <a:lstStyle/>
          <a:p>
            <a:pPr algn="l"/>
            <a:r>
              <a:rPr sz="1400" b="1" i="0">
                <a:solidFill>
                  <a:srgbClr val="1A1A1A"/>
                </a:solidFill>
                <a:latin typeface="Inter"/>
              </a:rPr>
              <a:t>Write barrier</a:t>
            </a:r>
          </a:p>
        </p:txBody>
      </p:sp>
      <p:sp>
        <p:nvSpPr>
          <p:cNvPr id="15" name="TextBox 14"/>
          <p:cNvSpPr txBox="1"/>
          <p:nvPr/>
        </p:nvSpPr>
        <p:spPr>
          <a:xfrm>
            <a:off x="1152144" y="4645152"/>
            <a:ext cx="4434840" cy="566928"/>
          </a:xfrm>
          <a:prstGeom prst="rect">
            <a:avLst/>
          </a:prstGeom>
          <a:noFill/>
        </p:spPr>
        <p:txBody>
          <a:bodyPr wrap="square" anchor="t" lIns="0" rIns="0" tIns="0" bIns="0">
            <a:spAutoFit/>
          </a:bodyPr>
          <a:lstStyle/>
          <a:p>
            <a:pPr algn="l"/>
            <a:r>
              <a:rPr sz="1200" b="0" i="0">
                <a:solidFill>
                  <a:srgbClr val="6B7177"/>
                </a:solidFill>
                <a:latin typeface="Inter"/>
              </a:rPr>
              <a:t>A tiny check on each pointer store remembers old→young pointers so they aren't missed.</a:t>
            </a:r>
          </a:p>
        </p:txBody>
      </p:sp>
      <p:sp>
        <p:nvSpPr>
          <p:cNvPr id="16" name="TextBox 15"/>
          <p:cNvSpPr txBox="1"/>
          <p:nvPr/>
        </p:nvSpPr>
        <p:spPr>
          <a:xfrm>
            <a:off x="822960" y="5413248"/>
            <a:ext cx="4572000" cy="237744"/>
          </a:xfrm>
          <a:prstGeom prst="rect">
            <a:avLst/>
          </a:prstGeom>
          <a:noFill/>
        </p:spPr>
        <p:txBody>
          <a:bodyPr wrap="square" anchor="t" lIns="0" rIns="0" tIns="0" bIns="0">
            <a:spAutoFit/>
          </a:bodyPr>
          <a:lstStyle/>
          <a:p>
            <a:pPr algn="l"/>
            <a:r>
              <a:rPr sz="1100" b="1" i="0">
                <a:solidFill>
                  <a:srgbClr val="9AA0A6"/>
                </a:solidFill>
                <a:latin typeface="Inter"/>
              </a:rPr>
              <a:t>TRADE-OFF</a:t>
            </a:r>
          </a:p>
        </p:txBody>
      </p:sp>
      <p:sp>
        <p:nvSpPr>
          <p:cNvPr id="17" name="TextBox 16"/>
          <p:cNvSpPr txBox="1"/>
          <p:nvPr/>
        </p:nvSpPr>
        <p:spPr>
          <a:xfrm>
            <a:off x="822960" y="5687568"/>
            <a:ext cx="4754880" cy="822960"/>
          </a:xfrm>
          <a:prstGeom prst="rect">
            <a:avLst/>
          </a:prstGeom>
          <a:noFill/>
        </p:spPr>
        <p:txBody>
          <a:bodyPr wrap="square" anchor="t" lIns="0" rIns="0" tIns="0" bIns="0">
            <a:spAutoFit/>
          </a:bodyPr>
          <a:lstStyle/>
          <a:p>
            <a:pPr algn="l"/>
            <a:r>
              <a:rPr sz="1200" b="0" i="0">
                <a:solidFill>
                  <a:srgbClr val="6B7177"/>
                </a:solidFill>
                <a:latin typeface="Inter"/>
              </a:rPr>
              <a:t>Little work per collection and little copying — but needs a write barrier, and the rare full collection is expensive.</a:t>
            </a:r>
          </a:p>
        </p:txBody>
      </p:sp>
      <p:sp>
        <p:nvSpPr>
          <p:cNvPr id="18" name="TextBox 17"/>
          <p:cNvSpPr txBox="1"/>
          <p:nvPr/>
        </p:nvSpPr>
        <p:spPr>
          <a:xfrm>
            <a:off x="5989320" y="2121408"/>
            <a:ext cx="5394960" cy="256032"/>
          </a:xfrm>
          <a:prstGeom prst="rect">
            <a:avLst/>
          </a:prstGeom>
          <a:noFill/>
        </p:spPr>
        <p:txBody>
          <a:bodyPr wrap="square" anchor="t" lIns="0" rIns="0" tIns="0" bIns="0">
            <a:spAutoFit/>
          </a:bodyPr>
          <a:lstStyle/>
          <a:p>
            <a:pPr algn="l"/>
            <a:r>
              <a:rPr sz="1100" b="1" i="0">
                <a:solidFill>
                  <a:srgbClr val="9AA0A6"/>
                </a:solidFill>
                <a:latin typeface="Inter"/>
              </a:rPr>
              <a:t>HEAP VIEW</a:t>
            </a:r>
          </a:p>
        </p:txBody>
      </p:sp>
      <p:sp>
        <p:nvSpPr>
          <p:cNvPr id="19" name="TextBox 18"/>
          <p:cNvSpPr txBox="1"/>
          <p:nvPr/>
        </p:nvSpPr>
        <p:spPr>
          <a:xfrm>
            <a:off x="6016752" y="2505456"/>
            <a:ext cx="2697480" cy="237744"/>
          </a:xfrm>
          <a:prstGeom prst="rect">
            <a:avLst/>
          </a:prstGeom>
          <a:noFill/>
        </p:spPr>
        <p:txBody>
          <a:bodyPr wrap="square" anchor="t" lIns="0" rIns="0" tIns="0" bIns="0">
            <a:spAutoFit/>
          </a:bodyPr>
          <a:lstStyle/>
          <a:p>
            <a:pPr algn="l"/>
            <a:r>
              <a:rPr sz="1100" b="1" i="0">
                <a:solidFill>
                  <a:srgbClr val="6B7177"/>
                </a:solidFill>
                <a:latin typeface="Inter"/>
              </a:rPr>
              <a:t>old / tenured  (rarely collected)</a:t>
            </a:r>
          </a:p>
        </p:txBody>
      </p:sp>
      <p:sp>
        <p:nvSpPr>
          <p:cNvPr id="20" name="Rectangle 19"/>
          <p:cNvSpPr/>
          <p:nvPr/>
        </p:nvSpPr>
        <p:spPr>
          <a:xfrm>
            <a:off x="6016752" y="2980944"/>
            <a:ext cx="2697480" cy="1508760"/>
          </a:xfrm>
          <a:prstGeom prst="rect">
            <a:avLst/>
          </a:prstGeom>
          <a:solidFill>
            <a:srgbClr val="F0E7F5"/>
          </a:solidFill>
          <a:ln w="15875">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3566160"/>
            <a:ext cx="502920" cy="402336"/>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S</a:t>
            </a:r>
          </a:p>
        </p:txBody>
      </p:sp>
      <p:sp>
        <p:nvSpPr>
          <p:cNvPr id="22" name="Rectangle 21"/>
          <p:cNvSpPr/>
          <p:nvPr/>
        </p:nvSpPr>
        <p:spPr>
          <a:xfrm>
            <a:off x="6739128" y="3566160"/>
            <a:ext cx="502920" cy="402336"/>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S</a:t>
            </a:r>
          </a:p>
        </p:txBody>
      </p:sp>
      <p:sp>
        <p:nvSpPr>
          <p:cNvPr id="23" name="TextBox 22"/>
          <p:cNvSpPr txBox="1"/>
          <p:nvPr/>
        </p:nvSpPr>
        <p:spPr>
          <a:xfrm>
            <a:off x="9144000" y="2505456"/>
            <a:ext cx="2148840" cy="237744"/>
          </a:xfrm>
          <a:prstGeom prst="rect">
            <a:avLst/>
          </a:prstGeom>
          <a:noFill/>
        </p:spPr>
        <p:txBody>
          <a:bodyPr wrap="square" anchor="t" lIns="0" rIns="0" tIns="0" bIns="0">
            <a:spAutoFit/>
          </a:bodyPr>
          <a:lstStyle/>
          <a:p>
            <a:pPr algn="l"/>
            <a:r>
              <a:rPr sz="1100" b="1" i="0">
                <a:solidFill>
                  <a:srgbClr val="9AA0A6"/>
                </a:solidFill>
                <a:latin typeface="Inter"/>
              </a:rPr>
              <a:t>young / nursery</a:t>
            </a:r>
          </a:p>
        </p:txBody>
      </p:sp>
      <p:sp>
        <p:nvSpPr>
          <p:cNvPr id="24" name="Rectangle 23"/>
          <p:cNvSpPr/>
          <p:nvPr/>
        </p:nvSpPr>
        <p:spPr>
          <a:xfrm>
            <a:off x="9144000" y="2980944"/>
            <a:ext cx="2148840" cy="1508760"/>
          </a:xfrm>
          <a:prstGeom prst="rect">
            <a:avLst/>
          </a:prstGeom>
          <a:solidFill>
            <a:srgbClr val="FAFAF8"/>
          </a:solidFill>
          <a:ln w="15875">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290304" y="3566160"/>
            <a:ext cx="457200" cy="402336"/>
          </a:xfrm>
          <a:prstGeom prst="rect">
            <a:avLst/>
          </a:prstGeom>
          <a:solidFill>
            <a:srgbClr val="F1F0EC"/>
          </a:solidFill>
          <a:ln w="1270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0" i="0">
                <a:solidFill>
                  <a:srgbClr val="B6BABF"/>
                </a:solidFill>
                <a:latin typeface="JetBrains Mono"/>
              </a:rPr>
              <a:t>×</a:t>
            </a:r>
          </a:p>
        </p:txBody>
      </p:sp>
      <p:sp>
        <p:nvSpPr>
          <p:cNvPr id="26" name="Rectangle 25"/>
          <p:cNvSpPr/>
          <p:nvPr/>
        </p:nvSpPr>
        <p:spPr>
          <a:xfrm>
            <a:off x="9802368" y="3566160"/>
            <a:ext cx="457200" cy="402336"/>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i="0">
                <a:solidFill>
                  <a:srgbClr val="FFFFFF"/>
                </a:solidFill>
                <a:latin typeface="JetBrains Mono"/>
              </a:rPr>
              <a:t>s</a:t>
            </a:r>
          </a:p>
        </p:txBody>
      </p:sp>
      <p:sp>
        <p:nvSpPr>
          <p:cNvPr id="27" name="Rectangle 26"/>
          <p:cNvSpPr/>
          <p:nvPr/>
        </p:nvSpPr>
        <p:spPr>
          <a:xfrm>
            <a:off x="10314432" y="3566160"/>
            <a:ext cx="457200" cy="402336"/>
          </a:xfrm>
          <a:prstGeom prst="rect">
            <a:avLst/>
          </a:prstGeom>
          <a:solidFill>
            <a:srgbClr val="F1F0EC"/>
          </a:solidFill>
          <a:ln w="1270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0" i="0">
                <a:solidFill>
                  <a:srgbClr val="B6BABF"/>
                </a:solidFill>
                <a:latin typeface="JetBrains Mono"/>
              </a:rPr>
              <a:t>×</a:t>
            </a:r>
          </a:p>
        </p:txBody>
      </p:sp>
      <p:sp>
        <p:nvSpPr>
          <p:cNvPr id="28" name="Left Arrow 27"/>
          <p:cNvSpPr/>
          <p:nvPr/>
        </p:nvSpPr>
        <p:spPr>
          <a:xfrm>
            <a:off x="8759952" y="3584448"/>
            <a:ext cx="338328" cy="310896"/>
          </a:xfrm>
          <a:prstGeom prst="leftArrow">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31352" y="3236976"/>
            <a:ext cx="795528" cy="274320"/>
          </a:xfrm>
          <a:prstGeom prst="rect">
            <a:avLst/>
          </a:prstGeom>
          <a:noFill/>
        </p:spPr>
        <p:txBody>
          <a:bodyPr wrap="square" anchor="t" lIns="0" rIns="0" tIns="0" bIns="0">
            <a:spAutoFit/>
          </a:bodyPr>
          <a:lstStyle/>
          <a:p>
            <a:pPr algn="ctr"/>
            <a:r>
              <a:rPr sz="950" b="1" i="0">
                <a:solidFill>
                  <a:srgbClr val="8E44AD"/>
                </a:solidFill>
                <a:latin typeface="Inter"/>
              </a:rPr>
              <a:t>promote</a:t>
            </a:r>
          </a:p>
        </p:txBody>
      </p:sp>
      <p:cxnSp>
        <p:nvCxnSpPr>
          <p:cNvPr id="30" name="Connector 29"/>
          <p:cNvCxnSpPr/>
          <p:nvPr/>
        </p:nvCxnSpPr>
        <p:spPr>
          <a:xfrm>
            <a:off x="6885432" y="4343400"/>
            <a:ext cx="2807208" cy="0"/>
          </a:xfrm>
          <a:prstGeom prst="line">
            <a:avLst/>
          </a:prstGeom>
          <a:ln w="19050">
            <a:solidFill>
              <a:srgbClr val="8E44AD"/>
            </a:solidFill>
            <a:prstDash val="dash"/>
            <a:tailEnd type="triangle"/>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08192" y="4562856"/>
            <a:ext cx="5486400" cy="274320"/>
          </a:xfrm>
          <a:prstGeom prst="rect">
            <a:avLst/>
          </a:prstGeom>
          <a:noFill/>
        </p:spPr>
        <p:txBody>
          <a:bodyPr wrap="square" anchor="t" lIns="0" rIns="0" tIns="0" bIns="0">
            <a:spAutoFit/>
          </a:bodyPr>
          <a:lstStyle/>
          <a:p>
            <a:pPr algn="l"/>
            <a:r>
              <a:rPr sz="1000" b="0" i="0">
                <a:solidFill>
                  <a:srgbClr val="9AA0A6"/>
                </a:solidFill>
                <a:latin typeface="Inter"/>
              </a:rPr>
              <a:t>write barrier records this old→young pointer</a:t>
            </a:r>
          </a:p>
        </p:txBody>
      </p:sp>
      <p:sp>
        <p:nvSpPr>
          <p:cNvPr id="32" name="TextBox 31"/>
          <p:cNvSpPr txBox="1"/>
          <p:nvPr/>
        </p:nvSpPr>
        <p:spPr>
          <a:xfrm>
            <a:off x="5989320" y="5852160"/>
            <a:ext cx="5440680" cy="777240"/>
          </a:xfrm>
          <a:prstGeom prst="rect">
            <a:avLst/>
          </a:prstGeom>
          <a:noFill/>
        </p:spPr>
        <p:txBody>
          <a:bodyPr wrap="square" anchor="t" lIns="0" rIns="0" tIns="0" bIns="0">
            <a:spAutoFit/>
          </a:bodyPr>
          <a:lstStyle/>
          <a:p>
            <a:pPr algn="l"/>
            <a:r>
              <a:rPr sz="1150" b="0" i="0">
                <a:solidFill>
                  <a:srgbClr val="6B7177"/>
                </a:solidFill>
                <a:latin typeface="Inter"/>
              </a:rPr>
              <a:t>Objects are born in the small nursery, collected often and cheaply; the few survivors are promoted to the old region, collected only rarely. A write barrier tracks old→young pointers.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8"/>
        </a:solidFill>
      </p:bgPr>
    </p:bg>
    <p:spTree>
      <p:nvGrpSpPr>
        <p:cNvPr id="161" name="Shape 161"/>
        <p:cNvGrpSpPr/>
        <p:nvPr/>
      </p:nvGrpSpPr>
      <p:grpSpPr>
        <a:xfrm>
          <a:off x="0" y="0"/>
          <a:ext cx="0" cy="0"/>
          <a:chOff x="0" y="0"/>
          <a:chExt cx="0" cy="0"/>
        </a:xfrm>
      </p:grpSpPr>
      <p:sp>
        <p:nvSpPr>
          <p:cNvPr id="162" name="Google Shape;162;p9"/>
          <p:cNvSpPr/>
          <p:nvPr/>
        </p:nvSpPr>
        <p:spPr>
          <a:xfrm>
            <a:off x="822985" y="5440805"/>
            <a:ext cx="1051500" cy="868800"/>
          </a:xfrm>
          <a:prstGeom prst="roundRect">
            <a:avLst>
              <a:gd fmla="val 6316" name="adj"/>
            </a:avLst>
          </a:prstGeom>
          <a:solidFill>
            <a:srgbClr val="8E44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822960" y="45720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200"/>
              <a:buFont typeface="Inter"/>
              <a:buNone/>
            </a:pPr>
            <a:r>
              <a:rPr b="1" i="0" lang="en-US" sz="1200" u="none" cap="none" strike="noStrike">
                <a:solidFill>
                  <a:srgbClr val="0B5394"/>
                </a:solidFill>
                <a:latin typeface="Inter"/>
                <a:ea typeface="Inter"/>
                <a:cs typeface="Inter"/>
                <a:sym typeface="Inter"/>
              </a:rPr>
              <a:t>ACT 1 · WHAT WE ASK</a:t>
            </a:r>
            <a:endParaRPr b="0" i="0" sz="1200" u="none" cap="none" strike="noStrike">
              <a:solidFill>
                <a:schemeClr val="dk1"/>
              </a:solidFill>
              <a:latin typeface="Calibri"/>
              <a:ea typeface="Calibri"/>
              <a:cs typeface="Calibri"/>
              <a:sym typeface="Calibri"/>
            </a:endParaRPr>
          </a:p>
        </p:txBody>
      </p:sp>
      <p:sp>
        <p:nvSpPr>
          <p:cNvPr id="164" name="Google Shape;164;p9"/>
          <p:cNvSpPr/>
          <p:nvPr/>
        </p:nvSpPr>
        <p:spPr>
          <a:xfrm>
            <a:off x="822960" y="749808"/>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Inter"/>
              <a:buNone/>
            </a:pPr>
            <a:r>
              <a:rPr b="1" lang="en-US" sz="2600">
                <a:solidFill>
                  <a:srgbClr val="1A1A1A"/>
                </a:solidFill>
                <a:latin typeface="Inter"/>
                <a:ea typeface="Inter"/>
                <a:cs typeface="Inter"/>
                <a:sym typeface="Inter"/>
              </a:rPr>
              <a:t>The four</a:t>
            </a:r>
            <a:r>
              <a:rPr b="1" i="0" lang="en-US" sz="2600" u="none" cap="none" strike="noStrike">
                <a:solidFill>
                  <a:srgbClr val="1A1A1A"/>
                </a:solidFill>
                <a:latin typeface="Inter"/>
                <a:ea typeface="Inter"/>
                <a:cs typeface="Inter"/>
                <a:sym typeface="Inter"/>
              </a:rPr>
              <a:t> research questions</a:t>
            </a:r>
            <a:endParaRPr b="0" i="0" sz="2600" u="none" cap="none" strike="noStrike">
              <a:solidFill>
                <a:schemeClr val="dk1"/>
              </a:solidFill>
              <a:latin typeface="Calibri"/>
              <a:ea typeface="Calibri"/>
              <a:cs typeface="Calibri"/>
              <a:sym typeface="Calibri"/>
            </a:endParaRPr>
          </a:p>
        </p:txBody>
      </p:sp>
      <p:sp>
        <p:nvSpPr>
          <p:cNvPr id="165" name="Google Shape;165;p9"/>
          <p:cNvSpPr/>
          <p:nvPr/>
        </p:nvSpPr>
        <p:spPr>
          <a:xfrm>
            <a:off x="822960" y="2011680"/>
            <a:ext cx="1051560" cy="868680"/>
          </a:xfrm>
          <a:prstGeom prst="roundRect">
            <a:avLst>
              <a:gd fmla="val 6316"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822960" y="2011680"/>
            <a:ext cx="105156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Inter"/>
              <a:buNone/>
            </a:pPr>
            <a:r>
              <a:rPr b="1" i="0" lang="en-US" sz="2000" u="none" cap="none" strike="noStrike">
                <a:solidFill>
                  <a:srgbClr val="FFFFFF"/>
                </a:solidFill>
                <a:latin typeface="Inter"/>
                <a:ea typeface="Inter"/>
                <a:cs typeface="Inter"/>
                <a:sym typeface="Inter"/>
              </a:rPr>
              <a:t>RQ1</a:t>
            </a:r>
            <a:endParaRPr b="0" i="0" sz="2000" u="none" cap="none" strike="noStrike">
              <a:solidFill>
                <a:schemeClr val="dk1"/>
              </a:solidFill>
              <a:latin typeface="Calibri"/>
              <a:ea typeface="Calibri"/>
              <a:cs typeface="Calibri"/>
              <a:sym typeface="Calibri"/>
            </a:endParaRPr>
          </a:p>
        </p:txBody>
      </p:sp>
      <p:sp>
        <p:nvSpPr>
          <p:cNvPr id="167" name="Google Shape;167;p9"/>
          <p:cNvSpPr/>
          <p:nvPr/>
        </p:nvSpPr>
        <p:spPr>
          <a:xfrm>
            <a:off x="2148840" y="2057400"/>
            <a:ext cx="2743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Inter"/>
              <a:buNone/>
            </a:pPr>
            <a:r>
              <a:rPr b="1" i="0" lang="en-US" sz="1800" u="none" cap="none" strike="noStrike">
                <a:solidFill>
                  <a:srgbClr val="1A1A1A"/>
                </a:solidFill>
                <a:latin typeface="Inter"/>
                <a:ea typeface="Inter"/>
                <a:cs typeface="Inter"/>
                <a:sym typeface="Inter"/>
              </a:rPr>
              <a:t>Throughput</a:t>
            </a:r>
            <a:endParaRPr b="0" i="0" sz="1800" u="none" cap="none" strike="noStrike">
              <a:solidFill>
                <a:schemeClr val="dk1"/>
              </a:solidFill>
              <a:latin typeface="Calibri"/>
              <a:ea typeface="Calibri"/>
              <a:cs typeface="Calibri"/>
              <a:sym typeface="Calibri"/>
            </a:endParaRPr>
          </a:p>
        </p:txBody>
      </p:sp>
      <p:sp>
        <p:nvSpPr>
          <p:cNvPr id="168" name="Google Shape;168;p9"/>
          <p:cNvSpPr/>
          <p:nvPr/>
        </p:nvSpPr>
        <p:spPr>
          <a:xfrm>
            <a:off x="4846320" y="2011680"/>
            <a:ext cx="6400800" cy="86868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B7177"/>
              </a:buClr>
              <a:buSzPts val="1500"/>
              <a:buFont typeface="Inter"/>
              <a:buNone/>
            </a:pPr>
            <a:r>
              <a:rPr b="0" i="0" lang="en-US" sz="1500" u="none" cap="none" strike="noStrike">
                <a:solidFill>
                  <a:srgbClr val="6B7177"/>
                </a:solidFill>
                <a:latin typeface="Inter"/>
                <a:ea typeface="Inter"/>
                <a:cs typeface="Inter"/>
                <a:sym typeface="Inter"/>
              </a:rPr>
              <a:t>How do the collectors compare on mutator throughput and GC overhead as heap pressure varies?</a:t>
            </a:r>
            <a:endParaRPr b="0" i="0" sz="1500" u="none" cap="none" strike="noStrike">
              <a:solidFill>
                <a:schemeClr val="dk1"/>
              </a:solidFill>
              <a:latin typeface="Calibri"/>
              <a:ea typeface="Calibri"/>
              <a:cs typeface="Calibri"/>
              <a:sym typeface="Calibri"/>
            </a:endParaRPr>
          </a:p>
        </p:txBody>
      </p:sp>
      <p:sp>
        <p:nvSpPr>
          <p:cNvPr id="169" name="Google Shape;169;p9"/>
          <p:cNvSpPr/>
          <p:nvPr/>
        </p:nvSpPr>
        <p:spPr>
          <a:xfrm>
            <a:off x="822960" y="3154680"/>
            <a:ext cx="1051560" cy="868680"/>
          </a:xfrm>
          <a:prstGeom prst="roundRect">
            <a:avLst>
              <a:gd fmla="val 6316" name="adj"/>
            </a:avLst>
          </a:prstGeom>
          <a:solidFill>
            <a:srgbClr val="1E84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
          <p:cNvSpPr/>
          <p:nvPr/>
        </p:nvSpPr>
        <p:spPr>
          <a:xfrm>
            <a:off x="822960" y="3154680"/>
            <a:ext cx="105156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Inter"/>
              <a:buNone/>
            </a:pPr>
            <a:r>
              <a:rPr b="1" i="0" lang="en-US" sz="2000" u="none" cap="none" strike="noStrike">
                <a:solidFill>
                  <a:srgbClr val="FFFFFF"/>
                </a:solidFill>
                <a:latin typeface="Inter"/>
                <a:ea typeface="Inter"/>
                <a:cs typeface="Inter"/>
                <a:sym typeface="Inter"/>
              </a:rPr>
              <a:t>RQ2</a:t>
            </a:r>
            <a:endParaRPr b="0" i="0" sz="2000" u="none" cap="none" strike="noStrike">
              <a:solidFill>
                <a:schemeClr val="dk1"/>
              </a:solidFill>
              <a:latin typeface="Calibri"/>
              <a:ea typeface="Calibri"/>
              <a:cs typeface="Calibri"/>
              <a:sym typeface="Calibri"/>
            </a:endParaRPr>
          </a:p>
        </p:txBody>
      </p:sp>
      <p:sp>
        <p:nvSpPr>
          <p:cNvPr id="171" name="Google Shape;171;p9"/>
          <p:cNvSpPr/>
          <p:nvPr/>
        </p:nvSpPr>
        <p:spPr>
          <a:xfrm>
            <a:off x="2148840" y="3200400"/>
            <a:ext cx="2743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Inter"/>
              <a:buNone/>
            </a:pPr>
            <a:r>
              <a:rPr b="1" i="0" lang="en-US" sz="1800" u="none" cap="none" strike="noStrike">
                <a:solidFill>
                  <a:srgbClr val="1A1A1A"/>
                </a:solidFill>
                <a:latin typeface="Inter"/>
                <a:ea typeface="Inter"/>
                <a:cs typeface="Inter"/>
                <a:sym typeface="Inter"/>
              </a:rPr>
              <a:t>Latency</a:t>
            </a:r>
            <a:endParaRPr b="0" i="0" sz="1800" u="none" cap="none" strike="noStrike">
              <a:solidFill>
                <a:schemeClr val="dk1"/>
              </a:solidFill>
              <a:latin typeface="Calibri"/>
              <a:ea typeface="Calibri"/>
              <a:cs typeface="Calibri"/>
              <a:sym typeface="Calibri"/>
            </a:endParaRPr>
          </a:p>
        </p:txBody>
      </p:sp>
      <p:sp>
        <p:nvSpPr>
          <p:cNvPr id="172" name="Google Shape;172;p9"/>
          <p:cNvSpPr/>
          <p:nvPr/>
        </p:nvSpPr>
        <p:spPr>
          <a:xfrm>
            <a:off x="4846320" y="3154680"/>
            <a:ext cx="6400800" cy="86868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B7177"/>
              </a:buClr>
              <a:buSzPts val="1500"/>
              <a:buFont typeface="Inter"/>
              <a:buNone/>
            </a:pPr>
            <a:r>
              <a:rPr b="0" i="0" lang="en-US" sz="1500" u="none" cap="none" strike="noStrike">
                <a:solidFill>
                  <a:srgbClr val="6B7177"/>
                </a:solidFill>
                <a:latin typeface="Inter"/>
                <a:ea typeface="Inter"/>
                <a:cs typeface="Inter"/>
                <a:sym typeface="Inter"/>
              </a:rPr>
              <a:t>How do pause-time distributions (mean and maximum) differ across collectors and workloads?</a:t>
            </a:r>
            <a:endParaRPr b="0" i="0" sz="1500" u="none" cap="none" strike="noStrike">
              <a:solidFill>
                <a:schemeClr val="dk1"/>
              </a:solidFill>
              <a:latin typeface="Calibri"/>
              <a:ea typeface="Calibri"/>
              <a:cs typeface="Calibri"/>
              <a:sym typeface="Calibri"/>
            </a:endParaRPr>
          </a:p>
        </p:txBody>
      </p:sp>
      <p:sp>
        <p:nvSpPr>
          <p:cNvPr id="173" name="Google Shape;173;p9"/>
          <p:cNvSpPr/>
          <p:nvPr/>
        </p:nvSpPr>
        <p:spPr>
          <a:xfrm>
            <a:off x="822960" y="4297680"/>
            <a:ext cx="1051560" cy="868680"/>
          </a:xfrm>
          <a:prstGeom prst="roundRect">
            <a:avLst>
              <a:gd fmla="val 6316" name="adj"/>
            </a:avLst>
          </a:prstGeom>
          <a:solidFill>
            <a:srgbClr val="1F6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822960" y="4297680"/>
            <a:ext cx="1051500" cy="86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Inter"/>
              <a:buNone/>
            </a:pPr>
            <a:r>
              <a:rPr b="1" i="0" lang="en-US" sz="2000" u="none" cap="none" strike="noStrike">
                <a:solidFill>
                  <a:srgbClr val="FFFFFF"/>
                </a:solidFill>
                <a:latin typeface="Inter"/>
                <a:ea typeface="Inter"/>
                <a:cs typeface="Inter"/>
                <a:sym typeface="Inter"/>
              </a:rPr>
              <a:t>RQ3</a:t>
            </a:r>
            <a:endParaRPr b="0" i="0" sz="2000" u="none" cap="none" strike="noStrike">
              <a:solidFill>
                <a:schemeClr val="dk1"/>
              </a:solidFill>
              <a:latin typeface="Calibri"/>
              <a:ea typeface="Calibri"/>
              <a:cs typeface="Calibri"/>
              <a:sym typeface="Calibri"/>
            </a:endParaRPr>
          </a:p>
        </p:txBody>
      </p:sp>
      <p:sp>
        <p:nvSpPr>
          <p:cNvPr id="175" name="Google Shape;175;p9"/>
          <p:cNvSpPr/>
          <p:nvPr/>
        </p:nvSpPr>
        <p:spPr>
          <a:xfrm>
            <a:off x="2148840" y="4343400"/>
            <a:ext cx="27432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Inter"/>
              <a:buNone/>
            </a:pPr>
            <a:r>
              <a:rPr b="1" i="0" lang="en-US" sz="1800" u="none" cap="none" strike="noStrike">
                <a:solidFill>
                  <a:srgbClr val="1A1A1A"/>
                </a:solidFill>
                <a:latin typeface="Inter"/>
                <a:ea typeface="Inter"/>
                <a:cs typeface="Inter"/>
                <a:sym typeface="Inter"/>
              </a:rPr>
              <a:t>Space</a:t>
            </a:r>
            <a:endParaRPr b="0" i="0" sz="1800" u="none" cap="none" strike="noStrike">
              <a:solidFill>
                <a:schemeClr val="dk1"/>
              </a:solidFill>
              <a:latin typeface="Calibri"/>
              <a:ea typeface="Calibri"/>
              <a:cs typeface="Calibri"/>
              <a:sym typeface="Calibri"/>
            </a:endParaRPr>
          </a:p>
        </p:txBody>
      </p:sp>
      <p:sp>
        <p:nvSpPr>
          <p:cNvPr id="176" name="Google Shape;176;p9"/>
          <p:cNvSpPr/>
          <p:nvPr/>
        </p:nvSpPr>
        <p:spPr>
          <a:xfrm>
            <a:off x="4846320" y="4297680"/>
            <a:ext cx="6400800" cy="8688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B7177"/>
              </a:buClr>
              <a:buSzPts val="1500"/>
              <a:buFont typeface="Inter"/>
              <a:buNone/>
            </a:pPr>
            <a:r>
              <a:rPr b="0" i="0" lang="en-US" sz="1500" u="none" cap="none" strike="noStrike">
                <a:solidFill>
                  <a:srgbClr val="6B7177"/>
                </a:solidFill>
                <a:latin typeface="Inter"/>
                <a:ea typeface="Inter"/>
                <a:cs typeface="Inter"/>
                <a:sym typeface="Inter"/>
              </a:rPr>
              <a:t>How tight a heap can each collector survive and what is Cheney's semispace penalty in practice?</a:t>
            </a:r>
            <a:endParaRPr b="0" i="0" sz="1500" u="none" cap="none" strike="noStrike">
              <a:solidFill>
                <a:schemeClr val="dk1"/>
              </a:solidFill>
              <a:latin typeface="Calibri"/>
              <a:ea typeface="Calibri"/>
              <a:cs typeface="Calibri"/>
              <a:sym typeface="Calibri"/>
            </a:endParaRPr>
          </a:p>
        </p:txBody>
      </p:sp>
      <p:sp>
        <p:nvSpPr>
          <p:cNvPr id="177" name="Google Shape;177;p9"/>
          <p:cNvSpPr/>
          <p:nvPr/>
        </p:nvSpPr>
        <p:spPr>
          <a:xfrm>
            <a:off x="822960" y="5440805"/>
            <a:ext cx="1051500" cy="86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Inter"/>
              <a:buNone/>
            </a:pPr>
            <a:r>
              <a:rPr b="1" i="0" lang="en-US" sz="2000" u="none" cap="none" strike="noStrike">
                <a:solidFill>
                  <a:srgbClr val="FFFFFF"/>
                </a:solidFill>
                <a:latin typeface="Inter"/>
                <a:ea typeface="Inter"/>
                <a:cs typeface="Inter"/>
                <a:sym typeface="Inter"/>
              </a:rPr>
              <a:t>RQ</a:t>
            </a:r>
            <a:r>
              <a:rPr b="1" lang="en-US" sz="2000">
                <a:solidFill>
                  <a:srgbClr val="FFFFFF"/>
                </a:solidFill>
                <a:latin typeface="Inter"/>
                <a:ea typeface="Inter"/>
                <a:cs typeface="Inter"/>
                <a:sym typeface="Inter"/>
              </a:rPr>
              <a:t>4</a:t>
            </a:r>
            <a:endParaRPr b="0" i="0" sz="2000" u="none" cap="none" strike="noStrike">
              <a:solidFill>
                <a:schemeClr val="dk1"/>
              </a:solidFill>
              <a:latin typeface="Calibri"/>
              <a:ea typeface="Calibri"/>
              <a:cs typeface="Calibri"/>
              <a:sym typeface="Calibri"/>
            </a:endParaRPr>
          </a:p>
        </p:txBody>
      </p:sp>
      <p:sp>
        <p:nvSpPr>
          <p:cNvPr id="178" name="Google Shape;178;p9"/>
          <p:cNvSpPr/>
          <p:nvPr/>
        </p:nvSpPr>
        <p:spPr>
          <a:xfrm>
            <a:off x="2148840" y="5486525"/>
            <a:ext cx="27432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Inter"/>
              <a:buNone/>
            </a:pPr>
            <a:r>
              <a:rPr sz="1800" b="1">
                <a:solidFill>
                  <a:srgbClr val="1A1A1A"/>
                </a:solidFill>
                <a:latin typeface="Inter"/>
              </a:rPr>
              <a:t>Generational</a:t>
            </a:r>
            <a:endParaRPr b="0" i="0" sz="1800" u="none" cap="none" strike="noStrike">
              <a:solidFill>
                <a:schemeClr val="dk1"/>
              </a:solidFill>
              <a:latin typeface="Calibri"/>
              <a:ea typeface="Calibri"/>
              <a:cs typeface="Calibri"/>
              <a:sym typeface="Calibri"/>
            </a:endParaRPr>
          </a:p>
        </p:txBody>
      </p:sp>
      <p:sp>
        <p:nvSpPr>
          <p:cNvPr id="179" name="Google Shape;179;p9"/>
          <p:cNvSpPr/>
          <p:nvPr/>
        </p:nvSpPr>
        <p:spPr>
          <a:xfrm>
            <a:off x="4846320" y="5440805"/>
            <a:ext cx="6400800" cy="8688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B7177"/>
              </a:buClr>
              <a:buSzPts val="1500"/>
              <a:buFont typeface="Inter"/>
              <a:buNone/>
            </a:pPr>
            <a:r>
              <a:rPr sz="1500" b="0">
                <a:solidFill>
                  <a:srgbClr val="6B7177"/>
                </a:solidFill>
                <a:latin typeface="Inter"/>
              </a:rPr>
              <a:t>Does the generational collector match the others' throughput and footprint — and what do its write barrier and worst-case pause cost?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274320"/>
          </a:xfrm>
          <a:prstGeom prst="rect">
            <a:avLst/>
          </a:prstGeom>
          <a:noFill/>
        </p:spPr>
        <p:txBody>
          <a:bodyPr wrap="square" anchor="t" lIns="0" rIns="0" tIns="0" bIns="0">
            <a:spAutoFit/>
          </a:bodyPr>
          <a:lstStyle/>
          <a:p>
            <a:pPr algn="l"/>
            <a:r>
              <a:rPr sz="1200" b="1">
                <a:solidFill>
                  <a:srgbClr val="0B5394"/>
                </a:solidFill>
                <a:latin typeface="Inter"/>
              </a:rPr>
              <a:t>ACT 1 · THE WORKLOADS</a:t>
            </a:r>
          </a:p>
        </p:txBody>
      </p:sp>
      <p:sp>
        <p:nvSpPr>
          <p:cNvPr id="3" name="TextBox 2"/>
          <p:cNvSpPr txBox="1"/>
          <p:nvPr/>
        </p:nvSpPr>
        <p:spPr>
          <a:xfrm>
            <a:off x="822960" y="731520"/>
            <a:ext cx="10515600" cy="548640"/>
          </a:xfrm>
          <a:prstGeom prst="rect">
            <a:avLst/>
          </a:prstGeom>
          <a:noFill/>
        </p:spPr>
        <p:txBody>
          <a:bodyPr wrap="square" anchor="t" lIns="0" rIns="0" tIns="0" bIns="0">
            <a:spAutoFit/>
          </a:bodyPr>
          <a:lstStyle/>
          <a:p>
            <a:pPr algn="l"/>
            <a:r>
              <a:rPr sz="2600" b="1">
                <a:solidFill>
                  <a:srgbClr val="1A1A1A"/>
                </a:solidFill>
                <a:latin typeface="Inter"/>
              </a:rPr>
              <a:t>Four workloads, each stressing one thing</a:t>
            </a:r>
          </a:p>
        </p:txBody>
      </p:sp>
      <p:sp>
        <p:nvSpPr>
          <p:cNvPr id="4" name="TextBox 3"/>
          <p:cNvSpPr txBox="1"/>
          <p:nvPr/>
        </p:nvSpPr>
        <p:spPr>
          <a:xfrm>
            <a:off x="822960" y="1389888"/>
            <a:ext cx="10515600" cy="365760"/>
          </a:xfrm>
          <a:prstGeom prst="rect">
            <a:avLst/>
          </a:prstGeom>
          <a:noFill/>
        </p:spPr>
        <p:txBody>
          <a:bodyPr wrap="square" anchor="t" lIns="0" rIns="0" tIns="0" bIns="0">
            <a:spAutoFit/>
          </a:bodyPr>
          <a:lstStyle/>
          <a:p>
            <a:pPr algn="l"/>
            <a:r>
              <a:rPr sz="1300" b="0">
                <a:solidFill>
                  <a:srgbClr val="6B7177"/>
                </a:solidFill>
                <a:latin typeface="Inter"/>
              </a:rPr>
              <a:t>Synthetic, seed-controlled allocation patterns — 50,000 iterations each. They are the </a:t>
            </a:r>
            <a:r>
              <a:rPr sz="1300" b="1">
                <a:solidFill>
                  <a:srgbClr val="1A1A1A"/>
                </a:solidFill>
                <a:latin typeface="Inter"/>
              </a:rPr>
              <a:t>1–4</a:t>
            </a:r>
            <a:r>
              <a:rPr sz="1300" b="0">
                <a:solidFill>
                  <a:srgbClr val="6B7177"/>
                </a:solidFill>
                <a:latin typeface="Inter"/>
              </a:rPr>
              <a:t> on every results chart.</a:t>
            </a:r>
          </a:p>
        </p:txBody>
      </p:sp>
      <p:sp>
        <p:nvSpPr>
          <p:cNvPr id="5" name="Rectangle 4"/>
          <p:cNvSpPr/>
          <p:nvPr/>
        </p:nvSpPr>
        <p:spPr>
          <a:xfrm>
            <a:off x="822960" y="1874519"/>
            <a:ext cx="5074920" cy="2057400"/>
          </a:xfrm>
          <a:prstGeom prst="rect">
            <a:avLst/>
          </a:prstGeom>
          <a:solidFill>
            <a:srgbClr val="FFFFFF"/>
          </a:solidFill>
          <a:ln w="12700">
            <a:solidFill>
              <a:srgbClr val="E2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2148839"/>
            <a:ext cx="384048" cy="384048"/>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Inter"/>
              </a:rPr>
              <a:t>1</a:t>
            </a:r>
          </a:p>
        </p:txBody>
      </p:sp>
      <p:sp>
        <p:nvSpPr>
          <p:cNvPr id="7" name="TextBox 6"/>
          <p:cNvSpPr txBox="1"/>
          <p:nvPr/>
        </p:nvSpPr>
        <p:spPr>
          <a:xfrm>
            <a:off x="1627632" y="2148839"/>
            <a:ext cx="4069079" cy="411480"/>
          </a:xfrm>
          <a:prstGeom prst="rect">
            <a:avLst/>
          </a:prstGeom>
          <a:noFill/>
        </p:spPr>
        <p:txBody>
          <a:bodyPr wrap="square" anchor="ctr" lIns="0" rIns="0" tIns="0" bIns="0">
            <a:spAutoFit/>
          </a:bodyPr>
          <a:lstStyle/>
          <a:p>
            <a:pPr algn="l"/>
            <a:r>
              <a:rPr sz="1800" b="1">
                <a:solidFill>
                  <a:srgbClr val="1A1A1A"/>
                </a:solidFill>
                <a:latin typeface="JetBrains Mono"/>
              </a:rPr>
              <a:t>churn</a:t>
            </a:r>
          </a:p>
        </p:txBody>
      </p:sp>
      <p:sp>
        <p:nvSpPr>
          <p:cNvPr id="8" name="TextBox 7"/>
          <p:cNvSpPr txBox="1"/>
          <p:nvPr/>
        </p:nvSpPr>
        <p:spPr>
          <a:xfrm>
            <a:off x="1097280" y="2715768"/>
            <a:ext cx="4526280" cy="731520"/>
          </a:xfrm>
          <a:prstGeom prst="rect">
            <a:avLst/>
          </a:prstGeom>
          <a:noFill/>
        </p:spPr>
        <p:txBody>
          <a:bodyPr wrap="square" anchor="t" lIns="0" rIns="0" tIns="0" bIns="0">
            <a:spAutoFit/>
          </a:bodyPr>
          <a:lstStyle/>
          <a:p>
            <a:pPr algn="l"/>
            <a:r>
              <a:rPr sz="1250" b="0">
                <a:solidFill>
                  <a:srgbClr val="6B7177"/>
                </a:solidFill>
                <a:latin typeface="Inter"/>
              </a:rPr>
              <a:t>A 64-slot keeper array; each step allocates one array that dies at once unless (~5%) it is kept. Heavy short-lived garbage over a tiny live set.</a:t>
            </a:r>
          </a:p>
        </p:txBody>
      </p:sp>
      <p:sp>
        <p:nvSpPr>
          <p:cNvPr id="9" name="TextBox 8"/>
          <p:cNvSpPr txBox="1"/>
          <p:nvPr/>
        </p:nvSpPr>
        <p:spPr>
          <a:xfrm>
            <a:off x="1097280" y="3520439"/>
            <a:ext cx="4572000" cy="320040"/>
          </a:xfrm>
          <a:prstGeom prst="rect">
            <a:avLst/>
          </a:prstGeom>
          <a:noFill/>
        </p:spPr>
        <p:txBody>
          <a:bodyPr wrap="square" anchor="t" lIns="0" rIns="0" tIns="0" bIns="0">
            <a:spAutoFit/>
          </a:bodyPr>
          <a:lstStyle/>
          <a:p>
            <a:pPr algn="l"/>
            <a:r>
              <a:rPr sz="1200" b="0">
                <a:solidFill>
                  <a:srgbClr val="9AA0A6"/>
                </a:solidFill>
                <a:latin typeface="Inter"/>
              </a:rPr>
              <a:t>live set </a:t>
            </a:r>
            <a:r>
              <a:rPr sz="1200" b="1">
                <a:solidFill>
                  <a:srgbClr val="1A1A1A"/>
                </a:solidFill>
                <a:latin typeface="Inter"/>
              </a:rPr>
              <a:t>~5.1 KiB</a:t>
            </a:r>
            <a:r>
              <a:rPr sz="1200" b="0">
                <a:solidFill>
                  <a:srgbClr val="9AA0A6"/>
                </a:solidFill>
                <a:latin typeface="Inter"/>
              </a:rPr>
              <a:t>   ·   stresses </a:t>
            </a:r>
            <a:r>
              <a:rPr sz="1200" b="1">
                <a:solidFill>
                  <a:srgbClr val="0B5394"/>
                </a:solidFill>
                <a:latin typeface="Inter"/>
              </a:rPr>
              <a:t>throughput</a:t>
            </a:r>
          </a:p>
        </p:txBody>
      </p:sp>
      <p:sp>
        <p:nvSpPr>
          <p:cNvPr id="10" name="Rectangle 9"/>
          <p:cNvSpPr/>
          <p:nvPr/>
        </p:nvSpPr>
        <p:spPr>
          <a:xfrm>
            <a:off x="6199632" y="1874519"/>
            <a:ext cx="5074920" cy="2057400"/>
          </a:xfrm>
          <a:prstGeom prst="rect">
            <a:avLst/>
          </a:prstGeom>
          <a:solidFill>
            <a:srgbClr val="FFFFFF"/>
          </a:solidFill>
          <a:ln w="12700">
            <a:solidFill>
              <a:srgbClr val="E2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73952" y="2148839"/>
            <a:ext cx="384048" cy="384048"/>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Inter"/>
              </a:rPr>
              <a:t>2</a:t>
            </a:r>
          </a:p>
        </p:txBody>
      </p:sp>
      <p:sp>
        <p:nvSpPr>
          <p:cNvPr id="12" name="TextBox 11"/>
          <p:cNvSpPr txBox="1"/>
          <p:nvPr/>
        </p:nvSpPr>
        <p:spPr>
          <a:xfrm>
            <a:off x="7004304" y="2148839"/>
            <a:ext cx="4069079" cy="411480"/>
          </a:xfrm>
          <a:prstGeom prst="rect">
            <a:avLst/>
          </a:prstGeom>
          <a:noFill/>
        </p:spPr>
        <p:txBody>
          <a:bodyPr wrap="square" anchor="ctr" lIns="0" rIns="0" tIns="0" bIns="0">
            <a:spAutoFit/>
          </a:bodyPr>
          <a:lstStyle/>
          <a:p>
            <a:pPr algn="l"/>
            <a:r>
              <a:rPr sz="1800" b="1">
                <a:solidFill>
                  <a:srgbClr val="1A1A1A"/>
                </a:solidFill>
                <a:latin typeface="JetBrains Mono"/>
              </a:rPr>
              <a:t>density</a:t>
            </a:r>
          </a:p>
        </p:txBody>
      </p:sp>
      <p:sp>
        <p:nvSpPr>
          <p:cNvPr id="13" name="TextBox 12"/>
          <p:cNvSpPr txBox="1"/>
          <p:nvPr/>
        </p:nvSpPr>
        <p:spPr>
          <a:xfrm>
            <a:off x="6473952" y="2715768"/>
            <a:ext cx="4526280" cy="731520"/>
          </a:xfrm>
          <a:prstGeom prst="rect">
            <a:avLst/>
          </a:prstGeom>
          <a:noFill/>
        </p:spPr>
        <p:txBody>
          <a:bodyPr wrap="square" anchor="t" lIns="0" rIns="0" tIns="0" bIns="0">
            <a:spAutoFit/>
          </a:bodyPr>
          <a:lstStyle/>
          <a:p>
            <a:pPr algn="l"/>
            <a:r>
              <a:rPr sz="1250" b="0">
                <a:solidFill>
                  <a:srgbClr val="6B7177"/>
                </a:solidFill>
                <a:latin typeface="Inter"/>
              </a:rPr>
              <a:t>The same allocations as churn, but the arrays are reference-dense (they point at the keeper) — same volume, far costlier to trace.</a:t>
            </a:r>
          </a:p>
        </p:txBody>
      </p:sp>
      <p:sp>
        <p:nvSpPr>
          <p:cNvPr id="14" name="TextBox 13"/>
          <p:cNvSpPr txBox="1"/>
          <p:nvPr/>
        </p:nvSpPr>
        <p:spPr>
          <a:xfrm>
            <a:off x="6473952" y="3520439"/>
            <a:ext cx="4572000" cy="320040"/>
          </a:xfrm>
          <a:prstGeom prst="rect">
            <a:avLst/>
          </a:prstGeom>
          <a:noFill/>
        </p:spPr>
        <p:txBody>
          <a:bodyPr wrap="square" anchor="t" lIns="0" rIns="0" tIns="0" bIns="0">
            <a:spAutoFit/>
          </a:bodyPr>
          <a:lstStyle/>
          <a:p>
            <a:pPr algn="l"/>
            <a:r>
              <a:rPr sz="1200" b="0">
                <a:solidFill>
                  <a:srgbClr val="9AA0A6"/>
                </a:solidFill>
                <a:latin typeface="Inter"/>
              </a:rPr>
              <a:t>live set </a:t>
            </a:r>
            <a:r>
              <a:rPr sz="1200" b="1">
                <a:solidFill>
                  <a:srgbClr val="1A1A1A"/>
                </a:solidFill>
                <a:latin typeface="Inter"/>
              </a:rPr>
              <a:t>~7.1 KiB</a:t>
            </a:r>
            <a:r>
              <a:rPr sz="1200" b="0">
                <a:solidFill>
                  <a:srgbClr val="9AA0A6"/>
                </a:solidFill>
                <a:latin typeface="Inter"/>
              </a:rPr>
              <a:t>   ·   stresses </a:t>
            </a:r>
            <a:r>
              <a:rPr sz="1200" b="1">
                <a:solidFill>
                  <a:srgbClr val="0B5394"/>
                </a:solidFill>
                <a:latin typeface="Inter"/>
              </a:rPr>
              <a:t>tracing cost</a:t>
            </a:r>
          </a:p>
        </p:txBody>
      </p:sp>
      <p:sp>
        <p:nvSpPr>
          <p:cNvPr id="15" name="Rectangle 14"/>
          <p:cNvSpPr/>
          <p:nvPr/>
        </p:nvSpPr>
        <p:spPr>
          <a:xfrm>
            <a:off x="822960" y="4114800"/>
            <a:ext cx="5074920" cy="2057400"/>
          </a:xfrm>
          <a:prstGeom prst="rect">
            <a:avLst/>
          </a:prstGeom>
          <a:solidFill>
            <a:srgbClr val="FFFFFF"/>
          </a:solidFill>
          <a:ln w="12700">
            <a:solidFill>
              <a:srgbClr val="E2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4389120"/>
            <a:ext cx="384048" cy="384048"/>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Inter"/>
              </a:rPr>
              <a:t>3</a:t>
            </a:r>
          </a:p>
        </p:txBody>
      </p:sp>
      <p:sp>
        <p:nvSpPr>
          <p:cNvPr id="17" name="TextBox 16"/>
          <p:cNvSpPr txBox="1"/>
          <p:nvPr/>
        </p:nvSpPr>
        <p:spPr>
          <a:xfrm>
            <a:off x="1627632" y="4389120"/>
            <a:ext cx="4069079" cy="411480"/>
          </a:xfrm>
          <a:prstGeom prst="rect">
            <a:avLst/>
          </a:prstGeom>
          <a:noFill/>
        </p:spPr>
        <p:txBody>
          <a:bodyPr wrap="square" anchor="ctr" lIns="0" rIns="0" tIns="0" bIns="0">
            <a:spAutoFit/>
          </a:bodyPr>
          <a:lstStyle/>
          <a:p>
            <a:pPr algn="l"/>
            <a:r>
              <a:rPr sz="1800" b="1">
                <a:solidFill>
                  <a:srgbClr val="1A1A1A"/>
                </a:solidFill>
                <a:latin typeface="JetBrains Mono"/>
              </a:rPr>
              <a:t>longlived</a:t>
            </a:r>
          </a:p>
        </p:txBody>
      </p:sp>
      <p:sp>
        <p:nvSpPr>
          <p:cNvPr id="18" name="TextBox 17"/>
          <p:cNvSpPr txBox="1"/>
          <p:nvPr/>
        </p:nvSpPr>
        <p:spPr>
          <a:xfrm>
            <a:off x="1097280" y="4956048"/>
            <a:ext cx="4526280" cy="731520"/>
          </a:xfrm>
          <a:prstGeom prst="rect">
            <a:avLst/>
          </a:prstGeom>
          <a:noFill/>
        </p:spPr>
        <p:txBody>
          <a:bodyPr wrap="square" anchor="t" lIns="0" rIns="0" tIns="0" bIns="0">
            <a:spAutoFit/>
          </a:bodyPr>
          <a:lstStyle/>
          <a:p>
            <a:pPr algn="l"/>
            <a:r>
              <a:rPr sz="1250" b="0">
                <a:solidFill>
                  <a:srgbClr val="6B7177"/>
                </a:solidFill>
                <a:latin typeface="Inter"/>
              </a:rPr>
              <a:t>A 256-node linked list kept alive for the whole run, while short-lived garbage churns around it. A large, permanent live set.</a:t>
            </a:r>
          </a:p>
        </p:txBody>
      </p:sp>
      <p:sp>
        <p:nvSpPr>
          <p:cNvPr id="19" name="TextBox 18"/>
          <p:cNvSpPr txBox="1"/>
          <p:nvPr/>
        </p:nvSpPr>
        <p:spPr>
          <a:xfrm>
            <a:off x="1097280" y="5760720"/>
            <a:ext cx="4572000" cy="320040"/>
          </a:xfrm>
          <a:prstGeom prst="rect">
            <a:avLst/>
          </a:prstGeom>
          <a:noFill/>
        </p:spPr>
        <p:txBody>
          <a:bodyPr wrap="square" anchor="t" lIns="0" rIns="0" tIns="0" bIns="0">
            <a:spAutoFit/>
          </a:bodyPr>
          <a:lstStyle/>
          <a:p>
            <a:pPr algn="l"/>
            <a:r>
              <a:rPr sz="1200" b="0">
                <a:solidFill>
                  <a:srgbClr val="9AA0A6"/>
                </a:solidFill>
                <a:latin typeface="Inter"/>
              </a:rPr>
              <a:t>live set </a:t>
            </a:r>
            <a:r>
              <a:rPr sz="1200" b="1">
                <a:solidFill>
                  <a:srgbClr val="1A1A1A"/>
                </a:solidFill>
                <a:latin typeface="Inter"/>
              </a:rPr>
              <a:t>~41 KiB</a:t>
            </a:r>
            <a:r>
              <a:rPr sz="1200" b="0">
                <a:solidFill>
                  <a:srgbClr val="9AA0A6"/>
                </a:solidFill>
                <a:latin typeface="Inter"/>
              </a:rPr>
              <a:t>   ·   stresses </a:t>
            </a:r>
            <a:r>
              <a:rPr sz="1200" b="1">
                <a:solidFill>
                  <a:srgbClr val="0B5394"/>
                </a:solidFill>
                <a:latin typeface="Inter"/>
              </a:rPr>
              <a:t>compaction / retention</a:t>
            </a:r>
          </a:p>
        </p:txBody>
      </p:sp>
      <p:sp>
        <p:nvSpPr>
          <p:cNvPr id="20" name="Rectangle 19"/>
          <p:cNvSpPr/>
          <p:nvPr/>
        </p:nvSpPr>
        <p:spPr>
          <a:xfrm>
            <a:off x="6199632" y="4114800"/>
            <a:ext cx="5074920" cy="2057400"/>
          </a:xfrm>
          <a:prstGeom prst="rect">
            <a:avLst/>
          </a:prstGeom>
          <a:solidFill>
            <a:srgbClr val="FFFFFF"/>
          </a:solidFill>
          <a:ln w="12700">
            <a:solidFill>
              <a:srgbClr val="E2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73952" y="4389120"/>
            <a:ext cx="384048" cy="384048"/>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Inter"/>
              </a:rPr>
              <a:t>4</a:t>
            </a:r>
          </a:p>
        </p:txBody>
      </p:sp>
      <p:sp>
        <p:nvSpPr>
          <p:cNvPr id="22" name="TextBox 21"/>
          <p:cNvSpPr txBox="1"/>
          <p:nvPr/>
        </p:nvSpPr>
        <p:spPr>
          <a:xfrm>
            <a:off x="7004304" y="4389120"/>
            <a:ext cx="4069079" cy="411480"/>
          </a:xfrm>
          <a:prstGeom prst="rect">
            <a:avLst/>
          </a:prstGeom>
          <a:noFill/>
        </p:spPr>
        <p:txBody>
          <a:bodyPr wrap="square" anchor="ctr" lIns="0" rIns="0" tIns="0" bIns="0">
            <a:spAutoFit/>
          </a:bodyPr>
          <a:lstStyle/>
          <a:p>
            <a:pPr algn="l"/>
            <a:r>
              <a:rPr sz="1800" b="1">
                <a:solidFill>
                  <a:srgbClr val="1A1A1A"/>
                </a:solidFill>
                <a:latin typeface="JetBrains Mono"/>
              </a:rPr>
              <a:t>mutate</a:t>
            </a:r>
          </a:p>
        </p:txBody>
      </p:sp>
      <p:sp>
        <p:nvSpPr>
          <p:cNvPr id="23" name="TextBox 22"/>
          <p:cNvSpPr txBox="1"/>
          <p:nvPr/>
        </p:nvSpPr>
        <p:spPr>
          <a:xfrm>
            <a:off x="6473952" y="4956048"/>
            <a:ext cx="4526280" cy="731520"/>
          </a:xfrm>
          <a:prstGeom prst="rect">
            <a:avLst/>
          </a:prstGeom>
          <a:noFill/>
        </p:spPr>
        <p:txBody>
          <a:bodyPr wrap="square" anchor="t" lIns="0" rIns="0" tIns="0" bIns="0">
            <a:spAutoFit/>
          </a:bodyPr>
          <a:lstStyle/>
          <a:p>
            <a:pPr algn="l"/>
            <a:r>
              <a:rPr sz="1250" b="0">
                <a:solidFill>
                  <a:srgbClr val="6B7177"/>
                </a:solidFill>
                <a:latin typeface="Inter"/>
              </a:rPr>
              <a:t>Mostly pointer rewrites over 256 ring-linked nodes; it allocates only ~¼ of the time. This is what exercises the write barrier.</a:t>
            </a:r>
          </a:p>
        </p:txBody>
      </p:sp>
      <p:sp>
        <p:nvSpPr>
          <p:cNvPr id="24" name="TextBox 23"/>
          <p:cNvSpPr txBox="1"/>
          <p:nvPr/>
        </p:nvSpPr>
        <p:spPr>
          <a:xfrm>
            <a:off x="6473952" y="5760720"/>
            <a:ext cx="4572000" cy="320040"/>
          </a:xfrm>
          <a:prstGeom prst="rect">
            <a:avLst/>
          </a:prstGeom>
          <a:noFill/>
        </p:spPr>
        <p:txBody>
          <a:bodyPr wrap="square" anchor="t" lIns="0" rIns="0" tIns="0" bIns="0">
            <a:spAutoFit/>
          </a:bodyPr>
          <a:lstStyle/>
          <a:p>
            <a:pPr algn="l"/>
            <a:r>
              <a:rPr sz="1200" b="0">
                <a:solidFill>
                  <a:srgbClr val="9AA0A6"/>
                </a:solidFill>
                <a:latin typeface="Inter"/>
              </a:rPr>
              <a:t>live set </a:t>
            </a:r>
            <a:r>
              <a:rPr sz="1200" b="1">
                <a:solidFill>
                  <a:srgbClr val="1A1A1A"/>
                </a:solidFill>
                <a:latin typeface="Inter"/>
              </a:rPr>
              <a:t>~17 KiB</a:t>
            </a:r>
            <a:r>
              <a:rPr sz="1200" b="0">
                <a:solidFill>
                  <a:srgbClr val="9AA0A6"/>
                </a:solidFill>
                <a:latin typeface="Inter"/>
              </a:rPr>
              <a:t>   ·   stresses </a:t>
            </a:r>
            <a:r>
              <a:rPr sz="1200" b="1">
                <a:solidFill>
                  <a:srgbClr val="0B5394"/>
                </a:solidFill>
                <a:latin typeface="Inter"/>
              </a:rPr>
              <a:t>mutation / write barrier</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8"/>
        </a:solidFill>
      </p:bgPr>
    </p:bg>
    <p:spTree>
      <p:nvGrpSpPr>
        <p:cNvPr id="184" name="Shape 184"/>
        <p:cNvGrpSpPr/>
        <p:nvPr/>
      </p:nvGrpSpPr>
      <p:grpSpPr>
        <a:xfrm>
          <a:off x="0" y="0"/>
          <a:ext cx="0" cy="0"/>
          <a:chOff x="0" y="0"/>
          <a:chExt cx="0" cy="0"/>
        </a:xfrm>
      </p:grpSpPr>
      <p:sp>
        <p:nvSpPr>
          <p:cNvPr id="185" name="Google Shape;185;p10"/>
          <p:cNvSpPr/>
          <p:nvPr/>
        </p:nvSpPr>
        <p:spPr>
          <a:xfrm>
            <a:off x="822960" y="45720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Inter"/>
              <a:buNone/>
            </a:pPr>
            <a:r>
              <a:rPr b="1" i="0" lang="en-US" sz="1200" u="none" cap="none" strike="noStrike">
                <a:solidFill>
                  <a:srgbClr val="C0392B"/>
                </a:solidFill>
                <a:latin typeface="Inter"/>
                <a:ea typeface="Inter"/>
                <a:cs typeface="Inter"/>
                <a:sym typeface="Inter"/>
              </a:rPr>
              <a:t>ACT 2 · THROUGHPUT</a:t>
            </a:r>
            <a:endParaRPr b="0" i="0" sz="1200" u="none" cap="none" strike="noStrike">
              <a:solidFill>
                <a:schemeClr val="dk1"/>
              </a:solidFill>
              <a:latin typeface="Calibri"/>
              <a:ea typeface="Calibri"/>
              <a:cs typeface="Calibri"/>
              <a:sym typeface="Calibri"/>
            </a:endParaRPr>
          </a:p>
        </p:txBody>
      </p:sp>
      <p:sp>
        <p:nvSpPr>
          <p:cNvPr id="186" name="Google Shape;186;p10"/>
          <p:cNvSpPr/>
          <p:nvPr/>
        </p:nvSpPr>
        <p:spPr>
          <a:xfrm>
            <a:off x="822960" y="749808"/>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Inter"/>
              <a:buNone/>
            </a:pPr>
            <a:r>
              <a:rPr b="1" i="0" lang="en-US" sz="2600" u="none" cap="none" strike="noStrike">
                <a:solidFill>
                  <a:srgbClr val="1A1A1A"/>
                </a:solidFill>
                <a:latin typeface="Inter"/>
                <a:ea typeface="Inter"/>
                <a:cs typeface="Inter"/>
                <a:sym typeface="Inter"/>
              </a:rPr>
              <a:t>Moving collectors are faster. By a lot.</a:t>
            </a:r>
            <a:endParaRPr b="0" i="0" sz="2600" u="none" cap="none" strike="noStrike">
              <a:solidFill>
                <a:schemeClr val="dk1"/>
              </a:solidFill>
              <a:latin typeface="Calibri"/>
              <a:ea typeface="Calibri"/>
              <a:cs typeface="Calibri"/>
              <a:sym typeface="Calibri"/>
            </a:endParaRPr>
          </a:p>
        </p:txBody>
      </p:sp>
      <p:sp>
        <p:nvSpPr>
          <p:cNvPr id="188" name="Google Shape;188;p10"/>
          <p:cNvSpPr/>
          <p:nvPr/>
        </p:nvSpPr>
        <p:spPr>
          <a:xfrm>
            <a:off x="7955280" y="2057400"/>
            <a:ext cx="3383280" cy="3794760"/>
          </a:xfrm>
          <a:prstGeom prst="roundRect">
            <a:avLst>
              <a:gd fmla="val 2703" name="adj"/>
            </a:avLst>
          </a:prstGeom>
          <a:solidFill>
            <a:srgbClr val="F1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0"/>
          <p:cNvSpPr/>
          <p:nvPr/>
        </p:nvSpPr>
        <p:spPr>
          <a:xfrm>
            <a:off x="7955280" y="2331720"/>
            <a:ext cx="338328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4400"/>
              <a:buFont typeface="Inter"/>
              <a:buNone/>
            </a:pPr>
            <a:r>
              <a:rPr b="1" i="0" lang="en-US" sz="4400" u="none" cap="none" strike="noStrike">
                <a:solidFill>
                  <a:srgbClr val="C0392B"/>
                </a:solidFill>
                <a:latin typeface="Inter"/>
                <a:ea typeface="Inter"/>
                <a:cs typeface="Inter"/>
                <a:sym typeface="Inter"/>
              </a:rPr>
              <a:t>4.0–7.6×</a:t>
            </a:r>
            <a:endParaRPr b="0" i="0" sz="4400" u="none" cap="none" strike="noStrike">
              <a:solidFill>
                <a:schemeClr val="dk1"/>
              </a:solidFill>
              <a:latin typeface="Calibri"/>
              <a:ea typeface="Calibri"/>
              <a:cs typeface="Calibri"/>
              <a:sym typeface="Calibri"/>
            </a:endParaRPr>
          </a:p>
        </p:txBody>
      </p:sp>
      <p:sp>
        <p:nvSpPr>
          <p:cNvPr id="190" name="Google Shape;190;p10"/>
          <p:cNvSpPr/>
          <p:nvPr/>
        </p:nvSpPr>
        <p:spPr>
          <a:xfrm>
            <a:off x="8229600" y="3200400"/>
            <a:ext cx="2834640" cy="548640"/>
          </a:xfrm>
          <a:prstGeom prst="rect">
            <a:avLst/>
          </a:prstGeom>
          <a:noFill/>
          <a:ln>
            <a:noFill/>
          </a:ln>
        </p:spPr>
        <p:txBody>
          <a:bodyPr anchorCtr="0" anchor="ctr" bIns="0" lIns="0" spcFirstLastPara="1" rIns="0" wrap="square" tIns="0">
            <a:noAutofit/>
          </a:bodyPr>
          <a:lstStyle/>
          <a:p>
            <a:pPr indent="0" lvl="0" marL="0" marR="0" rtl="0" algn="ctr">
              <a:lnSpc>
                <a:spcPct val="138461"/>
              </a:lnSpc>
              <a:spcBef>
                <a:spcPts val="0"/>
              </a:spcBef>
              <a:spcAft>
                <a:spcPts val="0"/>
              </a:spcAft>
              <a:buClr>
                <a:srgbClr val="1A1A1A"/>
              </a:buClr>
              <a:buSzPts val="1300"/>
              <a:buFont typeface="Inter"/>
              <a:buNone/>
            </a:pPr>
            <a:r>
              <a:rPr b="0" i="0" lang="en-US" sz="1300" u="none" cap="none" strike="noStrike">
                <a:solidFill>
                  <a:srgbClr val="1A1A1A"/>
                </a:solidFill>
                <a:latin typeface="Inter"/>
                <a:ea typeface="Inter"/>
                <a:cs typeface="Inter"/>
                <a:sym typeface="Inter"/>
              </a:rPr>
              <a:t>on churn &amp; longlived (allocation-bound)</a:t>
            </a:r>
            <a:endParaRPr b="0" i="0" sz="1300" u="none" cap="none" strike="noStrike">
              <a:solidFill>
                <a:schemeClr val="dk1"/>
              </a:solidFill>
              <a:latin typeface="Calibri"/>
              <a:ea typeface="Calibri"/>
              <a:cs typeface="Calibri"/>
              <a:sym typeface="Calibri"/>
            </a:endParaRPr>
          </a:p>
        </p:txBody>
      </p:sp>
      <p:sp>
        <p:nvSpPr>
          <p:cNvPr id="191" name="Google Shape;191;p10"/>
          <p:cNvSpPr/>
          <p:nvPr/>
        </p:nvSpPr>
        <p:spPr>
          <a:xfrm>
            <a:off x="8275320" y="4160520"/>
            <a:ext cx="2788920" cy="1280160"/>
          </a:xfrm>
          <a:prstGeom prst="rect">
            <a:avLst/>
          </a:prstGeom>
          <a:noFill/>
          <a:ln>
            <a:noFill/>
          </a:ln>
        </p:spPr>
        <p:txBody>
          <a:bodyPr anchorCtr="0" anchor="t" bIns="0" lIns="0" spcFirstLastPara="1" rIns="0" wrap="square" tIns="0">
            <a:noAutofit/>
          </a:bodyPr>
          <a:lstStyle/>
          <a:p>
            <a:pPr indent="-177800" lvl="0" marL="177800" marR="0" rtl="0" algn="l">
              <a:lnSpc>
                <a:spcPct val="153846"/>
              </a:lnSpc>
              <a:spcBef>
                <a:spcPts val="0"/>
              </a:spcBef>
              <a:spcAft>
                <a:spcPts val="0"/>
              </a:spcAft>
              <a:buClr>
                <a:srgbClr val="6B7177"/>
              </a:buClr>
              <a:buSzPts val="1300"/>
              <a:buFont typeface="Inter"/>
              <a:buChar char="•"/>
            </a:pPr>
            <a:r>
              <a:rPr b="0" i="0" lang="en-US" sz="1300" u="none" cap="none" strike="noStrike">
                <a:solidFill>
                  <a:srgbClr val="6B7177"/>
                </a:solidFill>
                <a:latin typeface="Inter"/>
                <a:ea typeface="Inter"/>
                <a:cs typeface="Inter"/>
                <a:sym typeface="Inter"/>
              </a:rPr>
              <a:t>density: only 1.2×</a:t>
            </a:r>
            <a:endParaRPr b="0" i="0" sz="1300" u="none" cap="none" strike="noStrike">
              <a:solidFill>
                <a:schemeClr val="dk1"/>
              </a:solidFill>
              <a:latin typeface="Calibri"/>
              <a:ea typeface="Calibri"/>
              <a:cs typeface="Calibri"/>
              <a:sym typeface="Calibri"/>
            </a:endParaRPr>
          </a:p>
          <a:p>
            <a:pPr indent="-177800" lvl="0" marL="177800" marR="0" rtl="0" algn="l">
              <a:lnSpc>
                <a:spcPct val="153846"/>
              </a:lnSpc>
              <a:spcBef>
                <a:spcPts val="700"/>
              </a:spcBef>
              <a:spcAft>
                <a:spcPts val="0"/>
              </a:spcAft>
              <a:buClr>
                <a:srgbClr val="6B7177"/>
              </a:buClr>
              <a:buSzPts val="1300"/>
              <a:buFont typeface="Inter"/>
              <a:buChar char="•"/>
            </a:pPr>
            <a:r>
              <a:rPr b="0" i="0" lang="en-US" sz="1300" u="none" cap="none" strike="noStrike">
                <a:solidFill>
                  <a:srgbClr val="6B7177"/>
                </a:solidFill>
                <a:latin typeface="Inter"/>
                <a:ea typeface="Inter"/>
                <a:cs typeface="Inter"/>
                <a:sym typeface="Inter"/>
              </a:rPr>
              <a:t>there, mutator work dominates, not allocation</a:t>
            </a:r>
            <a:endParaRPr b="0" i="0" sz="1300" u="none" cap="none" strike="noStrike">
              <a:solidFill>
                <a:schemeClr val="dk1"/>
              </a:solidFill>
              <a:latin typeface="Calibri"/>
              <a:ea typeface="Calibri"/>
              <a:cs typeface="Calibri"/>
              <a:sym typeface="Calibri"/>
            </a:endParaRPr>
          </a:p>
        </p:txBody>
      </p:sp>
      <p:pic>
        <p:nvPicPr>
          <p:cNvPr id="192" name="Picture 191" descr="s11_throughput.png"/>
          <p:cNvPicPr>
            <a:picLocks noChangeAspect="1"/>
          </p:cNvPicPr>
          <p:nvPr/>
        </p:nvPicPr>
        <p:blipFill>
          <a:blip r:embed="rId4"/>
          <a:stretch>
            <a:fillRect/>
          </a:stretch>
        </p:blipFill>
        <p:spPr>
          <a:xfrm>
            <a:off x="822960" y="1828800"/>
            <a:ext cx="6766560" cy="42976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8"/>
        </a:solidFill>
      </p:bgPr>
    </p:bg>
    <p:spTree>
      <p:nvGrpSpPr>
        <p:cNvPr id="196" name="Shape 196"/>
        <p:cNvGrpSpPr/>
        <p:nvPr/>
      </p:nvGrpSpPr>
      <p:grpSpPr>
        <a:xfrm>
          <a:off x="0" y="0"/>
          <a:ext cx="0" cy="0"/>
          <a:chOff x="0" y="0"/>
          <a:chExt cx="0" cy="0"/>
        </a:xfrm>
      </p:grpSpPr>
      <p:sp>
        <p:nvSpPr>
          <p:cNvPr id="197" name="Google Shape;197;p11"/>
          <p:cNvSpPr/>
          <p:nvPr/>
        </p:nvSpPr>
        <p:spPr>
          <a:xfrm>
            <a:off x="822960" y="45720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Inter"/>
              <a:buNone/>
            </a:pPr>
            <a:r>
              <a:rPr b="1" i="0" lang="en-US" sz="1200" u="none" cap="none" strike="noStrike">
                <a:solidFill>
                  <a:srgbClr val="C0392B"/>
                </a:solidFill>
                <a:latin typeface="Inter"/>
                <a:ea typeface="Inter"/>
                <a:cs typeface="Inter"/>
                <a:sym typeface="Inter"/>
              </a:rPr>
              <a:t>ACT 2 · COLLECTION IS NOT THE CULPRIT</a:t>
            </a:r>
            <a:endParaRPr b="0" i="0" sz="1200" u="none" cap="none" strike="noStrike">
              <a:solidFill>
                <a:schemeClr val="dk1"/>
              </a:solidFill>
              <a:latin typeface="Calibri"/>
              <a:ea typeface="Calibri"/>
              <a:cs typeface="Calibri"/>
              <a:sym typeface="Calibri"/>
            </a:endParaRPr>
          </a:p>
        </p:txBody>
      </p:sp>
      <p:sp>
        <p:nvSpPr>
          <p:cNvPr id="198" name="Google Shape;198;p11"/>
          <p:cNvSpPr/>
          <p:nvPr/>
        </p:nvSpPr>
        <p:spPr>
          <a:xfrm>
            <a:off x="822960" y="749808"/>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Inter"/>
              <a:buNone/>
            </a:pPr>
            <a:r>
              <a:rPr b="1" i="0" lang="en-US" sz="2600" u="none" cap="none" strike="noStrike">
                <a:solidFill>
                  <a:srgbClr val="1A1A1A"/>
                </a:solidFill>
                <a:latin typeface="Inter"/>
                <a:ea typeface="Inter"/>
                <a:cs typeface="Inter"/>
                <a:sym typeface="Inter"/>
              </a:rPr>
              <a:t>Free-lists are the real bottleneck</a:t>
            </a:r>
            <a:endParaRPr b="0" i="0" sz="2600" u="none" cap="none" strike="noStrike">
              <a:solidFill>
                <a:schemeClr val="dk1"/>
              </a:solidFill>
              <a:latin typeface="Calibri"/>
              <a:ea typeface="Calibri"/>
              <a:cs typeface="Calibri"/>
              <a:sym typeface="Calibri"/>
            </a:endParaRPr>
          </a:p>
        </p:txBody>
      </p:sp>
      <p:sp>
        <p:nvSpPr>
          <p:cNvPr id="200" name="Google Shape;200;p11"/>
          <p:cNvSpPr/>
          <p:nvPr/>
        </p:nvSpPr>
        <p:spPr>
          <a:xfrm>
            <a:off x="7955280" y="2103120"/>
            <a:ext cx="3383280" cy="3657600"/>
          </a:xfrm>
          <a:prstGeom prst="roundRect">
            <a:avLst>
              <a:gd fmla="val 2703" name="adj"/>
            </a:avLst>
          </a:prstGeom>
          <a:solidFill>
            <a:srgbClr val="F1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a:off x="7955280" y="2377440"/>
            <a:ext cx="338328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4400"/>
              <a:buFont typeface="Inter"/>
              <a:buNone/>
            </a:pPr>
            <a:r>
              <a:rPr b="1" i="0" lang="en-US" sz="4400" u="none" cap="none" strike="noStrike">
                <a:solidFill>
                  <a:srgbClr val="C0392B"/>
                </a:solidFill>
                <a:latin typeface="Inter"/>
                <a:ea typeface="Inter"/>
                <a:cs typeface="Inter"/>
                <a:sym typeface="Inter"/>
              </a:rPr>
              <a:t>&lt; 1.1%</a:t>
            </a:r>
            <a:endParaRPr b="0" i="0" sz="4400" u="none" cap="none" strike="noStrike">
              <a:solidFill>
                <a:schemeClr val="dk1"/>
              </a:solidFill>
              <a:latin typeface="Calibri"/>
              <a:ea typeface="Calibri"/>
              <a:cs typeface="Calibri"/>
              <a:sym typeface="Calibri"/>
            </a:endParaRPr>
          </a:p>
        </p:txBody>
      </p:sp>
      <p:sp>
        <p:nvSpPr>
          <p:cNvPr id="202" name="Google Shape;202;p11"/>
          <p:cNvSpPr/>
          <p:nvPr/>
        </p:nvSpPr>
        <p:spPr>
          <a:xfrm>
            <a:off x="8229600" y="3200400"/>
            <a:ext cx="2834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300"/>
              <a:buFont typeface="Inter"/>
              <a:buNone/>
            </a:pPr>
            <a:r>
              <a:rPr b="0" i="0" lang="en-US" sz="1300" u="none" cap="none" strike="noStrike">
                <a:solidFill>
                  <a:srgbClr val="1A1A1A"/>
                </a:solidFill>
                <a:latin typeface="Inter"/>
                <a:ea typeface="Inter"/>
                <a:cs typeface="Inter"/>
                <a:sym typeface="Inter"/>
              </a:rPr>
              <a:t>mark-sweep time in collect()</a:t>
            </a:r>
            <a:endParaRPr b="0" i="0" sz="1300" u="none" cap="none" strike="noStrike">
              <a:solidFill>
                <a:schemeClr val="dk1"/>
              </a:solidFill>
              <a:latin typeface="Calibri"/>
              <a:ea typeface="Calibri"/>
              <a:cs typeface="Calibri"/>
              <a:sym typeface="Calibri"/>
            </a:endParaRPr>
          </a:p>
        </p:txBody>
      </p:sp>
      <p:sp>
        <p:nvSpPr>
          <p:cNvPr id="203" name="Google Shape;203;p11"/>
          <p:cNvSpPr/>
          <p:nvPr/>
        </p:nvSpPr>
        <p:spPr>
          <a:xfrm>
            <a:off x="8275320" y="3794760"/>
            <a:ext cx="2788920" cy="1463040"/>
          </a:xfrm>
          <a:prstGeom prst="rect">
            <a:avLst/>
          </a:prstGeom>
          <a:noFill/>
          <a:ln>
            <a:noFill/>
          </a:ln>
        </p:spPr>
        <p:txBody>
          <a:bodyPr anchorCtr="0" anchor="t" bIns="0" lIns="0" spcFirstLastPara="1" rIns="0" wrap="square" tIns="0">
            <a:noAutofit/>
          </a:bodyPr>
          <a:lstStyle/>
          <a:p>
            <a:pPr indent="-177800" lvl="0" marL="177800" marR="0" rtl="0" algn="l">
              <a:lnSpc>
                <a:spcPct val="148148"/>
              </a:lnSpc>
              <a:spcBef>
                <a:spcPts val="0"/>
              </a:spcBef>
              <a:spcAft>
                <a:spcPts val="0"/>
              </a:spcAft>
              <a:buClr>
                <a:srgbClr val="1A1A1A"/>
              </a:buClr>
              <a:buSzPts val="1350"/>
              <a:buFont typeface="Inter"/>
              <a:buChar char="•"/>
            </a:pPr>
            <a:r>
              <a:rPr b="0" i="0" lang="en-US" sz="1350" u="none" cap="none" strike="noStrike">
                <a:solidFill>
                  <a:srgbClr val="1A1A1A"/>
                </a:solidFill>
                <a:latin typeface="Inter"/>
                <a:ea typeface="Inter"/>
                <a:cs typeface="Inter"/>
                <a:sym typeface="Inter"/>
              </a:rPr>
              <a:t>true even where it is the slowest collector</a:t>
            </a:r>
            <a:endParaRPr b="0" i="0" sz="1350" u="none" cap="none" strike="noStrike">
              <a:solidFill>
                <a:schemeClr val="dk1"/>
              </a:solidFill>
              <a:latin typeface="Calibri"/>
              <a:ea typeface="Calibri"/>
              <a:cs typeface="Calibri"/>
              <a:sym typeface="Calibri"/>
            </a:endParaRPr>
          </a:p>
          <a:p>
            <a:pPr indent="-177800" lvl="0" marL="177800" marR="0" rtl="0" algn="l">
              <a:lnSpc>
                <a:spcPct val="148148"/>
              </a:lnSpc>
              <a:spcBef>
                <a:spcPts val="900"/>
              </a:spcBef>
              <a:spcAft>
                <a:spcPts val="0"/>
              </a:spcAft>
              <a:buClr>
                <a:srgbClr val="1A1A1A"/>
              </a:buClr>
              <a:buSzPts val="1350"/>
              <a:buFont typeface="Inter"/>
              <a:buChar char="•"/>
            </a:pPr>
            <a:r>
              <a:rPr b="0" i="0" lang="en-US" sz="1350" u="none" cap="none" strike="noStrike">
                <a:solidFill>
                  <a:srgbClr val="1A1A1A"/>
                </a:solidFill>
                <a:latin typeface="Inter"/>
                <a:ea typeface="Inter"/>
                <a:cs typeface="Inter"/>
                <a:sym typeface="Inter"/>
              </a:rPr>
              <a:t>the slowness is not the sweep</a:t>
            </a:r>
            <a:endParaRPr b="0" i="0" sz="1350" u="none" cap="none" strike="noStrike">
              <a:solidFill>
                <a:schemeClr val="dk1"/>
              </a:solidFill>
              <a:latin typeface="Calibri"/>
              <a:ea typeface="Calibri"/>
              <a:cs typeface="Calibri"/>
              <a:sym typeface="Calibri"/>
            </a:endParaRPr>
          </a:p>
        </p:txBody>
      </p:sp>
      <p:pic>
        <p:nvPicPr>
          <p:cNvPr id="204" name="Picture 203" descr="s12_overhead.png"/>
          <p:cNvPicPr>
            <a:picLocks noChangeAspect="1"/>
          </p:cNvPicPr>
          <p:nvPr/>
        </p:nvPicPr>
        <p:blipFill>
          <a:blip r:embed="rId4"/>
          <a:stretch>
            <a:fillRect/>
          </a:stretch>
        </p:blipFill>
        <p:spPr>
          <a:xfrm>
            <a:off x="822960" y="1920240"/>
            <a:ext cx="6766560" cy="4114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8"/>
        </a:solidFill>
      </p:bgPr>
    </p:bg>
    <p:spTree>
      <p:nvGrpSpPr>
        <p:cNvPr id="208" name="Shape 208"/>
        <p:cNvGrpSpPr/>
        <p:nvPr/>
      </p:nvGrpSpPr>
      <p:grpSpPr>
        <a:xfrm>
          <a:off x="0" y="0"/>
          <a:ext cx="0" cy="0"/>
          <a:chOff x="0" y="0"/>
          <a:chExt cx="0" cy="0"/>
        </a:xfrm>
      </p:grpSpPr>
      <p:sp>
        <p:nvSpPr>
          <p:cNvPr id="209" name="Google Shape;209;p12"/>
          <p:cNvSpPr/>
          <p:nvPr/>
        </p:nvSpPr>
        <p:spPr>
          <a:xfrm>
            <a:off x="822960" y="45720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Inter"/>
              <a:buNone/>
            </a:pPr>
            <a:r>
              <a:rPr b="1" i="0" lang="en-US" sz="1200" u="none" cap="none" strike="noStrike">
                <a:solidFill>
                  <a:srgbClr val="C0392B"/>
                </a:solidFill>
                <a:latin typeface="Inter"/>
                <a:ea typeface="Inter"/>
                <a:cs typeface="Inter"/>
                <a:sym typeface="Inter"/>
              </a:rPr>
              <a:t>ACT 2 · THE BUDGET SWEEP</a:t>
            </a:r>
            <a:endParaRPr b="0" i="0" sz="1200" u="none" cap="none" strike="noStrike">
              <a:solidFill>
                <a:schemeClr val="dk1"/>
              </a:solidFill>
              <a:latin typeface="Calibri"/>
              <a:ea typeface="Calibri"/>
              <a:cs typeface="Calibri"/>
              <a:sym typeface="Calibri"/>
            </a:endParaRPr>
          </a:p>
        </p:txBody>
      </p:sp>
      <p:sp>
        <p:nvSpPr>
          <p:cNvPr id="210" name="Google Shape;210;p12"/>
          <p:cNvSpPr/>
          <p:nvPr/>
        </p:nvSpPr>
        <p:spPr>
          <a:xfrm>
            <a:off x="822960" y="749808"/>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Inter"/>
              <a:buNone/>
            </a:pPr>
            <a:r>
              <a:rPr b="1" i="0" lang="en-US" sz="2600" u="none" cap="none" strike="noStrike">
                <a:solidFill>
                  <a:srgbClr val="1A1A1A"/>
                </a:solidFill>
                <a:latin typeface="Inter"/>
                <a:ea typeface="Inter"/>
                <a:cs typeface="Inter"/>
                <a:sym typeface="Inter"/>
              </a:rPr>
              <a:t>Vary the heap budget, hold everything else</a:t>
            </a:r>
            <a:endParaRPr b="0" i="0" sz="2600" u="none" cap="none" strike="noStrike">
              <a:solidFill>
                <a:schemeClr val="dk1"/>
              </a:solidFill>
              <a:latin typeface="Calibri"/>
              <a:ea typeface="Calibri"/>
              <a:cs typeface="Calibri"/>
              <a:sym typeface="Calibri"/>
            </a:endParaRPr>
          </a:p>
        </p:txBody>
      </p:sp>
      <p:sp>
        <p:nvSpPr>
          <p:cNvPr id="212" name="Google Shape;212;p12"/>
          <p:cNvSpPr/>
          <p:nvPr/>
        </p:nvSpPr>
        <p:spPr>
          <a:xfrm>
            <a:off x="8092440" y="2194560"/>
            <a:ext cx="3246120" cy="3657600"/>
          </a:xfrm>
          <a:prstGeom prst="roundRect">
            <a:avLst>
              <a:gd fmla="val 2817" name="adj"/>
            </a:avLst>
          </a:prstGeom>
          <a:solidFill>
            <a:srgbClr val="F1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2"/>
          <p:cNvSpPr/>
          <p:nvPr/>
        </p:nvSpPr>
        <p:spPr>
          <a:xfrm>
            <a:off x="8321040" y="242316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300"/>
              <a:buFont typeface="Inter"/>
              <a:buNone/>
            </a:pPr>
            <a:r>
              <a:rPr b="1" i="0" lang="en-US" sz="1300" u="none" cap="none" strike="noStrike">
                <a:solidFill>
                  <a:srgbClr val="0B5394"/>
                </a:solidFill>
                <a:latin typeface="Inter"/>
                <a:ea typeface="Inter"/>
                <a:cs typeface="Inter"/>
                <a:sym typeface="Inter"/>
              </a:rPr>
              <a:t>the method</a:t>
            </a:r>
            <a:endParaRPr b="0" i="0" sz="1300" u="none" cap="none" strike="noStrike">
              <a:solidFill>
                <a:schemeClr val="dk1"/>
              </a:solidFill>
              <a:latin typeface="Calibri"/>
              <a:ea typeface="Calibri"/>
              <a:cs typeface="Calibri"/>
              <a:sym typeface="Calibri"/>
            </a:endParaRPr>
          </a:p>
        </p:txBody>
      </p:sp>
      <p:sp>
        <p:nvSpPr>
          <p:cNvPr id="214" name="Google Shape;214;p12"/>
          <p:cNvSpPr/>
          <p:nvPr/>
        </p:nvSpPr>
        <p:spPr>
          <a:xfrm>
            <a:off x="8321040" y="2834640"/>
            <a:ext cx="2834640" cy="1828800"/>
          </a:xfrm>
          <a:prstGeom prst="rect">
            <a:avLst/>
          </a:prstGeom>
          <a:noFill/>
          <a:ln>
            <a:noFill/>
          </a:ln>
        </p:spPr>
        <p:txBody>
          <a:bodyPr anchorCtr="0" anchor="t" bIns="0" lIns="0" spcFirstLastPara="1" rIns="0" wrap="square" tIns="0">
            <a:noAutofit/>
          </a:bodyPr>
          <a:lstStyle/>
          <a:p>
            <a:pPr indent="-177800" lvl="0" marL="177800" marR="0" rtl="0" algn="l">
              <a:lnSpc>
                <a:spcPct val="142857"/>
              </a:lnSpc>
              <a:spcBef>
                <a:spcPts val="0"/>
              </a:spcBef>
              <a:spcAft>
                <a:spcPts val="0"/>
              </a:spcAft>
              <a:buClr>
                <a:srgbClr val="1A1A1A"/>
              </a:buClr>
              <a:buSzPts val="1400"/>
              <a:buFont typeface="Inter"/>
              <a:buChar char="•"/>
            </a:pPr>
            <a:r>
              <a:rPr b="0" i="0" lang="en-US" sz="1400" u="none" cap="none" strike="noStrike">
                <a:solidFill>
                  <a:srgbClr val="1A1A1A"/>
                </a:solidFill>
                <a:latin typeface="Inter"/>
                <a:ea typeface="Inter"/>
                <a:cs typeface="Inter"/>
                <a:sym typeface="Inter"/>
              </a:rPr>
              <a:t>budget = only variable</a:t>
            </a:r>
            <a:endParaRPr b="0" i="0" sz="1400" u="none" cap="none" strike="noStrike">
              <a:solidFill>
                <a:schemeClr val="dk1"/>
              </a:solidFill>
              <a:latin typeface="Calibri"/>
              <a:ea typeface="Calibri"/>
              <a:cs typeface="Calibri"/>
              <a:sym typeface="Calibri"/>
            </a:endParaRPr>
          </a:p>
          <a:p>
            <a:pPr indent="-177800" lvl="0" marL="177800" marR="0" rtl="0" algn="l">
              <a:lnSpc>
                <a:spcPct val="142857"/>
              </a:lnSpc>
              <a:spcBef>
                <a:spcPts val="1000"/>
              </a:spcBef>
              <a:spcAft>
                <a:spcPts val="0"/>
              </a:spcAft>
              <a:buClr>
                <a:srgbClr val="1A1A1A"/>
              </a:buClr>
              <a:buSzPts val="1400"/>
              <a:buFont typeface="Inter"/>
              <a:buChar char="•"/>
            </a:pPr>
            <a:r>
              <a:rPr b="0" i="0" lang="en-US" sz="1400" u="none" cap="none" strike="noStrike">
                <a:solidFill>
                  <a:srgbClr val="1A1A1A"/>
                </a:solidFill>
                <a:latin typeface="Inter"/>
                <a:ea typeface="Inter"/>
                <a:cs typeface="Inter"/>
                <a:sym typeface="Inter"/>
              </a:rPr>
              <a:t>read run time vs heap size</a:t>
            </a:r>
            <a:endParaRPr b="0" i="0" sz="1400" u="none" cap="none" strike="noStrike">
              <a:solidFill>
                <a:schemeClr val="dk1"/>
              </a:solidFill>
              <a:latin typeface="Calibri"/>
              <a:ea typeface="Calibri"/>
              <a:cs typeface="Calibri"/>
              <a:sym typeface="Calibri"/>
            </a:endParaRPr>
          </a:p>
          <a:p>
            <a:pPr indent="-177800" lvl="0" marL="177800" marR="0" rtl="0" algn="l">
              <a:lnSpc>
                <a:spcPct val="142857"/>
              </a:lnSpc>
              <a:spcBef>
                <a:spcPts val="1000"/>
              </a:spcBef>
              <a:spcAft>
                <a:spcPts val="0"/>
              </a:spcAft>
              <a:buClr>
                <a:srgbClr val="1A1A1A"/>
              </a:buClr>
              <a:buSzPts val="1400"/>
              <a:buFont typeface="Inter"/>
              <a:buChar char="•"/>
            </a:pPr>
            <a:r>
              <a:rPr b="0" i="0" lang="en-US" sz="1400" u="none" cap="none" strike="noStrike">
                <a:solidFill>
                  <a:srgbClr val="1A1A1A"/>
                </a:solidFill>
                <a:latin typeface="Inter"/>
                <a:ea typeface="Inter"/>
                <a:cs typeface="Inter"/>
                <a:sym typeface="Inter"/>
              </a:rPr>
              <a:t>single-budget bars </a:t>
            </a:r>
            <a:r>
              <a:rPr lang="en-US">
                <a:solidFill>
                  <a:srgbClr val="1A1A1A"/>
                </a:solidFill>
                <a:latin typeface="Inter"/>
                <a:ea typeface="Inter"/>
                <a:cs typeface="Inter"/>
                <a:sym typeface="Inter"/>
              </a:rPr>
              <a:t>-&gt;</a:t>
            </a:r>
            <a:r>
              <a:rPr b="0" i="0" lang="en-US" sz="1400" u="none" cap="none" strike="noStrike">
                <a:solidFill>
                  <a:srgbClr val="1A1A1A"/>
                </a:solidFill>
                <a:latin typeface="Inter"/>
                <a:ea typeface="Inter"/>
                <a:cs typeface="Inter"/>
                <a:sym typeface="Inter"/>
              </a:rPr>
              <a:t> a curve</a:t>
            </a:r>
            <a:endParaRPr b="0" i="0" sz="1400" u="none" cap="none" strike="noStrike">
              <a:solidFill>
                <a:schemeClr val="dk1"/>
              </a:solidFill>
              <a:latin typeface="Calibri"/>
              <a:ea typeface="Calibri"/>
              <a:cs typeface="Calibri"/>
              <a:sym typeface="Calibri"/>
            </a:endParaRPr>
          </a:p>
        </p:txBody>
      </p:sp>
      <p:pic>
        <p:nvPicPr>
          <p:cNvPr id="215" name="Picture 214" descr="s13_sweep_churn.png"/>
          <p:cNvPicPr>
            <a:picLocks noChangeAspect="1"/>
          </p:cNvPicPr>
          <p:nvPr/>
        </p:nvPicPr>
        <p:blipFill>
          <a:blip r:embed="rId5"/>
          <a:stretch>
            <a:fillRect/>
          </a:stretch>
        </p:blipFill>
        <p:spPr>
          <a:xfrm>
            <a:off x="822960" y="1874520"/>
            <a:ext cx="6949440" cy="42062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8"/>
        </a:solidFill>
      </p:bgPr>
    </p:bg>
    <p:spTree>
      <p:nvGrpSpPr>
        <p:cNvPr id="219" name="Shape 219"/>
        <p:cNvGrpSpPr/>
        <p:nvPr/>
      </p:nvGrpSpPr>
      <p:grpSpPr>
        <a:xfrm>
          <a:off x="0" y="0"/>
          <a:ext cx="0" cy="0"/>
          <a:chOff x="0" y="0"/>
          <a:chExt cx="0" cy="0"/>
        </a:xfrm>
      </p:grpSpPr>
      <p:sp>
        <p:nvSpPr>
          <p:cNvPr id="220" name="Google Shape;220;p13"/>
          <p:cNvSpPr/>
          <p:nvPr/>
        </p:nvSpPr>
        <p:spPr>
          <a:xfrm>
            <a:off x="822960" y="45720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Inter"/>
              <a:buNone/>
            </a:pPr>
            <a:r>
              <a:rPr b="1" i="0" lang="en-US" sz="1200" u="none" cap="none" strike="noStrike">
                <a:solidFill>
                  <a:srgbClr val="C0392B"/>
                </a:solidFill>
                <a:latin typeface="Inter"/>
                <a:ea typeface="Inter"/>
                <a:cs typeface="Inter"/>
                <a:sym typeface="Inter"/>
              </a:rPr>
              <a:t>ACT 2 · THE BUDGET SWEEP</a:t>
            </a:r>
            <a:endParaRPr b="0" i="0" sz="1200" u="none" cap="none" strike="noStrike">
              <a:solidFill>
                <a:schemeClr val="dk1"/>
              </a:solidFill>
              <a:latin typeface="Calibri"/>
              <a:ea typeface="Calibri"/>
              <a:cs typeface="Calibri"/>
              <a:sym typeface="Calibri"/>
            </a:endParaRPr>
          </a:p>
        </p:txBody>
      </p:sp>
      <p:sp>
        <p:nvSpPr>
          <p:cNvPr id="221" name="Google Shape;221;p13"/>
          <p:cNvSpPr/>
          <p:nvPr/>
        </p:nvSpPr>
        <p:spPr>
          <a:xfrm>
            <a:off x="822960" y="749808"/>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Inter"/>
              <a:buNone/>
            </a:pPr>
            <a:r>
              <a:rPr b="1" i="0" lang="en-US" sz="2600" u="none" cap="none" strike="noStrike">
                <a:solidFill>
                  <a:srgbClr val="1A1A1A"/>
                </a:solidFill>
                <a:latin typeface="Inter"/>
                <a:ea typeface="Inter"/>
                <a:cs typeface="Inter"/>
                <a:sym typeface="Inter"/>
              </a:rPr>
              <a:t>Only mark-sweep slows down as the heap grows</a:t>
            </a:r>
            <a:endParaRPr b="0" i="0" sz="2600" u="none" cap="none" strike="noStrike">
              <a:solidFill>
                <a:schemeClr val="dk1"/>
              </a:solidFill>
              <a:latin typeface="Calibri"/>
              <a:ea typeface="Calibri"/>
              <a:cs typeface="Calibri"/>
              <a:sym typeface="Calibri"/>
            </a:endParaRPr>
          </a:p>
        </p:txBody>
      </p:sp>
      <p:sp>
        <p:nvSpPr>
          <p:cNvPr id="223" name="Google Shape;223;p13"/>
          <p:cNvSpPr/>
          <p:nvPr/>
        </p:nvSpPr>
        <p:spPr>
          <a:xfrm>
            <a:off x="8092440" y="2194560"/>
            <a:ext cx="3246120" cy="3657600"/>
          </a:xfrm>
          <a:prstGeom prst="roundRect">
            <a:avLst>
              <a:gd fmla="val 2817" name="adj"/>
            </a:avLst>
          </a:prstGeom>
          <a:solidFill>
            <a:srgbClr val="F1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3"/>
          <p:cNvSpPr/>
          <p:nvPr/>
        </p:nvSpPr>
        <p:spPr>
          <a:xfrm>
            <a:off x="8321040" y="242316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400"/>
              <a:buFont typeface="Inter"/>
              <a:buNone/>
            </a:pPr>
            <a:r>
              <a:rPr b="1" lang="en-US">
                <a:solidFill>
                  <a:srgbClr val="0B5394"/>
                </a:solidFill>
                <a:latin typeface="Inter"/>
                <a:ea typeface="Inter"/>
                <a:cs typeface="Inter"/>
                <a:sym typeface="Inter"/>
              </a:rPr>
              <a:t>The real problem</a:t>
            </a:r>
            <a:endParaRPr b="0" i="0" sz="1400" u="none" cap="none" strike="noStrike">
              <a:solidFill>
                <a:schemeClr val="dk1"/>
              </a:solidFill>
              <a:latin typeface="Calibri"/>
              <a:ea typeface="Calibri"/>
              <a:cs typeface="Calibri"/>
              <a:sym typeface="Calibri"/>
            </a:endParaRPr>
          </a:p>
        </p:txBody>
      </p:sp>
      <p:sp>
        <p:nvSpPr>
          <p:cNvPr id="225" name="Google Shape;225;p13"/>
          <p:cNvSpPr/>
          <p:nvPr/>
        </p:nvSpPr>
        <p:spPr>
          <a:xfrm>
            <a:off x="8321040" y="2834640"/>
            <a:ext cx="2834640" cy="1828800"/>
          </a:xfrm>
          <a:prstGeom prst="rect">
            <a:avLst/>
          </a:prstGeom>
          <a:noFill/>
          <a:ln>
            <a:noFill/>
          </a:ln>
        </p:spPr>
        <p:txBody>
          <a:bodyPr anchorCtr="0" anchor="t" bIns="0" lIns="0" spcFirstLastPara="1" rIns="0" wrap="square" tIns="0">
            <a:noAutofit/>
          </a:bodyPr>
          <a:lstStyle/>
          <a:p>
            <a:pPr indent="-177800" lvl="0" marL="177800" marR="0" rtl="0" algn="l">
              <a:lnSpc>
                <a:spcPct val="148148"/>
              </a:lnSpc>
              <a:spcBef>
                <a:spcPts val="0"/>
              </a:spcBef>
              <a:spcAft>
                <a:spcPts val="0"/>
              </a:spcAft>
              <a:buClr>
                <a:srgbClr val="1A1A1A"/>
              </a:buClr>
              <a:buSzPts val="1350"/>
              <a:buFont typeface="Inter"/>
              <a:buChar char="•"/>
            </a:pPr>
            <a:r>
              <a:rPr b="0" i="0" lang="en-US" sz="1350" u="none" cap="none" strike="noStrike">
                <a:solidFill>
                  <a:srgbClr val="1A1A1A"/>
                </a:solidFill>
                <a:latin typeface="Inter"/>
                <a:ea typeface="Inter"/>
                <a:cs typeface="Inter"/>
                <a:sym typeface="Inter"/>
              </a:rPr>
              <a:t>mark-sweep climbs 18→122 ms</a:t>
            </a:r>
            <a:endParaRPr b="0" i="0" sz="1350" u="none" cap="none" strike="noStrike">
              <a:solidFill>
                <a:schemeClr val="dk1"/>
              </a:solidFill>
              <a:latin typeface="Calibri"/>
              <a:ea typeface="Calibri"/>
              <a:cs typeface="Calibri"/>
              <a:sym typeface="Calibri"/>
            </a:endParaRPr>
          </a:p>
          <a:p>
            <a:pPr indent="-177800" lvl="0" marL="177800" marR="0" rtl="0" algn="l">
              <a:lnSpc>
                <a:spcPct val="148148"/>
              </a:lnSpc>
              <a:spcBef>
                <a:spcPts val="900"/>
              </a:spcBef>
              <a:spcAft>
                <a:spcPts val="0"/>
              </a:spcAft>
              <a:buClr>
                <a:srgbClr val="1A1A1A"/>
              </a:buClr>
              <a:buSzPts val="1350"/>
              <a:buFont typeface="Inter"/>
              <a:buChar char="•"/>
            </a:pPr>
            <a:r>
              <a:rPr b="0" i="0" lang="en-US" sz="1350" u="none" cap="none" strike="noStrike">
                <a:solidFill>
                  <a:srgbClr val="1A1A1A"/>
                </a:solidFill>
                <a:latin typeface="Inter"/>
                <a:ea typeface="Inter"/>
                <a:cs typeface="Inter"/>
                <a:sym typeface="Inter"/>
              </a:rPr>
              <a:t>moving + generational stay flat</a:t>
            </a:r>
            <a:endParaRPr b="0" i="0" sz="1350" u="none" cap="none" strike="noStrike">
              <a:solidFill>
                <a:schemeClr val="dk1"/>
              </a:solidFill>
              <a:latin typeface="Calibri"/>
              <a:ea typeface="Calibri"/>
              <a:cs typeface="Calibri"/>
              <a:sym typeface="Calibri"/>
            </a:endParaRPr>
          </a:p>
          <a:p>
            <a:pPr indent="-177800" lvl="0" marL="177800" marR="0" rtl="0" algn="l">
              <a:lnSpc>
                <a:spcPct val="148148"/>
              </a:lnSpc>
              <a:spcBef>
                <a:spcPts val="900"/>
              </a:spcBef>
              <a:spcAft>
                <a:spcPts val="0"/>
              </a:spcAft>
              <a:buClr>
                <a:srgbClr val="1A1A1A"/>
              </a:buClr>
              <a:buSzPts val="1350"/>
              <a:buFont typeface="Inter"/>
              <a:buChar char="•"/>
            </a:pPr>
            <a:r>
              <a:rPr b="0" i="0" lang="en-US" sz="1350" u="none" cap="none" strike="noStrike">
                <a:solidFill>
                  <a:srgbClr val="1A1A1A"/>
                </a:solidFill>
                <a:latin typeface="Inter"/>
                <a:ea typeface="Inter"/>
                <a:cs typeface="Inter"/>
                <a:sym typeface="Inter"/>
              </a:rPr>
              <a:t>yet its overhead falls below 1%</a:t>
            </a:r>
            <a:endParaRPr b="0" i="0" sz="1350" u="none" cap="none" strike="noStrike">
              <a:solidFill>
                <a:schemeClr val="dk1"/>
              </a:solidFill>
              <a:latin typeface="Calibri"/>
              <a:ea typeface="Calibri"/>
              <a:cs typeface="Calibri"/>
              <a:sym typeface="Calibri"/>
            </a:endParaRPr>
          </a:p>
        </p:txBody>
      </p:sp>
      <p:sp>
        <p:nvSpPr>
          <p:cNvPr id="226" name="Google Shape;226;p13"/>
          <p:cNvSpPr/>
          <p:nvPr/>
        </p:nvSpPr>
        <p:spPr>
          <a:xfrm>
            <a:off x="8321040" y="4800600"/>
            <a:ext cx="2834640" cy="1005840"/>
          </a:xfrm>
          <a:prstGeom prst="rect">
            <a:avLst/>
          </a:prstGeom>
          <a:noFill/>
          <a:ln>
            <a:noFill/>
          </a:ln>
        </p:spPr>
        <p:txBody>
          <a:bodyPr anchorCtr="0" anchor="t" bIns="0" lIns="0" spcFirstLastPara="1" rIns="0" wrap="square" tIns="0">
            <a:noAutofit/>
          </a:bodyPr>
          <a:lstStyle/>
          <a:p>
            <a:pPr indent="-177800" lvl="0" marL="177800" marR="0" rtl="0" algn="l">
              <a:lnSpc>
                <a:spcPct val="160000"/>
              </a:lnSpc>
              <a:spcBef>
                <a:spcPts val="0"/>
              </a:spcBef>
              <a:spcAft>
                <a:spcPts val="0"/>
              </a:spcAft>
              <a:buClr>
                <a:srgbClr val="6B7177"/>
              </a:buClr>
              <a:buSzPts val="1250"/>
              <a:buFont typeface="Inter"/>
              <a:buChar char="•"/>
            </a:pPr>
            <a:r>
              <a:rPr b="0" i="0" lang="en-US" sz="1250" u="none" cap="none" strike="noStrike">
                <a:solidFill>
                  <a:srgbClr val="6B7177"/>
                </a:solidFill>
                <a:latin typeface="Inter"/>
                <a:ea typeface="Inter"/>
                <a:cs typeface="Inter"/>
                <a:sym typeface="Inter"/>
              </a:rPr>
              <a:t>cost is in the allocation path</a:t>
            </a:r>
            <a:endParaRPr b="0" i="0" sz="1250" u="none" cap="none" strike="noStrike">
              <a:solidFill>
                <a:schemeClr val="dk1"/>
              </a:solidFill>
              <a:latin typeface="Calibri"/>
              <a:ea typeface="Calibri"/>
              <a:cs typeface="Calibri"/>
              <a:sym typeface="Calibri"/>
            </a:endParaRPr>
          </a:p>
          <a:p>
            <a:pPr indent="-177800" lvl="0" marL="177800" marR="0" rtl="0" algn="l">
              <a:lnSpc>
                <a:spcPct val="160000"/>
              </a:lnSpc>
              <a:spcBef>
                <a:spcPts val="600"/>
              </a:spcBef>
              <a:spcAft>
                <a:spcPts val="0"/>
              </a:spcAft>
              <a:buClr>
                <a:srgbClr val="6B7177"/>
              </a:buClr>
              <a:buSzPts val="1250"/>
              <a:buFont typeface="Inter"/>
              <a:buChar char="•"/>
            </a:pPr>
            <a:r>
              <a:rPr b="0" i="0" lang="en-US" sz="1250" u="none" cap="none" strike="noStrike">
                <a:solidFill>
                  <a:srgbClr val="6B7177"/>
                </a:solidFill>
                <a:latin typeface="Inter"/>
                <a:ea typeface="Inter"/>
                <a:cs typeface="Inter"/>
                <a:sym typeface="Inter"/>
              </a:rPr>
              <a:t>worsens as free space scatters</a:t>
            </a:r>
            <a:endParaRPr b="0" i="0" sz="1250" u="none" cap="none" strike="noStrike">
              <a:solidFill>
                <a:schemeClr val="dk1"/>
              </a:solidFill>
              <a:latin typeface="Calibri"/>
              <a:ea typeface="Calibri"/>
              <a:cs typeface="Calibri"/>
              <a:sym typeface="Calibri"/>
            </a:endParaRPr>
          </a:p>
        </p:txBody>
      </p:sp>
      <p:pic>
        <p:nvPicPr>
          <p:cNvPr id="227" name="Picture 226" descr="s13_sweep_churn.png"/>
          <p:cNvPicPr>
            <a:picLocks noChangeAspect="1"/>
          </p:cNvPicPr>
          <p:nvPr/>
        </p:nvPicPr>
        <p:blipFill>
          <a:blip r:embed="rId4"/>
          <a:stretch>
            <a:fillRect/>
          </a:stretch>
        </p:blipFill>
        <p:spPr>
          <a:xfrm>
            <a:off x="822960" y="1874520"/>
            <a:ext cx="6949440" cy="42062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8"/>
        </a:solidFill>
      </p:bgPr>
    </p:bg>
    <p:spTree>
      <p:nvGrpSpPr>
        <p:cNvPr id="231" name="Shape 231"/>
        <p:cNvGrpSpPr/>
        <p:nvPr/>
      </p:nvGrpSpPr>
      <p:grpSpPr>
        <a:xfrm>
          <a:off x="0" y="0"/>
          <a:ext cx="0" cy="0"/>
          <a:chOff x="0" y="0"/>
          <a:chExt cx="0" cy="0"/>
        </a:xfrm>
      </p:grpSpPr>
      <p:sp>
        <p:nvSpPr>
          <p:cNvPr id="232" name="Google Shape;232;p14"/>
          <p:cNvSpPr/>
          <p:nvPr/>
        </p:nvSpPr>
        <p:spPr>
          <a:xfrm>
            <a:off x="822960" y="45720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Inter"/>
              <a:buNone/>
            </a:pPr>
            <a:r>
              <a:rPr b="1" i="0" lang="en-US" sz="1200" u="none" cap="none" strike="noStrike">
                <a:solidFill>
                  <a:srgbClr val="C0392B"/>
                </a:solidFill>
                <a:latin typeface="Inter"/>
                <a:ea typeface="Inter"/>
                <a:cs typeface="Inter"/>
                <a:sym typeface="Inter"/>
              </a:rPr>
              <a:t>ACT 2 · THE NO-GC CONTROL</a:t>
            </a:r>
            <a:endParaRPr b="0" i="0" sz="1200" u="none" cap="none" strike="noStrike">
              <a:solidFill>
                <a:schemeClr val="dk1"/>
              </a:solidFill>
              <a:latin typeface="Calibri"/>
              <a:ea typeface="Calibri"/>
              <a:cs typeface="Calibri"/>
              <a:sym typeface="Calibri"/>
            </a:endParaRPr>
          </a:p>
        </p:txBody>
      </p:sp>
      <p:sp>
        <p:nvSpPr>
          <p:cNvPr id="233" name="Google Shape;233;p14"/>
          <p:cNvSpPr/>
          <p:nvPr/>
        </p:nvSpPr>
        <p:spPr>
          <a:xfrm>
            <a:off x="822960" y="749808"/>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Inter"/>
              <a:buNone/>
            </a:pPr>
            <a:r>
              <a:rPr b="1" i="0" lang="en-US" sz="2600" u="none" cap="none" strike="noStrike">
                <a:solidFill>
                  <a:srgbClr val="1A1A1A"/>
                </a:solidFill>
                <a:latin typeface="Inter"/>
                <a:ea typeface="Inter"/>
                <a:cs typeface="Inter"/>
                <a:sym typeface="Inter"/>
              </a:rPr>
              <a:t>Allocation is the real penalty</a:t>
            </a:r>
            <a:endParaRPr b="0" i="0" sz="2600" u="none" cap="none" strike="noStrike">
              <a:solidFill>
                <a:schemeClr val="dk1"/>
              </a:solidFill>
              <a:latin typeface="Calibri"/>
              <a:ea typeface="Calibri"/>
              <a:cs typeface="Calibri"/>
              <a:sym typeface="Calibri"/>
            </a:endParaRPr>
          </a:p>
        </p:txBody>
      </p:sp>
      <p:graphicFrame>
        <p:nvGraphicFramePr>
          <p:cNvPr id="234" name="Google Shape;234;p14"/>
          <p:cNvGraphicFramePr/>
          <p:nvPr/>
        </p:nvGraphicFramePr>
        <p:xfrm>
          <a:off x="822960" y="2240280"/>
          <a:ext cx="3000000" cy="3000000"/>
        </p:xfrm>
        <a:graphic>
          <a:graphicData uri="http://schemas.openxmlformats.org/drawingml/2006/table">
            <a:tbl>
              <a:tblPr>
                <a:noFill/>
                <a:tableStyleId>{F743F501-BC8A-405B-A45D-8B6184ADABE4}</a:tableStyleId>
              </a:tblPr>
              <a:tblGrid>
                <a:gridCol w="1645920"/>
                <a:gridCol w="1074414"/>
                <a:gridCol w="1074414"/>
                <a:gridCol w="1074414"/>
                <a:gridCol w="1074413"/>
              </a:tblGrid>
              <a:tr h="502925">
                <a:tc>
                  <a:txBody>
                    <a:bodyPr/>
                    <a:lstStyle/>
                    <a:p>
                      <a:pPr indent="0" lvl="0" marL="0" marR="0" rtl="0" algn="l">
                        <a:spcBef>
                          <a:spcPts val="0"/>
                        </a:spcBef>
                        <a:spcAft>
                          <a:spcPts val="0"/>
                        </a:spcAft>
                        <a:buClr>
                          <a:schemeClr val="dk1"/>
                        </a:buClr>
                        <a:buSzPts val="1300"/>
                        <a:buFont typeface="Calibri"/>
                        <a:buNone/>
                      </a:pPr>
                      <a:r>
                        <a:t/>
                      </a:r>
                      <a:endParaRPr sz="1300" u="none" cap="none" strike="noStrike">
                        <a:latin typeface="JetBrains Mono"/>
                        <a:ea typeface="JetBrains Mono"/>
                        <a:cs typeface="JetBrains Mono"/>
                        <a:sym typeface="JetBrains Mono"/>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AFAF8"/>
                    </a:solidFill>
                  </a:tcPr>
                </a:tc>
                <a:tc>
                  <a:txBody>
                    <a:bodyPr/>
                    <a:lstStyle/>
                    <a:p>
                      <a:pPr indent="0" lvl="0" marL="0" marR="0" rtl="0" algn="ctr">
                        <a:spcBef>
                          <a:spcPts val="0"/>
                        </a:spcBef>
                        <a:spcAft>
                          <a:spcPts val="0"/>
                        </a:spcAft>
                        <a:buClr>
                          <a:srgbClr val="9AA0A6"/>
                        </a:buClr>
                        <a:buSzPts val="1300"/>
                        <a:buFont typeface="Inter"/>
                        <a:buNone/>
                      </a:pPr>
                      <a:r>
                        <a:rPr b="1" lang="en-US" sz="1300" u="none" cap="none" strike="noStrike">
                          <a:solidFill>
                            <a:srgbClr val="9AA0A6"/>
                          </a:solidFill>
                          <a:latin typeface="Inter"/>
                          <a:ea typeface="Inter"/>
                          <a:cs typeface="Inter"/>
                          <a:sym typeface="Inter"/>
                        </a:rPr>
                        <a:t>churn</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AFAF8"/>
                    </a:solidFill>
                  </a:tcPr>
                </a:tc>
                <a:tc>
                  <a:txBody>
                    <a:bodyPr/>
                    <a:lstStyle/>
                    <a:p>
                      <a:pPr indent="0" lvl="0" marL="0" marR="0" rtl="0" algn="ctr">
                        <a:spcBef>
                          <a:spcPts val="0"/>
                        </a:spcBef>
                        <a:spcAft>
                          <a:spcPts val="0"/>
                        </a:spcAft>
                        <a:buClr>
                          <a:srgbClr val="9AA0A6"/>
                        </a:buClr>
                        <a:buSzPts val="1300"/>
                        <a:buFont typeface="Inter"/>
                        <a:buNone/>
                      </a:pPr>
                      <a:r>
                        <a:rPr b="1" lang="en-US" sz="1300" u="none" cap="none" strike="noStrike">
                          <a:solidFill>
                            <a:srgbClr val="9AA0A6"/>
                          </a:solidFill>
                          <a:latin typeface="Inter"/>
                          <a:ea typeface="Inter"/>
                          <a:cs typeface="Inter"/>
                          <a:sym typeface="Inter"/>
                        </a:rPr>
                        <a:t>density</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AFAF8"/>
                    </a:solidFill>
                  </a:tcPr>
                </a:tc>
                <a:tc>
                  <a:txBody>
                    <a:bodyPr/>
                    <a:lstStyle/>
                    <a:p>
                      <a:pPr indent="0" lvl="0" marL="0" marR="0" rtl="0" algn="ctr">
                        <a:spcBef>
                          <a:spcPts val="0"/>
                        </a:spcBef>
                        <a:spcAft>
                          <a:spcPts val="0"/>
                        </a:spcAft>
                        <a:buClr>
                          <a:srgbClr val="9AA0A6"/>
                        </a:buClr>
                        <a:buSzPts val="1300"/>
                        <a:buFont typeface="Inter"/>
                        <a:buNone/>
                      </a:pPr>
                      <a:r>
                        <a:rPr b="1" lang="en-US" sz="1300" u="none" cap="none" strike="noStrike">
                          <a:solidFill>
                            <a:srgbClr val="9AA0A6"/>
                          </a:solidFill>
                          <a:latin typeface="Inter"/>
                          <a:ea typeface="Inter"/>
                          <a:cs typeface="Inter"/>
                          <a:sym typeface="Inter"/>
                        </a:rPr>
                        <a:t>longlived</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AFAF8"/>
                    </a:solidFill>
                  </a:tcPr>
                </a:tc>
                <a:tc>
                  <a:txBody>
                    <a:bodyPr/>
                    <a:lstStyle/>
                    <a:p>
                      <a:pPr indent="0" lvl="0" marL="0" marR="0" rtl="0" algn="ctr">
                        <a:spcBef>
                          <a:spcPts val="0"/>
                        </a:spcBef>
                        <a:spcAft>
                          <a:spcPts val="0"/>
                        </a:spcAft>
                        <a:buClr>
                          <a:srgbClr val="9AA0A6"/>
                        </a:buClr>
                        <a:buSzPts val="1300"/>
                        <a:buFont typeface="Inter"/>
                        <a:buNone/>
                      </a:pPr>
                      <a:r>
                        <a:rPr b="1" lang="en-US" sz="1300" u="none" cap="none" strike="noStrike">
                          <a:solidFill>
                            <a:srgbClr val="9AA0A6"/>
                          </a:solidFill>
                          <a:latin typeface="Inter"/>
                          <a:ea typeface="Inter"/>
                          <a:cs typeface="Inter"/>
                          <a:sym typeface="Inter"/>
                        </a:rPr>
                        <a:t>mutate</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AFAF8"/>
                    </a:solidFill>
                  </a:tcPr>
                </a:tc>
              </a:tr>
              <a:tr h="502925">
                <a:tc>
                  <a:txBody>
                    <a:bodyPr/>
                    <a:lstStyle/>
                    <a:p>
                      <a:pPr indent="0" lvl="0" marL="0" marR="0" rtl="0" algn="l">
                        <a:spcBef>
                          <a:spcPts val="0"/>
                        </a:spcBef>
                        <a:spcAft>
                          <a:spcPts val="0"/>
                        </a:spcAft>
                        <a:buClr>
                          <a:srgbClr val="9AA0A6"/>
                        </a:buClr>
                        <a:buSzPts val="1500"/>
                        <a:buFont typeface="JetBrains Mono"/>
                        <a:buNone/>
                      </a:pPr>
                      <a:r>
                        <a:rPr b="1" lang="en-US" sz="1500" u="none" cap="none" strike="noStrike">
                          <a:solidFill>
                            <a:srgbClr val="9AA0A6"/>
                          </a:solidFill>
                          <a:latin typeface="JetBrains Mono"/>
                          <a:ea typeface="JetBrains Mono"/>
                          <a:cs typeface="JetBrains Mono"/>
                          <a:sym typeface="JetBrains Mono"/>
                        </a:rPr>
                        <a:t>baseline</a:t>
                      </a:r>
                      <a:endParaRPr sz="1500" u="none" cap="none" strike="noStrike">
                        <a:latin typeface="JetBrains Mono"/>
                        <a:ea typeface="JetBrains Mono"/>
                        <a:cs typeface="JetBrains Mono"/>
                        <a:sym typeface="JetBrains Mono"/>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13.4</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166.4</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9.4</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18.4</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C0392B"/>
                        </a:buClr>
                        <a:buSzPts val="1500"/>
                        <a:buFont typeface="JetBrains Mono"/>
                        <a:buNone/>
                      </a:pPr>
                      <a:r>
                        <a:rPr b="1" lang="en-US" sz="1500" u="none" cap="none" strike="noStrike">
                          <a:solidFill>
                            <a:srgbClr val="C0392B"/>
                          </a:solidFill>
                          <a:latin typeface="JetBrains Mono"/>
                          <a:ea typeface="JetBrains Mono"/>
                          <a:cs typeface="JetBrains Mono"/>
                          <a:sym typeface="JetBrains Mono"/>
                        </a:rPr>
                        <a:t>mark-sweep</a:t>
                      </a:r>
                      <a:endParaRPr sz="1500" u="none" cap="none" strike="noStrike">
                        <a:latin typeface="JetBrains Mono"/>
                        <a:ea typeface="JetBrains Mono"/>
                        <a:cs typeface="JetBrains Mono"/>
                        <a:sym typeface="JetBrains Mono"/>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13.5</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168.2</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9.9</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18.5</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r>
              <a:tr h="502925">
                <a:tc>
                  <a:txBody>
                    <a:bodyPr/>
                    <a:lstStyle/>
                    <a:p>
                      <a:pPr indent="0" lvl="0" marL="0" marR="0" rtl="0" algn="l">
                        <a:spcBef>
                          <a:spcPts val="0"/>
                        </a:spcBef>
                        <a:spcAft>
                          <a:spcPts val="0"/>
                        </a:spcAft>
                        <a:buClr>
                          <a:srgbClr val="1F6FB2"/>
                        </a:buClr>
                        <a:buSzPts val="1500"/>
                        <a:buFont typeface="JetBrains Mono"/>
                        <a:buNone/>
                      </a:pPr>
                      <a:r>
                        <a:rPr b="1" lang="en-US" sz="1500" u="none" cap="none" strike="noStrike">
                          <a:solidFill>
                            <a:srgbClr val="1F6FB2"/>
                          </a:solidFill>
                          <a:latin typeface="JetBrains Mono"/>
                          <a:ea typeface="JetBrains Mono"/>
                          <a:cs typeface="JetBrains Mono"/>
                          <a:sym typeface="JetBrains Mono"/>
                        </a:rPr>
                        <a:t>mark-compact</a:t>
                      </a:r>
                      <a:endParaRPr sz="1500" u="none" cap="none" strike="noStrike">
                        <a:latin typeface="JetBrains Mono"/>
                        <a:ea typeface="JetBrains Mono"/>
                        <a:cs typeface="JetBrains Mono"/>
                        <a:sym typeface="JetBrains Mono"/>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13.2</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168.4</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9.6</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18.4</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E8449"/>
                        </a:buClr>
                        <a:buSzPts val="1500"/>
                        <a:buFont typeface="JetBrains Mono"/>
                        <a:buNone/>
                      </a:pPr>
                      <a:r>
                        <a:rPr b="1" lang="en-US" sz="1500" u="none" cap="none" strike="noStrike">
                          <a:solidFill>
                            <a:srgbClr val="1E8449"/>
                          </a:solidFill>
                          <a:latin typeface="JetBrains Mono"/>
                          <a:ea typeface="JetBrains Mono"/>
                          <a:cs typeface="JetBrains Mono"/>
                          <a:sym typeface="JetBrains Mono"/>
                        </a:rPr>
                        <a:t>cheney</a:t>
                      </a:r>
                      <a:endParaRPr sz="1500" u="none" cap="none" strike="noStrike">
                        <a:latin typeface="JetBrains Mono"/>
                        <a:ea typeface="JetBrains Mono"/>
                        <a:cs typeface="JetBrains Mono"/>
                        <a:sym typeface="JetBrains Mono"/>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13.3</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165.3</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9.8</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18.1</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r>
              <a:tr h="502925">
                <a:tc>
                  <a:txBody>
                    <a:bodyPr/>
                    <a:lstStyle/>
                    <a:p>
                      <a:pPr indent="0" lvl="0" marL="0" marR="0" rtl="0" algn="l">
                        <a:spcBef>
                          <a:spcPts val="0"/>
                        </a:spcBef>
                        <a:spcAft>
                          <a:spcPts val="0"/>
                        </a:spcAft>
                        <a:buClr>
                          <a:srgbClr val="1E8449"/>
                        </a:buClr>
                        <a:buSzPts val="1500"/>
                        <a:buFont typeface="JetBrains Mono"/>
                        <a:buNone/>
                      </a:pPr>
                      <a:r>
                        <a:rPr b="1" lang="en-US" sz="1500" u="none" cap="none" strike="noStrike">
                          <a:solidFill>
                            <a:srgbClr val="1E8449"/>
                          </a:solidFill>
                          <a:latin typeface="JetBrains Mono"/>
                          <a:ea typeface="JetBrains Mono"/>
                          <a:cs typeface="JetBrains Mono"/>
                          <a:sym typeface="JetBrains Mono"/>
                        </a:rPr>
                        <a:t>generational</a:t>
                      </a:r>
                      <a:endParaRPr sz="1500" u="none" cap="none" strike="noStrike">
                        <a:latin typeface="JetBrains Mono"/>
                        <a:ea typeface="JetBrains Mono"/>
                        <a:cs typeface="JetBrains Mono"/>
                        <a:sym typeface="JetBrains Mono"/>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15.2</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167.8</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35.5</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c>
                  <a:txBody>
                    <a:bodyPr/>
                    <a:lstStyle/>
                    <a:p>
                      <a:pPr indent="0" lvl="0" marL="0" marR="0" rtl="0" algn="ctr">
                        <a:spcBef>
                          <a:spcPts val="0"/>
                        </a:spcBef>
                        <a:spcAft>
                          <a:spcPts val="0"/>
                        </a:spcAft>
                        <a:buClr>
                          <a:srgbClr val="1A1A1A"/>
                        </a:buClr>
                        <a:buSzPts val="1500"/>
                        <a:buFont typeface="Inter"/>
                        <a:buNone/>
                      </a:pPr>
                      <a:r>
                        <a:rPr lang="en-US" sz="1500" u="none" cap="none" strike="noStrike">
                          <a:solidFill>
                            <a:srgbClr val="1A1A1A"/>
                          </a:solidFill>
                          <a:latin typeface="Inter"/>
                          <a:ea typeface="Inter"/>
                          <a:cs typeface="Inter"/>
                          <a:sym typeface="Inter"/>
                        </a:rPr>
                        <a:t>20.4</a:t>
                      </a:r>
                      <a:endParaRPr sz="15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r>
            </a:tbl>
          </a:graphicData>
        </a:graphic>
      </p:graphicFrame>
      <p:sp>
        <p:nvSpPr>
          <p:cNvPr id="235" name="Google Shape;235;p14"/>
          <p:cNvSpPr/>
          <p:nvPr/>
        </p:nvSpPr>
        <p:spPr>
          <a:xfrm>
            <a:off x="822960" y="4983480"/>
            <a:ext cx="5943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7"/>
              </a:buClr>
              <a:buSzPts val="1200"/>
              <a:buFont typeface="Inter"/>
              <a:buNone/>
            </a:pPr>
            <a:r>
              <a:rPr b="0" i="1" lang="en-US" sz="1200" u="none" cap="none" strike="noStrike">
                <a:solidFill>
                  <a:srgbClr val="6B7177"/>
                </a:solidFill>
                <a:latin typeface="Inter"/>
                <a:ea typeface="Inter"/>
                <a:cs typeface="Inter"/>
                <a:sym typeface="Inter"/>
              </a:rPr>
              <a:t>run time at the 8 MiB anchor (ms). No collection fires for the non-generational collectors, which all tie; generational still collects (nursery &lt; heap), so it sits higher — sharply on longlived.</a:t>
            </a:r>
            <a:endParaRPr b="0" i="0" sz="1200" u="none" cap="none" strike="noStrike">
              <a:solidFill>
                <a:schemeClr val="dk1"/>
              </a:solidFill>
              <a:latin typeface="Calibri"/>
              <a:ea typeface="Calibri"/>
              <a:cs typeface="Calibri"/>
              <a:sym typeface="Calibri"/>
            </a:endParaRPr>
          </a:p>
        </p:txBody>
      </p:sp>
      <p:sp>
        <p:nvSpPr>
          <p:cNvPr id="236" name="Google Shape;236;p14"/>
          <p:cNvSpPr/>
          <p:nvPr/>
        </p:nvSpPr>
        <p:spPr>
          <a:xfrm>
            <a:off x="7315200" y="2240280"/>
            <a:ext cx="4023360" cy="3200400"/>
          </a:xfrm>
          <a:prstGeom prst="roundRect">
            <a:avLst>
              <a:gd fmla="val 2857" name="adj"/>
            </a:avLst>
          </a:prstGeom>
          <a:solidFill>
            <a:srgbClr val="1224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4"/>
          <p:cNvSpPr/>
          <p:nvPr/>
        </p:nvSpPr>
        <p:spPr>
          <a:xfrm>
            <a:off x="7589520" y="246888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DB4CC"/>
              </a:buClr>
              <a:buSzPts val="1400"/>
              <a:buFont typeface="Inter"/>
              <a:buNone/>
            </a:pPr>
            <a:r>
              <a:rPr b="1" lang="en-US">
                <a:solidFill>
                  <a:srgbClr val="9DB4CC"/>
                </a:solidFill>
                <a:latin typeface="Inter"/>
                <a:ea typeface="Inter"/>
                <a:cs typeface="Inter"/>
                <a:sym typeface="Inter"/>
              </a:rPr>
              <a:t>What if the heap is massive?</a:t>
            </a:r>
            <a:endParaRPr b="0" i="0" sz="1400" u="none" cap="none" strike="noStrike">
              <a:solidFill>
                <a:schemeClr val="dk1"/>
              </a:solidFill>
              <a:latin typeface="Calibri"/>
              <a:ea typeface="Calibri"/>
              <a:cs typeface="Calibri"/>
              <a:sym typeface="Calibri"/>
            </a:endParaRPr>
          </a:p>
        </p:txBody>
      </p:sp>
      <p:sp>
        <p:nvSpPr>
          <p:cNvPr id="238" name="Google Shape;238;p14"/>
          <p:cNvSpPr/>
          <p:nvPr/>
        </p:nvSpPr>
        <p:spPr>
          <a:xfrm>
            <a:off x="7589520" y="2880360"/>
            <a:ext cx="3520440" cy="2377440"/>
          </a:xfrm>
          <a:prstGeom prst="rect">
            <a:avLst/>
          </a:prstGeom>
          <a:noFill/>
          <a:ln>
            <a:noFill/>
          </a:ln>
        </p:spPr>
        <p:txBody>
          <a:bodyPr anchorCtr="0" anchor="t" bIns="0" lIns="0" spcFirstLastPara="1" rIns="0" wrap="square" tIns="0">
            <a:noAutofit/>
          </a:bodyPr>
          <a:lstStyle/>
          <a:p>
            <a:pPr indent="-177800" lvl="0" marL="177800" marR="0" rtl="0" algn="l">
              <a:lnSpc>
                <a:spcPct val="135714"/>
              </a:lnSpc>
              <a:spcBef>
                <a:spcPts val="0"/>
              </a:spcBef>
              <a:spcAft>
                <a:spcPts val="0"/>
              </a:spcAft>
              <a:buClr>
                <a:srgbClr val="E8EEF5"/>
              </a:buClr>
              <a:buSzPts val="1400"/>
              <a:buFont typeface="Inter"/>
              <a:buChar char="•"/>
            </a:pPr>
            <a:r>
              <a:rPr b="0" i="0" lang="en-US" sz="1400" u="none" cap="none" strike="noStrike">
                <a:solidFill>
                  <a:srgbClr val="E8EEF5"/>
                </a:solidFill>
                <a:latin typeface="Inter"/>
                <a:ea typeface="Inter"/>
                <a:cs typeface="Inter"/>
                <a:sym typeface="Inter"/>
              </a:rPr>
              <a:t>8 MiB anchor: no collection fires</a:t>
            </a:r>
            <a:endParaRPr b="0" i="0" sz="1400" u="none" cap="none" strike="noStrike">
              <a:solidFill>
                <a:schemeClr val="dk1"/>
              </a:solidFill>
              <a:latin typeface="Calibri"/>
              <a:ea typeface="Calibri"/>
              <a:cs typeface="Calibri"/>
              <a:sym typeface="Calibri"/>
            </a:endParaRPr>
          </a:p>
          <a:p>
            <a:pPr indent="-177800" lvl="0" marL="177800" marR="0" rtl="0" algn="l">
              <a:lnSpc>
                <a:spcPct val="135714"/>
              </a:lnSpc>
              <a:spcBef>
                <a:spcPts val="1100"/>
              </a:spcBef>
              <a:spcAft>
                <a:spcPts val="0"/>
              </a:spcAft>
              <a:buClr>
                <a:srgbClr val="E8EEF5"/>
              </a:buClr>
              <a:buSzPts val="1400"/>
              <a:buFont typeface="Inter"/>
              <a:buChar char="•"/>
            </a:pPr>
            <a:r>
              <a:rPr b="0" i="0" lang="en-US" sz="1400" u="none" cap="none" strike="noStrike">
                <a:solidFill>
                  <a:srgbClr val="E8EEF5"/>
                </a:solidFill>
                <a:latin typeface="Inter"/>
                <a:ea typeface="Inter"/>
                <a:cs typeface="Inter"/>
                <a:sym typeface="Inter"/>
              </a:rPr>
              <a:t>free list never touched</a:t>
            </a:r>
            <a:endParaRPr b="0" i="0" sz="1400" u="none" cap="none" strike="noStrike">
              <a:solidFill>
                <a:schemeClr val="dk1"/>
              </a:solidFill>
              <a:latin typeface="Calibri"/>
              <a:ea typeface="Calibri"/>
              <a:cs typeface="Calibri"/>
              <a:sym typeface="Calibri"/>
            </a:endParaRPr>
          </a:p>
          <a:p>
            <a:pPr indent="-177800" lvl="0" marL="177800" marR="0" rtl="0" algn="l">
              <a:lnSpc>
                <a:spcPct val="135714"/>
              </a:lnSpc>
              <a:spcBef>
                <a:spcPts val="1100"/>
              </a:spcBef>
              <a:spcAft>
                <a:spcPts val="0"/>
              </a:spcAft>
              <a:buClr>
                <a:srgbClr val="E8EEF5"/>
              </a:buClr>
              <a:buSzPts val="1400"/>
              <a:buFont typeface="Inter"/>
              <a:buChar char="•"/>
            </a:pPr>
            <a:r>
              <a:rPr b="0" i="0" lang="en-US" sz="1400" u="none" cap="none" strike="noStrike">
                <a:solidFill>
                  <a:srgbClr val="E8EEF5"/>
                </a:solidFill>
                <a:latin typeface="Inter"/>
                <a:ea typeface="Inter"/>
                <a:cs typeface="Inter"/>
                <a:sym typeface="Inter"/>
              </a:rPr>
              <a:t>mark-sweep ties the bump collectors</a:t>
            </a:r>
            <a:endParaRPr b="0" i="0" sz="1400" u="none" cap="none" strike="noStrike">
              <a:solidFill>
                <a:schemeClr val="dk1"/>
              </a:solidFill>
              <a:latin typeface="Calibri"/>
              <a:ea typeface="Calibri"/>
              <a:cs typeface="Calibri"/>
              <a:sym typeface="Calibri"/>
            </a:endParaRPr>
          </a:p>
          <a:p>
            <a:pPr indent="-177800" lvl="0" marL="177800" marR="0" rtl="0" algn="l">
              <a:lnSpc>
                <a:spcPct val="135714"/>
              </a:lnSpc>
              <a:spcBef>
                <a:spcPts val="1100"/>
              </a:spcBef>
              <a:spcAft>
                <a:spcPts val="0"/>
              </a:spcAft>
              <a:buClr>
                <a:srgbClr val="FFFFFF"/>
              </a:buClr>
              <a:buSzPts val="1400"/>
              <a:buFont typeface="Inter"/>
              <a:buChar char="•"/>
            </a:pPr>
            <a:r>
              <a:rPr b="1" i="0" lang="en-US" sz="1400" u="none" cap="none" strike="noStrike">
                <a:solidFill>
                  <a:srgbClr val="FFFFFF"/>
                </a:solidFill>
                <a:latin typeface="Inter"/>
                <a:ea typeface="Inter"/>
                <a:cs typeface="Inter"/>
                <a:sym typeface="Inter"/>
              </a:rPr>
              <a:t>deficit = free-list allocation, not collection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8"/>
        </a:solidFill>
      </p:bgPr>
    </p:bg>
    <p:spTree>
      <p:nvGrpSpPr>
        <p:cNvPr id="243" name="Shape 243"/>
        <p:cNvGrpSpPr/>
        <p:nvPr/>
      </p:nvGrpSpPr>
      <p:grpSpPr>
        <a:xfrm>
          <a:off x="0" y="0"/>
          <a:ext cx="0" cy="0"/>
          <a:chOff x="0" y="0"/>
          <a:chExt cx="0" cy="0"/>
        </a:xfrm>
      </p:grpSpPr>
      <p:sp>
        <p:nvSpPr>
          <p:cNvPr id="244" name="Google Shape;244;p15"/>
          <p:cNvSpPr/>
          <p:nvPr/>
        </p:nvSpPr>
        <p:spPr>
          <a:xfrm>
            <a:off x="822960" y="45720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8449"/>
              </a:buClr>
              <a:buSzPts val="1200"/>
              <a:buFont typeface="Inter"/>
              <a:buNone/>
            </a:pPr>
            <a:r>
              <a:rPr b="1" i="0" lang="en-US" sz="1200" u="none" cap="none" strike="noStrike">
                <a:solidFill>
                  <a:srgbClr val="1E8449"/>
                </a:solidFill>
                <a:latin typeface="Inter"/>
                <a:ea typeface="Inter"/>
                <a:cs typeface="Inter"/>
                <a:sym typeface="Inter"/>
              </a:rPr>
              <a:t>ACT 3 · LATENCY &amp; SPACE</a:t>
            </a:r>
            <a:endParaRPr b="0" i="0" sz="1200" u="none" cap="none" strike="noStrike">
              <a:solidFill>
                <a:schemeClr val="dk1"/>
              </a:solidFill>
              <a:latin typeface="Calibri"/>
              <a:ea typeface="Calibri"/>
              <a:cs typeface="Calibri"/>
              <a:sym typeface="Calibri"/>
            </a:endParaRPr>
          </a:p>
        </p:txBody>
      </p:sp>
      <p:sp>
        <p:nvSpPr>
          <p:cNvPr id="245" name="Google Shape;245;p15"/>
          <p:cNvSpPr/>
          <p:nvPr/>
        </p:nvSpPr>
        <p:spPr>
          <a:xfrm>
            <a:off x="822960" y="749808"/>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Inter"/>
              <a:buNone/>
            </a:pPr>
            <a:r>
              <a:rPr b="1" i="0" lang="en-US" sz="2600" u="none" cap="none" strike="noStrike">
                <a:solidFill>
                  <a:srgbClr val="1A1A1A"/>
                </a:solidFill>
                <a:latin typeface="Inter"/>
                <a:ea typeface="Inter"/>
                <a:cs typeface="Inter"/>
                <a:sym typeface="Inter"/>
              </a:rPr>
              <a:t>There is no free lunch</a:t>
            </a:r>
            <a:endParaRPr b="0" i="0" sz="2600" u="none" cap="none" strike="noStrike">
              <a:solidFill>
                <a:schemeClr val="dk1"/>
              </a:solidFill>
              <a:latin typeface="Calibri"/>
              <a:ea typeface="Calibri"/>
              <a:cs typeface="Calibri"/>
              <a:sym typeface="Calibri"/>
            </a:endParaRPr>
          </a:p>
        </p:txBody>
      </p:sp>
      <p:sp>
        <p:nvSpPr>
          <p:cNvPr id="246" name="Google Shape;246;p15"/>
          <p:cNvSpPr/>
          <p:nvPr/>
        </p:nvSpPr>
        <p:spPr>
          <a:xfrm>
            <a:off x="822960" y="2011680"/>
            <a:ext cx="5029200" cy="4114800"/>
          </a:xfrm>
          <a:prstGeom prst="roundRect">
            <a:avLst>
              <a:gd fmla="val 2222" name="adj"/>
            </a:avLst>
          </a:prstGeom>
          <a:solidFill>
            <a:srgbClr val="F1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5"/>
          <p:cNvSpPr/>
          <p:nvPr/>
        </p:nvSpPr>
        <p:spPr>
          <a:xfrm>
            <a:off x="1188720" y="2240280"/>
            <a:ext cx="4297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500"/>
              <a:buFont typeface="Inter"/>
              <a:buNone/>
            </a:pPr>
            <a:r>
              <a:rPr b="1" i="0" lang="en-US" sz="1500" u="none" cap="none" strike="noStrike">
                <a:solidFill>
                  <a:srgbClr val="0B5394"/>
                </a:solidFill>
                <a:latin typeface="Inter"/>
                <a:ea typeface="Inter"/>
                <a:cs typeface="Inter"/>
                <a:sym typeface="Inter"/>
              </a:rPr>
              <a:t>Latency </a:t>
            </a:r>
            <a:r>
              <a:rPr b="1" lang="en-US" sz="1500">
                <a:solidFill>
                  <a:srgbClr val="0B5394"/>
                </a:solidFill>
                <a:latin typeface="Inter"/>
                <a:ea typeface="Inter"/>
                <a:cs typeface="Inter"/>
                <a:sym typeface="Inter"/>
              </a:rPr>
              <a:t>-</a:t>
            </a:r>
            <a:r>
              <a:rPr b="1" i="0" lang="en-US" sz="1500" u="none" cap="none" strike="noStrike">
                <a:solidFill>
                  <a:srgbClr val="0B5394"/>
                </a:solidFill>
                <a:latin typeface="Inter"/>
                <a:ea typeface="Inter"/>
                <a:cs typeface="Inter"/>
                <a:sym typeface="Inter"/>
              </a:rPr>
              <a:t> mean pause (µs)</a:t>
            </a:r>
            <a:endParaRPr b="0" i="0" sz="1500" u="none" cap="none" strike="noStrike">
              <a:solidFill>
                <a:schemeClr val="dk1"/>
              </a:solidFill>
              <a:latin typeface="Calibri"/>
              <a:ea typeface="Calibri"/>
              <a:cs typeface="Calibri"/>
              <a:sym typeface="Calibri"/>
            </a:endParaRPr>
          </a:p>
        </p:txBody>
      </p:sp>
      <p:sp>
        <p:nvSpPr>
          <p:cNvPr id="249" name="Google Shape;249;p15"/>
          <p:cNvSpPr/>
          <p:nvPr/>
        </p:nvSpPr>
        <p:spPr>
          <a:xfrm>
            <a:off x="1188725" y="5120650"/>
            <a:ext cx="4385100" cy="570900"/>
          </a:xfrm>
          <a:prstGeom prst="rect">
            <a:avLst/>
          </a:prstGeom>
          <a:noFill/>
          <a:ln>
            <a:noFill/>
          </a:ln>
        </p:spPr>
        <p:txBody>
          <a:bodyPr anchorCtr="0" anchor="t" bIns="0" lIns="0" spcFirstLastPara="1" rIns="0" wrap="square" tIns="0">
            <a:noAutofit/>
          </a:bodyPr>
          <a:lstStyle/>
          <a:p>
            <a:pPr indent="-177800" lvl="0" marL="177800" marR="0" rtl="0" algn="l">
              <a:lnSpc>
                <a:spcPct val="160000"/>
              </a:lnSpc>
              <a:spcBef>
                <a:spcPts val="0"/>
              </a:spcBef>
              <a:spcAft>
                <a:spcPts val="0"/>
              </a:spcAft>
              <a:buClr>
                <a:srgbClr val="6B7177"/>
              </a:buClr>
              <a:buSzPts val="1250"/>
              <a:buFont typeface="Inter"/>
              <a:buChar char="•"/>
            </a:pPr>
            <a:r>
              <a:rPr b="0" i="0" lang="en-US" sz="1250" u="none" cap="none" strike="noStrike">
                <a:solidFill>
                  <a:srgbClr val="6B7177"/>
                </a:solidFill>
                <a:latin typeface="Inter"/>
                <a:ea typeface="Inter"/>
                <a:cs typeface="Inter"/>
                <a:sym typeface="Inter"/>
              </a:rPr>
              <a:t>Cheney is the smallest</a:t>
            </a:r>
            <a:r>
              <a:rPr lang="en-US" sz="1250">
                <a:solidFill>
                  <a:srgbClr val="6B7177"/>
                </a:solidFill>
                <a:latin typeface="Inter"/>
                <a:ea typeface="Inter"/>
                <a:cs typeface="Inter"/>
                <a:sym typeface="Inter"/>
              </a:rPr>
              <a:t>: </a:t>
            </a:r>
            <a:r>
              <a:rPr b="0" i="0" lang="en-US" sz="1250" u="none" cap="none" strike="noStrike">
                <a:solidFill>
                  <a:srgbClr val="6B7177"/>
                </a:solidFill>
                <a:latin typeface="Inter"/>
                <a:ea typeface="Inter"/>
                <a:cs typeface="Inter"/>
                <a:sym typeface="Inter"/>
              </a:rPr>
              <a:t>s</a:t>
            </a:r>
            <a:r>
              <a:rPr lang="en-US" sz="1250">
                <a:solidFill>
                  <a:srgbClr val="6B7177"/>
                </a:solidFill>
                <a:latin typeface="Inter"/>
                <a:ea typeface="Inter"/>
                <a:cs typeface="Inter"/>
                <a:sym typeface="Inter"/>
              </a:rPr>
              <a:t>cales with live-set</a:t>
            </a:r>
            <a:endParaRPr sz="1250">
              <a:solidFill>
                <a:schemeClr val="dk1"/>
              </a:solidFill>
              <a:latin typeface="Calibri"/>
              <a:ea typeface="Calibri"/>
              <a:cs typeface="Calibri"/>
              <a:sym typeface="Calibri"/>
            </a:endParaRPr>
          </a:p>
          <a:p>
            <a:pPr indent="-177800" lvl="0" marL="177800" marR="0" rtl="0" algn="l">
              <a:lnSpc>
                <a:spcPct val="160000"/>
              </a:lnSpc>
              <a:spcBef>
                <a:spcPts val="0"/>
              </a:spcBef>
              <a:spcAft>
                <a:spcPts val="0"/>
              </a:spcAft>
              <a:buClr>
                <a:srgbClr val="6B7177"/>
              </a:buClr>
              <a:buSzPts val="1250"/>
              <a:buFont typeface="Inter"/>
              <a:buChar char="•"/>
            </a:pPr>
            <a:r>
              <a:rPr b="0" i="0" lang="en-US" sz="1250" u="none" cap="none" strike="noStrike">
                <a:solidFill>
                  <a:srgbClr val="6B7177"/>
                </a:solidFill>
                <a:latin typeface="Inter"/>
                <a:ea typeface="Inter"/>
                <a:cs typeface="Inter"/>
                <a:sym typeface="Inter"/>
              </a:rPr>
              <a:t>mark-compact is the largest: </a:t>
            </a:r>
            <a:r>
              <a:rPr lang="en-US" sz="1250">
                <a:solidFill>
                  <a:srgbClr val="6B7177"/>
                </a:solidFill>
                <a:latin typeface="Inter"/>
                <a:ea typeface="Inter"/>
                <a:cs typeface="Inter"/>
                <a:sym typeface="Inter"/>
              </a:rPr>
              <a:t>does </a:t>
            </a:r>
            <a:r>
              <a:rPr b="0" i="0" lang="en-US" sz="1250" u="none" cap="none" strike="noStrike">
                <a:solidFill>
                  <a:srgbClr val="6B7177"/>
                </a:solidFill>
                <a:latin typeface="Inter"/>
                <a:ea typeface="Inter"/>
                <a:cs typeface="Inter"/>
                <a:sym typeface="Inter"/>
              </a:rPr>
              <a:t>several heap passes</a:t>
            </a:r>
            <a:endParaRPr b="0" i="0" sz="1250" u="none" cap="none" strike="noStrike">
              <a:solidFill>
                <a:srgbClr val="6B7177"/>
              </a:solidFill>
              <a:latin typeface="Inter"/>
              <a:ea typeface="Inter"/>
              <a:cs typeface="Inter"/>
              <a:sym typeface="Inter"/>
            </a:endParaRPr>
          </a:p>
          <a:p>
            <a:pPr indent="0" lvl="0" marL="0" marR="0" rtl="0" algn="l">
              <a:lnSpc>
                <a:spcPct val="160000"/>
              </a:lnSpc>
              <a:spcBef>
                <a:spcPts val="0"/>
              </a:spcBef>
              <a:spcAft>
                <a:spcPts val="0"/>
              </a:spcAft>
              <a:buNone/>
            </a:pPr>
            <a:r>
              <a:t/>
            </a:r>
            <a:endParaRPr sz="1250">
              <a:solidFill>
                <a:srgbClr val="6B7177"/>
              </a:solidFill>
              <a:latin typeface="Inter"/>
              <a:ea typeface="Inter"/>
              <a:cs typeface="Inter"/>
              <a:sym typeface="Inter"/>
            </a:endParaRPr>
          </a:p>
        </p:txBody>
      </p:sp>
      <p:sp>
        <p:nvSpPr>
          <p:cNvPr id="250" name="Google Shape;250;p15"/>
          <p:cNvSpPr/>
          <p:nvPr/>
        </p:nvSpPr>
        <p:spPr>
          <a:xfrm>
            <a:off x="6400800" y="2011680"/>
            <a:ext cx="4937760" cy="4114800"/>
          </a:xfrm>
          <a:prstGeom prst="roundRect">
            <a:avLst>
              <a:gd fmla="val 2222" name="adj"/>
            </a:avLst>
          </a:prstGeom>
          <a:solidFill>
            <a:srgbClr val="F1F0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5"/>
          <p:cNvSpPr/>
          <p:nvPr/>
        </p:nvSpPr>
        <p:spPr>
          <a:xfrm>
            <a:off x="6766560" y="2240280"/>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394"/>
              </a:buClr>
              <a:buSzPts val="1500"/>
              <a:buFont typeface="Inter"/>
              <a:buNone/>
            </a:pPr>
            <a:r>
              <a:rPr b="1" i="0" lang="en-US" sz="1500" u="none" cap="none" strike="noStrike">
                <a:solidFill>
                  <a:srgbClr val="0B5394"/>
                </a:solidFill>
                <a:latin typeface="Inter"/>
                <a:ea typeface="Inter"/>
                <a:cs typeface="Inter"/>
                <a:sym typeface="Inter"/>
              </a:rPr>
              <a:t>Space </a:t>
            </a:r>
            <a:r>
              <a:rPr b="1" lang="en-US" sz="1500">
                <a:solidFill>
                  <a:srgbClr val="0B5394"/>
                </a:solidFill>
                <a:latin typeface="Inter"/>
                <a:ea typeface="Inter"/>
                <a:cs typeface="Inter"/>
                <a:sym typeface="Inter"/>
              </a:rPr>
              <a:t>- </a:t>
            </a:r>
            <a:r>
              <a:rPr b="1" i="0" lang="en-US" sz="1500" u="none" cap="none" strike="noStrike">
                <a:solidFill>
                  <a:srgbClr val="0B5394"/>
                </a:solidFill>
                <a:latin typeface="Inter"/>
                <a:ea typeface="Inter"/>
                <a:cs typeface="Inter"/>
                <a:sym typeface="Inter"/>
              </a:rPr>
              <a:t>smallest heap survived</a:t>
            </a:r>
            <a:endParaRPr b="0" i="0" sz="1500" u="none" cap="none" strike="noStrike">
              <a:solidFill>
                <a:schemeClr val="dk1"/>
              </a:solidFill>
              <a:latin typeface="Calibri"/>
              <a:ea typeface="Calibri"/>
              <a:cs typeface="Calibri"/>
              <a:sym typeface="Calibri"/>
            </a:endParaRPr>
          </a:p>
        </p:txBody>
      </p:sp>
      <p:graphicFrame>
        <p:nvGraphicFramePr>
          <p:cNvPr id="252" name="Google Shape;252;p15"/>
          <p:cNvGraphicFramePr/>
          <p:nvPr/>
        </p:nvGraphicFramePr>
        <p:xfrm>
          <a:off x="6631015" y="2788920"/>
          <a:ext cx="3000000" cy="3000000"/>
        </p:xfrm>
        <a:graphic>
          <a:graphicData uri="http://schemas.openxmlformats.org/drawingml/2006/table">
            <a:tbl>
              <a:tblPr>
                <a:noFill/>
                <a:tableStyleId>{F743F501-BC8A-405B-A45D-8B6184ADABE4}</a:tableStyleId>
              </a:tblPr>
              <a:tblGrid>
                <a:gridCol w="1440000"/>
                <a:gridCol w="690000"/>
                <a:gridCol w="850000"/>
                <a:gridCol w="960000"/>
                <a:gridCol w="700000"/>
              </a:tblGrid>
              <a:tr h="457200">
                <a:tc>
                  <a:txBody>
                    <a:bodyPr/>
                    <a:lstStyle/>
                    <a:p>
                      <a:pPr indent="0" lvl="0" marL="0" marR="0" rtl="0" algn="l">
                        <a:spcBef>
                          <a:spcPts val="0"/>
                        </a:spcBef>
                        <a:spcAft>
                          <a:spcPts val="0"/>
                        </a:spcAft>
                        <a:buClr>
                          <a:schemeClr val="dk1"/>
                        </a:buClr>
                        <a:buSzPts val="1300"/>
                        <a:buFont typeface="Calibri"/>
                        <a:buNone/>
                      </a:pPr>
                      <a:r>
                        <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solidFill>
                      <a:srgbClr val="F1F0EC"/>
                    </a:solidFill>
                  </a:tcPr>
                </a:tc>
                <a:tc>
                  <a:txBody>
                    <a:bodyPr/>
                    <a:lstStyle/>
                    <a:p>
                      <a:pPr indent="0" lvl="0" marL="0" marR="0" rtl="0" algn="ctr">
                        <a:spcBef>
                          <a:spcPts val="0"/>
                        </a:spcBef>
                        <a:spcAft>
                          <a:spcPts val="0"/>
                        </a:spcAft>
                        <a:buClr>
                          <a:srgbClr val="9AA0A6"/>
                        </a:buClr>
                        <a:buSzPts val="1300"/>
                        <a:buFont typeface="Inter"/>
                        <a:buNone/>
                      </a:pPr>
                      <a:r>
                        <a:rPr b="1" lang="en-US" sz="1300" u="none" cap="none" strike="noStrike">
                          <a:solidFill>
                            <a:srgbClr val="9AA0A6"/>
                          </a:solidFill>
                          <a:latin typeface="Inter"/>
                          <a:ea typeface="Inter"/>
                          <a:cs typeface="Inter"/>
                          <a:sym typeface="Inter"/>
                        </a:rPr>
                        <a:t>churn</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9AA0A6"/>
                        </a:buClr>
                        <a:buSzPts val="1300"/>
                        <a:buFont typeface="Inter"/>
                        <a:buNone/>
                      </a:pPr>
                      <a:r>
                        <a:rPr b="1" lang="en-US" sz="1300" u="none" cap="none" strike="noStrike">
                          <a:solidFill>
                            <a:srgbClr val="9AA0A6"/>
                          </a:solidFill>
                          <a:latin typeface="Inter"/>
                          <a:ea typeface="Inter"/>
                          <a:cs typeface="Inter"/>
                          <a:sym typeface="Inter"/>
                        </a:rPr>
                        <a:t>density</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9AA0A6"/>
                        </a:buClr>
                        <a:buSzPts val="1300"/>
                        <a:buFont typeface="Inter"/>
                        <a:buNone/>
                      </a:pPr>
                      <a:r>
                        <a:rPr b="1" lang="en-US" sz="1300" u="none" cap="none" strike="noStrike">
                          <a:solidFill>
                            <a:srgbClr val="9AA0A6"/>
                          </a:solidFill>
                          <a:latin typeface="Inter"/>
                          <a:ea typeface="Inter"/>
                          <a:cs typeface="Inter"/>
                          <a:sym typeface="Inter"/>
                        </a:rPr>
                        <a:t>longlived</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9AA0A6"/>
                        </a:buClr>
                        <a:buSzPts val="1300"/>
                        <a:buFont typeface="Inter"/>
                        <a:buNone/>
                      </a:pPr>
                      <a:r>
                        <a:rPr b="1" lang="en-US" sz="1300" u="none" cap="none" strike="noStrike">
                          <a:solidFill>
                            <a:srgbClr val="9AA0A6"/>
                          </a:solidFill>
                          <a:latin typeface="Inter"/>
                          <a:ea typeface="Inter"/>
                          <a:cs typeface="Inter"/>
                          <a:sym typeface="Inter"/>
                        </a:rPr>
                        <a:t>mutate</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r>
              <a:tr h="457200">
                <a:tc>
                  <a:txBody>
                    <a:bodyPr/>
                    <a:lstStyle/>
                    <a:p>
                      <a:pPr indent="0" lvl="0" marL="0" marR="0" rtl="0" algn="l">
                        <a:spcBef>
                          <a:spcPts val="0"/>
                        </a:spcBef>
                        <a:spcAft>
                          <a:spcPts val="0"/>
                        </a:spcAft>
                        <a:buClr>
                          <a:srgbClr val="C0392B"/>
                        </a:buClr>
                        <a:buSzPts val="1200"/>
                        <a:buFont typeface="JetBrains Mono"/>
                        <a:buNone/>
                      </a:pPr>
                      <a:r>
                        <a:rPr b="1" lang="en-US" sz="1200" u="none" cap="none" strike="noStrike">
                          <a:solidFill>
                            <a:srgbClr val="C0392B"/>
                          </a:solidFill>
                          <a:latin typeface="JetBrains Mono"/>
                          <a:ea typeface="JetBrains Mono"/>
                          <a:cs typeface="JetBrains Mono"/>
                          <a:sym typeface="JetBrains Mono"/>
                        </a:rPr>
                        <a:t>mark-sweep</a:t>
                      </a:r>
                      <a:endParaRPr sz="1200" u="none" cap="none" strike="noStrike">
                        <a:latin typeface="JetBrains Mono"/>
                        <a:ea typeface="JetBrains Mono"/>
                        <a:cs typeface="JetBrains Mono"/>
                        <a:sym typeface="JetBrains Mono"/>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1300"/>
                        <a:buFont typeface="Inter"/>
                        <a:buNone/>
                      </a:pPr>
                      <a:r>
                        <a:rPr lang="en-US" sz="1300" u="none" cap="none" strike="noStrike">
                          <a:solidFill>
                            <a:srgbClr val="1A1A1A"/>
                          </a:solidFill>
                          <a:latin typeface="Inter"/>
                          <a:ea typeface="Inter"/>
                          <a:cs typeface="Inter"/>
                          <a:sym typeface="Inter"/>
                        </a:rPr>
                        <a:t>16K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1300"/>
                        <a:buFont typeface="Inter"/>
                        <a:buNone/>
                      </a:pPr>
                      <a:r>
                        <a:rPr lang="en-US" sz="1300" u="none" cap="none" strike="noStrike">
                          <a:solidFill>
                            <a:srgbClr val="1A1A1A"/>
                          </a:solidFill>
                          <a:latin typeface="Inter"/>
                          <a:ea typeface="Inter"/>
                          <a:cs typeface="Inter"/>
                          <a:sym typeface="Inter"/>
                        </a:rPr>
                        <a:t>16K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1300"/>
                        <a:buFont typeface="Inter"/>
                        <a:buNone/>
                      </a:pPr>
                      <a:r>
                        <a:rPr lang="en-US" sz="1300" u="none" cap="none" strike="noStrike">
                          <a:solidFill>
                            <a:srgbClr val="1A1A1A"/>
                          </a:solidFill>
                          <a:latin typeface="Inter"/>
                          <a:ea typeface="Inter"/>
                          <a:cs typeface="Inter"/>
                          <a:sym typeface="Inter"/>
                        </a:rPr>
                        <a:t>64K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1300"/>
                        <a:buFont typeface="Inter"/>
                        <a:buNone/>
                      </a:pPr>
                      <a:r>
                        <a:rPr lang="en-US" sz="1300" u="none" cap="none" strike="noStrike">
                          <a:solidFill>
                            <a:srgbClr val="1A1A1A"/>
                          </a:solidFill>
                          <a:latin typeface="Inter"/>
                          <a:ea typeface="Inter"/>
                          <a:cs typeface="Inter"/>
                          <a:sym typeface="Inter"/>
                        </a:rPr>
                        <a:t>32K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r>
              <a:tr h="457200">
                <a:tc>
                  <a:txBody>
                    <a:bodyPr/>
                    <a:lstStyle/>
                    <a:p>
                      <a:pPr indent="0" lvl="0" marL="0" marR="0" rtl="0" algn="l">
                        <a:spcBef>
                          <a:spcPts val="0"/>
                        </a:spcBef>
                        <a:spcAft>
                          <a:spcPts val="0"/>
                        </a:spcAft>
                        <a:buClr>
                          <a:srgbClr val="1F6FB2"/>
                        </a:buClr>
                        <a:buSzPts val="1200"/>
                        <a:buFont typeface="JetBrains Mono"/>
                        <a:buNone/>
                      </a:pPr>
                      <a:r>
                        <a:rPr b="1" lang="en-US" sz="1200" u="none" cap="none" strike="noStrike">
                          <a:solidFill>
                            <a:srgbClr val="1F6FB2"/>
                          </a:solidFill>
                          <a:latin typeface="JetBrains Mono"/>
                          <a:ea typeface="JetBrains Mono"/>
                          <a:cs typeface="JetBrains Mono"/>
                          <a:sym typeface="JetBrains Mono"/>
                        </a:rPr>
                        <a:t>mark-compact</a:t>
                      </a:r>
                      <a:endParaRPr sz="1200" u="none" cap="none" strike="noStrike">
                        <a:latin typeface="JetBrains Mono"/>
                        <a:ea typeface="JetBrains Mono"/>
                        <a:cs typeface="JetBrains Mono"/>
                        <a:sym typeface="JetBrains Mono"/>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1300"/>
                        <a:buFont typeface="Inter"/>
                        <a:buNone/>
                      </a:pPr>
                      <a:r>
                        <a:rPr lang="en-US" sz="1300" u="none" cap="none" strike="noStrike">
                          <a:solidFill>
                            <a:srgbClr val="1A1A1A"/>
                          </a:solidFill>
                          <a:latin typeface="Inter"/>
                          <a:ea typeface="Inter"/>
                          <a:cs typeface="Inter"/>
                          <a:sym typeface="Inter"/>
                        </a:rPr>
                        <a:t>16K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1300"/>
                        <a:buFont typeface="Inter"/>
                        <a:buNone/>
                      </a:pPr>
                      <a:r>
                        <a:rPr lang="en-US" sz="1300" u="none" cap="none" strike="noStrike">
                          <a:solidFill>
                            <a:srgbClr val="1A1A1A"/>
                          </a:solidFill>
                          <a:latin typeface="Inter"/>
                          <a:ea typeface="Inter"/>
                          <a:cs typeface="Inter"/>
                          <a:sym typeface="Inter"/>
                        </a:rPr>
                        <a:t>16K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1300"/>
                        <a:buFont typeface="Inter"/>
                        <a:buNone/>
                      </a:pPr>
                      <a:r>
                        <a:rPr lang="en-US" sz="1300" u="none" cap="none" strike="noStrike">
                          <a:solidFill>
                            <a:srgbClr val="1A1A1A"/>
                          </a:solidFill>
                          <a:latin typeface="Inter"/>
                          <a:ea typeface="Inter"/>
                          <a:cs typeface="Inter"/>
                          <a:sym typeface="Inter"/>
                        </a:rPr>
                        <a:t>64K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1300"/>
                        <a:buFont typeface="Inter"/>
                        <a:buNone/>
                      </a:pPr>
                      <a:r>
                        <a:rPr lang="en-US" sz="1300" u="none" cap="none" strike="noStrike">
                          <a:solidFill>
                            <a:srgbClr val="1A1A1A"/>
                          </a:solidFill>
                          <a:latin typeface="Inter"/>
                          <a:ea typeface="Inter"/>
                          <a:cs typeface="Inter"/>
                          <a:sym typeface="Inter"/>
                        </a:rPr>
                        <a:t>32K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r>
              <a:tr h="457200">
                <a:tc>
                  <a:txBody>
                    <a:bodyPr/>
                    <a:lstStyle/>
                    <a:p>
                      <a:pPr indent="0" lvl="0" marL="0" marR="0" rtl="0" algn="l">
                        <a:spcBef>
                          <a:spcPts val="0"/>
                        </a:spcBef>
                        <a:spcAft>
                          <a:spcPts val="0"/>
                        </a:spcAft>
                        <a:buClr>
                          <a:srgbClr val="1E8449"/>
                        </a:buClr>
                        <a:buSzPts val="1200"/>
                        <a:buFont typeface="JetBrains Mono"/>
                        <a:buNone/>
                      </a:pPr>
                      <a:r>
                        <a:rPr b="1" lang="en-US" sz="1200" u="none" cap="none" strike="noStrike">
                          <a:solidFill>
                            <a:srgbClr val="1E8449"/>
                          </a:solidFill>
                          <a:latin typeface="JetBrains Mono"/>
                          <a:ea typeface="JetBrains Mono"/>
                          <a:cs typeface="JetBrains Mono"/>
                          <a:sym typeface="JetBrains Mono"/>
                        </a:rPr>
                        <a:t>cheney</a:t>
                      </a:r>
                      <a:endParaRPr sz="1200" u="none" cap="none" strike="noStrike">
                        <a:latin typeface="JetBrains Mono"/>
                        <a:ea typeface="JetBrains Mono"/>
                        <a:cs typeface="JetBrains Mono"/>
                        <a:sym typeface="JetBrains Mono"/>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1300"/>
                        <a:buFont typeface="Inter"/>
                        <a:buNone/>
                      </a:pPr>
                      <a:r>
                        <a:rPr lang="en-US" sz="1300" u="none" cap="none" strike="noStrike">
                          <a:solidFill>
                            <a:srgbClr val="1A1A1A"/>
                          </a:solidFill>
                          <a:latin typeface="Inter"/>
                          <a:ea typeface="Inter"/>
                          <a:cs typeface="Inter"/>
                          <a:sym typeface="Inter"/>
                        </a:rPr>
                        <a:t>16K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1300"/>
                        <a:buFont typeface="Inter"/>
                        <a:buNone/>
                      </a:pPr>
                      <a:r>
                        <a:rPr lang="en-US" sz="1300" u="none" cap="none" strike="noStrike">
                          <a:solidFill>
                            <a:srgbClr val="1A1A1A"/>
                          </a:solidFill>
                          <a:latin typeface="Inter"/>
                          <a:ea typeface="Inter"/>
                          <a:cs typeface="Inter"/>
                          <a:sym typeface="Inter"/>
                        </a:rPr>
                        <a:t>32K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1300"/>
                        <a:buFont typeface="Inter"/>
                        <a:buNone/>
                      </a:pPr>
                      <a:r>
                        <a:rPr b="1" lang="en-US" sz="1300" u="none" cap="none" strike="noStrike">
                          <a:solidFill>
                            <a:srgbClr val="C0392B"/>
                          </a:solidFill>
                          <a:latin typeface="Inter"/>
                          <a:ea typeface="Inter"/>
                          <a:cs typeface="Inter"/>
                          <a:sym typeface="Inter"/>
                        </a:rPr>
                        <a:t>128K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1300"/>
                        <a:buFont typeface="Inter"/>
                        <a:buNone/>
                      </a:pPr>
                      <a:r>
                        <a:rPr lang="en-US" sz="1300" u="none" cap="none" strike="noStrike">
                          <a:solidFill>
                            <a:srgbClr val="1A1A1A"/>
                          </a:solidFill>
                          <a:latin typeface="Inter"/>
                          <a:ea typeface="Inter"/>
                          <a:cs typeface="Inter"/>
                          <a:sym typeface="Inter"/>
                        </a:rPr>
                        <a:t>64K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r>
              <a:tr h="457200">
                <a:tc>
                  <a:txBody>
                    <a:bodyPr/>
                    <a:lstStyle/>
                    <a:p>
                      <a:pPr indent="0" lvl="0" marL="0" marR="0" rtl="0" algn="l">
                        <a:spcBef>
                          <a:spcPts val="0"/>
                        </a:spcBef>
                        <a:spcAft>
                          <a:spcPts val="0"/>
                        </a:spcAft>
                        <a:buClr>
                          <a:srgbClr val="1E8449"/>
                        </a:buClr>
                        <a:buSzPts val="1200"/>
                        <a:buFont typeface="JetBrains Mono"/>
                        <a:buNone/>
                      </a:pPr>
                      <a:r>
                        <a:rPr b="1" lang="en-US" sz="1200" u="none" cap="none" strike="noStrike">
                          <a:solidFill>
                            <a:srgbClr val="1E8449"/>
                          </a:solidFill>
                          <a:latin typeface="JetBrains Mono"/>
                          <a:ea typeface="JetBrains Mono"/>
                          <a:cs typeface="JetBrains Mono"/>
                          <a:sym typeface="JetBrains Mono"/>
                        </a:rPr>
                        <a:t>generational</a:t>
                      </a:r>
                      <a:endParaRPr sz="1200" u="none" cap="none" strike="noStrike">
                        <a:latin typeface="JetBrains Mono"/>
                        <a:ea typeface="JetBrains Mono"/>
                        <a:cs typeface="JetBrains Mono"/>
                        <a:sym typeface="JetBrains Mono"/>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1300"/>
                        <a:buFont typeface="Inter"/>
                        <a:buNone/>
                      </a:pPr>
                      <a:r>
                        <a:rPr lang="en-US" sz="1300" u="none" cap="none" strike="noStrike">
                          <a:solidFill>
                            <a:srgbClr val="1A1A1A"/>
                          </a:solidFill>
                          <a:latin typeface="Inter"/>
                          <a:ea typeface="Inter"/>
                          <a:cs typeface="Inter"/>
                          <a:sym typeface="Inter"/>
                        </a:rPr>
                        <a:t>16K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1300"/>
                        <a:buFont typeface="Inter"/>
                        <a:buNone/>
                      </a:pPr>
                      <a:r>
                        <a:rPr lang="en-US" sz="1300" u="none" cap="none" strike="noStrike">
                          <a:solidFill>
                            <a:srgbClr val="1A1A1A"/>
                          </a:solidFill>
                          <a:latin typeface="Inter"/>
                          <a:ea typeface="Inter"/>
                          <a:cs typeface="Inter"/>
                          <a:sym typeface="Inter"/>
                        </a:rPr>
                        <a:t>16K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1300"/>
                        <a:buFont typeface="Inter"/>
                        <a:buNone/>
                      </a:pPr>
                      <a:r>
                        <a:rPr b="1" lang="en-US" sz="1300" u="none" cap="none" strike="noStrike">
                          <a:solidFill>
                            <a:srgbClr val="C0392B"/>
                          </a:solidFill>
                          <a:latin typeface="Inter"/>
                          <a:ea typeface="Inter"/>
                          <a:cs typeface="Inter"/>
                          <a:sym typeface="Inter"/>
                        </a:rPr>
                        <a:t>64K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c>
                  <a:txBody>
                    <a:bodyPr/>
                    <a:lstStyle/>
                    <a:p>
                      <a:pPr indent="0" lvl="0" marL="0" marR="0" rtl="0" algn="ctr">
                        <a:spcBef>
                          <a:spcPts val="0"/>
                        </a:spcBef>
                        <a:spcAft>
                          <a:spcPts val="0"/>
                        </a:spcAft>
                        <a:buClr>
                          <a:srgbClr val="1A1A1A"/>
                        </a:buClr>
                        <a:buSzPts val="1300"/>
                        <a:buFont typeface="Inter"/>
                        <a:buNone/>
                      </a:pPr>
                      <a:r>
                        <a:rPr lang="en-US" sz="1300" u="none" cap="none" strike="noStrike">
                          <a:solidFill>
                            <a:srgbClr val="1A1A1A"/>
                          </a:solidFill>
                          <a:latin typeface="Inter"/>
                          <a:ea typeface="Inter"/>
                          <a:cs typeface="Inter"/>
                          <a:sym typeface="Inter"/>
                        </a:rPr>
                        <a:t>32K</a:t>
                      </a:r>
                      <a:endParaRPr sz="1300" u="none" cap="none" strike="noStrike">
                        <a:latin typeface="Inter"/>
                        <a:ea typeface="Inter"/>
                        <a:cs typeface="Inter"/>
                        <a:sym typeface="Inter"/>
                      </a:endParaRPr>
                    </a:p>
                  </a:txBody>
                  <a:tcPr marT="45725" marB="45725" marR="91450" marL="91450" anchor="ctr">
                    <a:lnL cap="flat" cmpd="sng" w="9525">
                      <a:solidFill>
                        <a:srgbClr val="E2E0DA"/>
                      </a:solidFill>
                      <a:prstDash val="solid"/>
                      <a:round/>
                      <a:headEnd len="sm" w="sm" type="none"/>
                      <a:tailEnd len="sm" w="sm" type="none"/>
                    </a:lnL>
                    <a:lnR cap="flat" cmpd="sng" w="9525">
                      <a:solidFill>
                        <a:srgbClr val="E2E0DA"/>
                      </a:solidFill>
                      <a:prstDash val="solid"/>
                      <a:round/>
                      <a:headEnd len="sm" w="sm" type="none"/>
                      <a:tailEnd len="sm" w="sm" type="none"/>
                    </a:lnR>
                    <a:lnT cap="flat" cmpd="sng" w="9525">
                      <a:solidFill>
                        <a:srgbClr val="E2E0DA"/>
                      </a:solidFill>
                      <a:prstDash val="solid"/>
                      <a:round/>
                      <a:headEnd len="sm" w="sm" type="none"/>
                      <a:tailEnd len="sm" w="sm" type="none"/>
                    </a:lnT>
                    <a:lnB cap="flat" cmpd="sng" w="9525">
                      <a:solidFill>
                        <a:srgbClr val="E2E0DA"/>
                      </a:solidFill>
                      <a:prstDash val="solid"/>
                      <a:round/>
                      <a:headEnd len="sm" w="sm" type="none"/>
                      <a:tailEnd len="sm" w="sm" type="none"/>
                    </a:lnB>
                  </a:tcPr>
                </a:tc>
              </a:tr>
            </a:tbl>
          </a:graphicData>
        </a:graphic>
      </p:graphicFrame>
      <p:sp>
        <p:nvSpPr>
          <p:cNvPr id="253" name="Google Shape;253;p15"/>
          <p:cNvSpPr/>
          <p:nvPr/>
        </p:nvSpPr>
        <p:spPr>
          <a:xfrm>
            <a:off x="6766560" y="4892040"/>
            <a:ext cx="4206240" cy="914400"/>
          </a:xfrm>
          <a:prstGeom prst="rect">
            <a:avLst/>
          </a:prstGeom>
          <a:noFill/>
          <a:ln>
            <a:noFill/>
          </a:ln>
        </p:spPr>
        <p:txBody>
          <a:bodyPr anchorCtr="0" anchor="t" bIns="0" lIns="0" spcFirstLastPara="1" rIns="0" wrap="square" tIns="0">
            <a:noAutofit/>
          </a:bodyPr>
          <a:lstStyle/>
          <a:p>
            <a:pPr indent="-177800" lvl="0" marL="177800" marR="0" rtl="0" algn="l">
              <a:lnSpc>
                <a:spcPct val="160000"/>
              </a:lnSpc>
              <a:spcBef>
                <a:spcPts val="0"/>
              </a:spcBef>
              <a:spcAft>
                <a:spcPts val="0"/>
              </a:spcAft>
              <a:buClr>
                <a:srgbClr val="6B7177"/>
              </a:buClr>
              <a:buSzPts val="1250"/>
              <a:buFont typeface="Inter"/>
              <a:buChar char="•"/>
            </a:pPr>
            <a:r>
              <a:rPr lang="en-US" sz="1250">
                <a:solidFill>
                  <a:srgbClr val="6B7177"/>
                </a:solidFill>
                <a:latin typeface="Inter"/>
                <a:ea typeface="Inter"/>
                <a:cs typeface="Inter"/>
                <a:sym typeface="Inter"/>
              </a:rPr>
              <a:t>mark-sweep, mark-compact &amp; generational share the tightest heap</a:t>
            </a:r>
            <a:endParaRPr b="0" i="0" sz="1250" u="none" cap="none" strike="noStrike">
              <a:solidFill>
                <a:schemeClr val="dk1"/>
              </a:solidFill>
              <a:latin typeface="Calibri"/>
              <a:ea typeface="Calibri"/>
              <a:cs typeface="Calibri"/>
              <a:sym typeface="Calibri"/>
            </a:endParaRPr>
          </a:p>
          <a:p>
            <a:pPr indent="-177800" lvl="0" marL="177800" marR="0" rtl="0" algn="l">
              <a:lnSpc>
                <a:spcPct val="160000"/>
              </a:lnSpc>
              <a:spcBef>
                <a:spcPts val="600"/>
              </a:spcBef>
              <a:spcAft>
                <a:spcPts val="0"/>
              </a:spcAft>
              <a:buClr>
                <a:srgbClr val="6B7177"/>
              </a:buClr>
              <a:buSzPts val="1250"/>
              <a:buFont typeface="Inter"/>
              <a:buChar char="•"/>
            </a:pPr>
            <a:r>
              <a:rPr lang="en-US" sz="1250">
                <a:solidFill>
                  <a:srgbClr val="6B7177"/>
                </a:solidFill>
                <a:latin typeface="Inter"/>
                <a:ea typeface="Inter"/>
                <a:cs typeface="Inter"/>
                <a:sym typeface="Inter"/>
              </a:rPr>
              <a:t>Cheney pays the biggest penalty (semispace halving)</a:t>
            </a:r>
            <a:endParaRPr b="0" i="0" sz="1250" u="none" cap="none" strike="noStrike">
              <a:solidFill>
                <a:schemeClr val="dk1"/>
              </a:solidFill>
              <a:latin typeface="Calibri"/>
              <a:ea typeface="Calibri"/>
              <a:cs typeface="Calibri"/>
              <a:sym typeface="Calibri"/>
            </a:endParaRPr>
          </a:p>
        </p:txBody>
      </p:sp>
      <p:sp>
        <p:nvSpPr>
          <p:cNvPr id="254" name="Google Shape;254;p15"/>
          <p:cNvSpPr/>
          <p:nvPr/>
        </p:nvSpPr>
        <p:spPr>
          <a:xfrm>
            <a:off x="2111375" y="5691550"/>
            <a:ext cx="2439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7"/>
              </a:buClr>
              <a:buSzPts val="1200"/>
              <a:buFont typeface="Inter"/>
              <a:buNone/>
            </a:pPr>
            <a:r>
              <a:rPr i="1" lang="en-US" sz="1200">
                <a:solidFill>
                  <a:srgbClr val="6B7177"/>
                </a:solidFill>
                <a:latin typeface="Inter"/>
                <a:ea typeface="Inter"/>
                <a:cs typeface="Inter"/>
                <a:sym typeface="Inter"/>
              </a:rPr>
              <a:t>measured with churn at 262 KiB</a:t>
            </a:r>
            <a:endParaRPr b="0" i="0" sz="1200" u="none" cap="none" strike="noStrike">
              <a:solidFill>
                <a:schemeClr val="dk1"/>
              </a:solidFill>
              <a:latin typeface="Calibri"/>
              <a:ea typeface="Calibri"/>
              <a:cs typeface="Calibri"/>
              <a:sym typeface="Calibri"/>
            </a:endParaRPr>
          </a:p>
        </p:txBody>
      </p:sp>
      <p:pic>
        <p:nvPicPr>
          <p:cNvPr id="255" name="Picture 254" descr="s16_meanpause.png"/>
          <p:cNvPicPr>
            <a:picLocks noChangeAspect="1"/>
          </p:cNvPicPr>
          <p:nvPr/>
        </p:nvPicPr>
        <p:blipFill>
          <a:blip r:embed="rId4"/>
          <a:stretch>
            <a:fillRect/>
          </a:stretch>
        </p:blipFill>
        <p:spPr>
          <a:xfrm>
            <a:off x="1051560" y="2743200"/>
            <a:ext cx="4572000" cy="228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8"/>
        </a:solidFill>
      </p:bgPr>
    </p:bg>
    <p:spTree>
      <p:nvGrpSpPr>
        <p:cNvPr id="259" name="Shape 259"/>
        <p:cNvGrpSpPr/>
        <p:nvPr/>
      </p:nvGrpSpPr>
      <p:grpSpPr>
        <a:xfrm>
          <a:off x="0" y="0"/>
          <a:ext cx="0" cy="0"/>
          <a:chOff x="0" y="0"/>
          <a:chExt cx="0" cy="0"/>
        </a:xfrm>
      </p:grpSpPr>
      <p:sp>
        <p:nvSpPr>
          <p:cNvPr id="260" name="Google Shape;260;p16"/>
          <p:cNvSpPr/>
          <p:nvPr/>
        </p:nvSpPr>
        <p:spPr>
          <a:xfrm>
            <a:off x="822960" y="45720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8449"/>
              </a:buClr>
              <a:buSzPts val="1200"/>
              <a:buFont typeface="Inter"/>
              <a:buNone/>
            </a:pPr>
            <a:r>
              <a:rPr b="1" i="0" lang="en-US" sz="1200" u="none" cap="none" strike="noStrike">
                <a:solidFill>
                  <a:srgbClr val="1E8449"/>
                </a:solidFill>
                <a:latin typeface="Inter"/>
                <a:ea typeface="Inter"/>
                <a:cs typeface="Inter"/>
                <a:sym typeface="Inter"/>
              </a:rPr>
              <a:t>ACT 3 · CHOOSING A COLLECTOR</a:t>
            </a:r>
            <a:endParaRPr b="0" i="0" sz="1200" u="none" cap="none" strike="noStrike">
              <a:solidFill>
                <a:schemeClr val="dk1"/>
              </a:solidFill>
              <a:latin typeface="Calibri"/>
              <a:ea typeface="Calibri"/>
              <a:cs typeface="Calibri"/>
              <a:sym typeface="Calibri"/>
            </a:endParaRPr>
          </a:p>
        </p:txBody>
      </p:sp>
      <p:sp>
        <p:nvSpPr>
          <p:cNvPr id="261" name="Google Shape;261;p16"/>
          <p:cNvSpPr/>
          <p:nvPr/>
        </p:nvSpPr>
        <p:spPr>
          <a:xfrm>
            <a:off x="822960" y="749808"/>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Inter"/>
              <a:buNone/>
            </a:pPr>
            <a:r>
              <a:rPr b="1" i="0" lang="en-US" sz="2600" u="none" cap="none" strike="noStrike">
                <a:solidFill>
                  <a:srgbClr val="1A1A1A"/>
                </a:solidFill>
                <a:latin typeface="Inter"/>
                <a:ea typeface="Inter"/>
                <a:cs typeface="Inter"/>
                <a:sym typeface="Inter"/>
              </a:rPr>
              <a:t>Decide the most important variable</a:t>
            </a:r>
            <a:endParaRPr b="0" i="0" sz="2600" u="none" cap="none" strike="noStrike">
              <a:solidFill>
                <a:schemeClr val="dk1"/>
              </a:solidFill>
              <a:latin typeface="Calibri"/>
              <a:ea typeface="Calibri"/>
              <a:cs typeface="Calibri"/>
              <a:sym typeface="Calibri"/>
            </a:endParaRPr>
          </a:p>
        </p:txBody>
      </p:sp>
      <p:sp>
        <p:nvSpPr>
          <p:cNvPr id="262" name="Google Shape;262;p16"/>
          <p:cNvSpPr/>
          <p:nvPr/>
        </p:nvSpPr>
        <p:spPr>
          <a:xfrm>
            <a:off x="815335" y="1758465"/>
            <a:ext cx="10515600" cy="1051500"/>
          </a:xfrm>
          <a:prstGeom prst="roundRect">
            <a:avLst>
              <a:gd fmla="val 6087" name="adj"/>
            </a:avLst>
          </a:prstGeom>
          <a:solidFill>
            <a:srgbClr val="FFFFFF"/>
          </a:solidFill>
          <a:ln cap="flat" cmpd="sng" w="12700">
            <a:solidFill>
              <a:srgbClr val="E2E0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6"/>
          <p:cNvSpPr/>
          <p:nvPr/>
        </p:nvSpPr>
        <p:spPr>
          <a:xfrm>
            <a:off x="1135375" y="2124225"/>
            <a:ext cx="310800" cy="310800"/>
          </a:xfrm>
          <a:prstGeom prst="ellipse">
            <a:avLst/>
          </a:prstGeom>
          <a:solidFill>
            <a:srgbClr val="1F6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6"/>
          <p:cNvSpPr/>
          <p:nvPr/>
        </p:nvSpPr>
        <p:spPr>
          <a:xfrm>
            <a:off x="1684015" y="1758465"/>
            <a:ext cx="3566100" cy="105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Inter"/>
              <a:buNone/>
            </a:pPr>
            <a:r>
              <a:rPr b="1" i="0" lang="en-US" sz="1600" u="none" cap="none" strike="noStrike">
                <a:solidFill>
                  <a:srgbClr val="1A1A1A"/>
                </a:solidFill>
                <a:latin typeface="Inter"/>
                <a:ea typeface="Inter"/>
                <a:cs typeface="Inter"/>
                <a:sym typeface="Inter"/>
              </a:rPr>
              <a:t>Tight memory + throughput</a:t>
            </a:r>
            <a:endParaRPr b="0" i="0" sz="1600" u="none" cap="none" strike="noStrike">
              <a:solidFill>
                <a:schemeClr val="dk1"/>
              </a:solidFill>
              <a:latin typeface="Calibri"/>
              <a:ea typeface="Calibri"/>
              <a:cs typeface="Calibri"/>
              <a:sym typeface="Calibri"/>
            </a:endParaRPr>
          </a:p>
        </p:txBody>
      </p:sp>
      <p:sp>
        <p:nvSpPr>
          <p:cNvPr id="265" name="Google Shape;265;p16"/>
          <p:cNvSpPr/>
          <p:nvPr/>
        </p:nvSpPr>
        <p:spPr>
          <a:xfrm>
            <a:off x="5478775" y="1758465"/>
            <a:ext cx="5486400" cy="10515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F6FB2"/>
              </a:buClr>
              <a:buSzPts val="1500"/>
              <a:buFont typeface="JetBrains Mono"/>
              <a:buNone/>
            </a:pPr>
            <a:r>
              <a:rPr b="1" i="0" lang="en-US" sz="1500" u="none" cap="none" strike="noStrike">
                <a:solidFill>
                  <a:srgbClr val="1F6FB2"/>
                </a:solidFill>
                <a:latin typeface="JetBrains Mono"/>
                <a:ea typeface="JetBrains Mono"/>
                <a:cs typeface="JetBrains Mono"/>
                <a:sym typeface="JetBrains Mono"/>
              </a:rPr>
              <a:t>mark-compact   </a:t>
            </a:r>
            <a:r>
              <a:rPr b="0" i="0" lang="en-US" sz="1500" u="none" cap="none" strike="noStrike">
                <a:solidFill>
                  <a:srgbClr val="6B7177"/>
                </a:solidFill>
                <a:latin typeface="Inter"/>
                <a:ea typeface="Inter"/>
                <a:cs typeface="Inter"/>
                <a:sym typeface="Inter"/>
              </a:rPr>
              <a:t>smallest footprint, and far faster than mark-sweep at it</a:t>
            </a:r>
            <a:endParaRPr b="0" i="0" sz="1500" u="none" cap="none" strike="noStrike">
              <a:solidFill>
                <a:schemeClr val="dk1"/>
              </a:solidFill>
              <a:latin typeface="Calibri"/>
              <a:ea typeface="Calibri"/>
              <a:cs typeface="Calibri"/>
              <a:sym typeface="Calibri"/>
            </a:endParaRPr>
          </a:p>
        </p:txBody>
      </p:sp>
      <p:sp>
        <p:nvSpPr>
          <p:cNvPr id="266" name="Google Shape;266;p16"/>
          <p:cNvSpPr/>
          <p:nvPr/>
        </p:nvSpPr>
        <p:spPr>
          <a:xfrm>
            <a:off x="815335" y="2992905"/>
            <a:ext cx="10515600" cy="1051500"/>
          </a:xfrm>
          <a:prstGeom prst="roundRect">
            <a:avLst>
              <a:gd fmla="val 6087" name="adj"/>
            </a:avLst>
          </a:prstGeom>
          <a:solidFill>
            <a:srgbClr val="FFFFFF"/>
          </a:solidFill>
          <a:ln cap="flat" cmpd="sng" w="12700">
            <a:solidFill>
              <a:srgbClr val="E2E0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6"/>
          <p:cNvSpPr/>
          <p:nvPr/>
        </p:nvSpPr>
        <p:spPr>
          <a:xfrm>
            <a:off x="1135375" y="3358665"/>
            <a:ext cx="310800" cy="310800"/>
          </a:xfrm>
          <a:prstGeom prst="ellipse">
            <a:avLst/>
          </a:prstGeom>
          <a:solidFill>
            <a:srgbClr val="1E84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6"/>
          <p:cNvSpPr/>
          <p:nvPr/>
        </p:nvSpPr>
        <p:spPr>
          <a:xfrm>
            <a:off x="1684015" y="2992905"/>
            <a:ext cx="3566100" cy="105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Inter"/>
              <a:buNone/>
            </a:pPr>
            <a:r>
              <a:rPr b="1" i="0" lang="en-US" sz="1600" u="none" cap="none" strike="noStrike">
                <a:solidFill>
                  <a:srgbClr val="1A1A1A"/>
                </a:solidFill>
                <a:latin typeface="Inter"/>
                <a:ea typeface="Inter"/>
                <a:cs typeface="Inter"/>
                <a:sym typeface="Inter"/>
              </a:rPr>
              <a:t>Latency, heap to spare</a:t>
            </a:r>
            <a:endParaRPr b="0" i="0" sz="1600" u="none" cap="none" strike="noStrike">
              <a:solidFill>
                <a:schemeClr val="dk1"/>
              </a:solidFill>
              <a:latin typeface="Calibri"/>
              <a:ea typeface="Calibri"/>
              <a:cs typeface="Calibri"/>
              <a:sym typeface="Calibri"/>
            </a:endParaRPr>
          </a:p>
        </p:txBody>
      </p:sp>
      <p:sp>
        <p:nvSpPr>
          <p:cNvPr id="269" name="Google Shape;269;p16"/>
          <p:cNvSpPr/>
          <p:nvPr/>
        </p:nvSpPr>
        <p:spPr>
          <a:xfrm>
            <a:off x="5478775" y="2992905"/>
            <a:ext cx="5486400" cy="10515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E8449"/>
              </a:buClr>
              <a:buSzPts val="1500"/>
              <a:buFont typeface="JetBrains Mono"/>
              <a:buNone/>
            </a:pPr>
            <a:r>
              <a:rPr b="1" i="0" lang="en-US" sz="1500" u="none" cap="none" strike="noStrike">
                <a:solidFill>
                  <a:srgbClr val="1E8449"/>
                </a:solidFill>
                <a:latin typeface="JetBrains Mono"/>
                <a:ea typeface="JetBrains Mono"/>
                <a:cs typeface="JetBrains Mono"/>
                <a:sym typeface="JetBrains Mono"/>
              </a:rPr>
              <a:t>cheney   </a:t>
            </a:r>
            <a:r>
              <a:rPr b="0" i="0" lang="en-US" sz="1500" u="none" cap="none" strike="noStrike">
                <a:solidFill>
                  <a:srgbClr val="6B7177"/>
                </a:solidFill>
                <a:latin typeface="Inter"/>
                <a:ea typeface="Inter"/>
                <a:cs typeface="Inter"/>
                <a:sym typeface="Inter"/>
              </a:rPr>
              <a:t>shortest pauses</a:t>
            </a:r>
            <a:r>
              <a:rPr lang="en-US" sz="1500">
                <a:solidFill>
                  <a:srgbClr val="6B7177"/>
                </a:solidFill>
                <a:latin typeface="Inter"/>
                <a:ea typeface="Inter"/>
                <a:cs typeface="Inter"/>
                <a:sym typeface="Inter"/>
              </a:rPr>
              <a:t>, needs 2x more heap</a:t>
            </a:r>
            <a:endParaRPr b="0" i="0" sz="1500" u="none" cap="none" strike="noStrike">
              <a:solidFill>
                <a:schemeClr val="dk1"/>
              </a:solidFill>
              <a:latin typeface="Calibri"/>
              <a:ea typeface="Calibri"/>
              <a:cs typeface="Calibri"/>
              <a:sym typeface="Calibri"/>
            </a:endParaRPr>
          </a:p>
        </p:txBody>
      </p:sp>
      <p:sp>
        <p:nvSpPr>
          <p:cNvPr id="270" name="Google Shape;270;p16"/>
          <p:cNvSpPr/>
          <p:nvPr/>
        </p:nvSpPr>
        <p:spPr>
          <a:xfrm>
            <a:off x="815335" y="4227345"/>
            <a:ext cx="10515600" cy="1051500"/>
          </a:xfrm>
          <a:prstGeom prst="roundRect">
            <a:avLst>
              <a:gd fmla="val 6087" name="adj"/>
            </a:avLst>
          </a:prstGeom>
          <a:solidFill>
            <a:srgbClr val="FFFFFF"/>
          </a:solidFill>
          <a:ln cap="flat" cmpd="sng" w="12700">
            <a:solidFill>
              <a:srgbClr val="E2E0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6"/>
          <p:cNvSpPr/>
          <p:nvPr/>
        </p:nvSpPr>
        <p:spPr>
          <a:xfrm>
            <a:off x="1135375" y="4593105"/>
            <a:ext cx="310800" cy="310800"/>
          </a:xfrm>
          <a:prstGeom prst="ellipse">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6"/>
          <p:cNvSpPr/>
          <p:nvPr/>
        </p:nvSpPr>
        <p:spPr>
          <a:xfrm>
            <a:off x="1684015" y="4227345"/>
            <a:ext cx="3566100" cy="105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Inter"/>
              <a:buNone/>
            </a:pPr>
            <a:r>
              <a:rPr b="1" i="0" lang="en-US" sz="1600" u="none" cap="none" strike="noStrike">
                <a:solidFill>
                  <a:srgbClr val="1A1A1A"/>
                </a:solidFill>
                <a:latin typeface="Inter"/>
                <a:ea typeface="Inter"/>
                <a:cs typeface="Inter"/>
                <a:sym typeface="Inter"/>
              </a:rPr>
              <a:t>Simplicity / non-moving</a:t>
            </a:r>
            <a:endParaRPr b="0" i="0" sz="1600" u="none" cap="none" strike="noStrike">
              <a:solidFill>
                <a:schemeClr val="dk1"/>
              </a:solidFill>
              <a:latin typeface="Calibri"/>
              <a:ea typeface="Calibri"/>
              <a:cs typeface="Calibri"/>
              <a:sym typeface="Calibri"/>
            </a:endParaRPr>
          </a:p>
        </p:txBody>
      </p:sp>
      <p:sp>
        <p:nvSpPr>
          <p:cNvPr id="273" name="Google Shape;273;p16"/>
          <p:cNvSpPr/>
          <p:nvPr/>
        </p:nvSpPr>
        <p:spPr>
          <a:xfrm>
            <a:off x="5478775" y="4227345"/>
            <a:ext cx="5486400" cy="10515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C0392B"/>
              </a:buClr>
              <a:buSzPts val="1500"/>
              <a:buFont typeface="JetBrains Mono"/>
              <a:buNone/>
            </a:pPr>
            <a:r>
              <a:rPr b="1" i="0" lang="en-US" sz="1500" u="none" cap="none" strike="noStrike">
                <a:solidFill>
                  <a:srgbClr val="C0392B"/>
                </a:solidFill>
                <a:latin typeface="JetBrains Mono"/>
                <a:ea typeface="JetBrains Mono"/>
                <a:cs typeface="JetBrains Mono"/>
                <a:sym typeface="JetBrains Mono"/>
              </a:rPr>
              <a:t>mark-sweep   </a:t>
            </a:r>
            <a:r>
              <a:rPr lang="en-US" sz="1500">
                <a:solidFill>
                  <a:srgbClr val="6B7177"/>
                </a:solidFill>
                <a:latin typeface="Inter"/>
                <a:ea typeface="Inter"/>
                <a:cs typeface="Inter"/>
                <a:sym typeface="Inter"/>
              </a:rPr>
              <a:t>simple</a:t>
            </a:r>
            <a:r>
              <a:rPr b="0" i="0" lang="en-US" sz="1500" u="none" cap="none" strike="noStrike">
                <a:solidFill>
                  <a:srgbClr val="6B7177"/>
                </a:solidFill>
                <a:latin typeface="Inter"/>
                <a:ea typeface="Inter"/>
                <a:cs typeface="Inter"/>
                <a:sym typeface="Inter"/>
              </a:rPr>
              <a:t>, but concedes throughput as the heap grows</a:t>
            </a:r>
            <a:endParaRPr b="0" i="0" sz="1500" u="none" cap="none" strike="noStrike">
              <a:solidFill>
                <a:schemeClr val="dk1"/>
              </a:solidFill>
              <a:latin typeface="Calibri"/>
              <a:ea typeface="Calibri"/>
              <a:cs typeface="Calibri"/>
              <a:sym typeface="Calibri"/>
            </a:endParaRPr>
          </a:p>
        </p:txBody>
      </p:sp>
      <p:sp>
        <p:nvSpPr>
          <p:cNvPr id="274" name="Google Shape;274;p16"/>
          <p:cNvSpPr/>
          <p:nvPr/>
        </p:nvSpPr>
        <p:spPr>
          <a:xfrm>
            <a:off x="830585" y="5461770"/>
            <a:ext cx="10515600" cy="1051500"/>
          </a:xfrm>
          <a:prstGeom prst="roundRect">
            <a:avLst>
              <a:gd fmla="val 6087" name="adj"/>
            </a:avLst>
          </a:prstGeom>
          <a:solidFill>
            <a:srgbClr val="FFFFFF"/>
          </a:solidFill>
          <a:ln cap="flat" cmpd="sng" w="12700">
            <a:solidFill>
              <a:srgbClr val="E2E0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6"/>
          <p:cNvSpPr/>
          <p:nvPr/>
        </p:nvSpPr>
        <p:spPr>
          <a:xfrm>
            <a:off x="1699265" y="5461770"/>
            <a:ext cx="3566100" cy="105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Inter"/>
              <a:buNone/>
            </a:pPr>
            <a:r>
              <a:rPr sz="1600" b="1">
                <a:solidFill>
                  <a:srgbClr val="1A1A1A"/>
                </a:solidFill>
                <a:latin typeface="Inter"/>
              </a:rPr>
              <a:t>Throughput + low pauses</a:t>
            </a:r>
            <a:endParaRPr b="0" i="0" sz="1600" u="none" cap="none" strike="noStrike">
              <a:solidFill>
                <a:schemeClr val="dk1"/>
              </a:solidFill>
              <a:latin typeface="Calibri"/>
              <a:ea typeface="Calibri"/>
              <a:cs typeface="Calibri"/>
              <a:sym typeface="Calibri"/>
            </a:endParaRPr>
          </a:p>
        </p:txBody>
      </p:sp>
      <p:sp>
        <p:nvSpPr>
          <p:cNvPr id="276" name="Google Shape;276;p16"/>
          <p:cNvSpPr/>
          <p:nvPr/>
        </p:nvSpPr>
        <p:spPr>
          <a:xfrm>
            <a:off x="5494025" y="5461770"/>
            <a:ext cx="5486400" cy="10515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C0392B"/>
              </a:buClr>
              <a:buSzPts val="1500"/>
              <a:buFont typeface="JetBrains Mono"/>
              <a:buNone/>
            </a:pPr>
            <a:r>
              <a:rPr sz="1500" b="1">
                <a:solidFill>
                  <a:srgbClr val="8E44AD"/>
                </a:solidFill>
                <a:latin typeface="JetBrains Mono"/>
              </a:rPr>
              <a:t>generational   </a:t>
            </a:r>
            <a:r>
              <a:rPr sz="1500" b="0">
                <a:solidFill>
                  <a:srgbClr val="6B7177"/>
                </a:solidFill>
                <a:latin typeface="Inter"/>
              </a:rPr>
              <a:t>matches mark-compact on space &amp; speed at the lowest typical pause; worst case is heavier</a:t>
            </a:r>
            <a:endParaRPr b="0" i="0" sz="1500" u="none" cap="none" strike="noStrike">
              <a:solidFill>
                <a:schemeClr val="dk1"/>
              </a:solidFill>
              <a:latin typeface="Calibri"/>
              <a:ea typeface="Calibri"/>
              <a:cs typeface="Calibri"/>
              <a:sym typeface="Calibri"/>
            </a:endParaRPr>
          </a:p>
        </p:txBody>
      </p:sp>
      <p:sp>
        <p:nvSpPr>
          <p:cNvPr id="277" name="Google Shape;277;p16"/>
          <p:cNvSpPr/>
          <p:nvPr/>
        </p:nvSpPr>
        <p:spPr>
          <a:xfrm>
            <a:off x="1135375" y="5836730"/>
            <a:ext cx="310800" cy="310800"/>
          </a:xfrm>
          <a:prstGeom prst="ellipse">
            <a:avLst/>
          </a:prstGeom>
          <a:solidFill>
            <a:srgbClr val="8E44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8"/>
        </a:solidFill>
      </p:bgPr>
    </p:bg>
    <p:spTree>
      <p:nvGrpSpPr>
        <p:cNvPr id="282" name="Shape 282"/>
        <p:cNvGrpSpPr/>
        <p:nvPr/>
      </p:nvGrpSpPr>
      <p:grpSpPr>
        <a:xfrm>
          <a:off x="0" y="0"/>
          <a:ext cx="0" cy="0"/>
          <a:chOff x="0" y="0"/>
          <a:chExt cx="0" cy="0"/>
        </a:xfrm>
      </p:grpSpPr>
      <p:sp>
        <p:nvSpPr>
          <p:cNvPr id="283" name="Google Shape;283;p17"/>
          <p:cNvSpPr/>
          <p:nvPr/>
        </p:nvSpPr>
        <p:spPr>
          <a:xfrm>
            <a:off x="822960" y="45720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8449"/>
              </a:buClr>
              <a:buSzPts val="1200"/>
              <a:buFont typeface="Inter"/>
              <a:buNone/>
            </a:pPr>
            <a:r>
              <a:rPr b="1" i="0" lang="en-US" sz="1200" u="none" cap="none" strike="noStrike">
                <a:solidFill>
                  <a:srgbClr val="1E8449"/>
                </a:solidFill>
                <a:latin typeface="Inter"/>
                <a:ea typeface="Inter"/>
                <a:cs typeface="Inter"/>
                <a:sym typeface="Inter"/>
              </a:rPr>
              <a:t>ACT 3 · LIMITATIONS</a:t>
            </a:r>
            <a:endParaRPr b="0" i="0" sz="1200" u="none" cap="none" strike="noStrike">
              <a:solidFill>
                <a:schemeClr val="dk1"/>
              </a:solidFill>
              <a:latin typeface="Calibri"/>
              <a:ea typeface="Calibri"/>
              <a:cs typeface="Calibri"/>
              <a:sym typeface="Calibri"/>
            </a:endParaRPr>
          </a:p>
        </p:txBody>
      </p:sp>
      <p:sp>
        <p:nvSpPr>
          <p:cNvPr id="284" name="Google Shape;284;p17"/>
          <p:cNvSpPr/>
          <p:nvPr/>
        </p:nvSpPr>
        <p:spPr>
          <a:xfrm>
            <a:off x="822960" y="749808"/>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Inter"/>
              <a:buNone/>
            </a:pPr>
            <a:r>
              <a:rPr b="1" i="0" lang="en-US" sz="2600" u="none" cap="none" strike="noStrike">
                <a:solidFill>
                  <a:srgbClr val="1A1A1A"/>
                </a:solidFill>
                <a:latin typeface="Inter"/>
                <a:ea typeface="Inter"/>
                <a:cs typeface="Inter"/>
                <a:sym typeface="Inter"/>
              </a:rPr>
              <a:t>What is the limitation?</a:t>
            </a:r>
            <a:endParaRPr b="0" i="0" sz="2600" u="none" cap="none" strike="noStrike">
              <a:solidFill>
                <a:schemeClr val="dk1"/>
              </a:solidFill>
              <a:latin typeface="Calibri"/>
              <a:ea typeface="Calibri"/>
              <a:cs typeface="Calibri"/>
              <a:sym typeface="Calibri"/>
            </a:endParaRPr>
          </a:p>
        </p:txBody>
      </p:sp>
      <p:sp>
        <p:nvSpPr>
          <p:cNvPr id="285" name="Google Shape;285;p17"/>
          <p:cNvSpPr/>
          <p:nvPr/>
        </p:nvSpPr>
        <p:spPr>
          <a:xfrm>
            <a:off x="778135" y="2514595"/>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8449"/>
              </a:buClr>
              <a:buSzPts val="2000"/>
              <a:buFont typeface="Inter"/>
              <a:buNone/>
            </a:pPr>
            <a:r>
              <a:rPr b="1" i="0" lang="en-US" sz="2000" u="none" cap="none" strike="noStrike">
                <a:solidFill>
                  <a:srgbClr val="1E8449"/>
                </a:solidFill>
                <a:latin typeface="Inter"/>
                <a:ea typeface="Inter"/>
                <a:cs typeface="Inter"/>
                <a:sym typeface="Inter"/>
              </a:rPr>
              <a:t>1</a:t>
            </a:r>
            <a:endParaRPr b="0" i="0" sz="2000" u="none" cap="none" strike="noStrike">
              <a:solidFill>
                <a:schemeClr val="dk1"/>
              </a:solidFill>
              <a:latin typeface="Calibri"/>
              <a:ea typeface="Calibri"/>
              <a:cs typeface="Calibri"/>
              <a:sym typeface="Calibri"/>
            </a:endParaRPr>
          </a:p>
        </p:txBody>
      </p:sp>
      <p:sp>
        <p:nvSpPr>
          <p:cNvPr id="286" name="Google Shape;286;p17"/>
          <p:cNvSpPr/>
          <p:nvPr/>
        </p:nvSpPr>
        <p:spPr>
          <a:xfrm>
            <a:off x="1463040" y="2148840"/>
            <a:ext cx="4023360" cy="118872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A1A1A"/>
              </a:buClr>
              <a:buSzPts val="1600"/>
              <a:buFont typeface="Inter"/>
              <a:buNone/>
            </a:pPr>
            <a:r>
              <a:rPr b="1" i="0" lang="en-US" sz="1600" u="none" cap="none" strike="noStrike">
                <a:solidFill>
                  <a:srgbClr val="1A1A1A"/>
                </a:solidFill>
                <a:latin typeface="Inter"/>
                <a:ea typeface="Inter"/>
                <a:cs typeface="Inter"/>
                <a:sym typeface="Inter"/>
              </a:rPr>
              <a:t>Optimisation held at -O0</a:t>
            </a:r>
            <a:endParaRPr b="0" i="0" sz="1600" u="none" cap="none" strike="noStrike">
              <a:solidFill>
                <a:schemeClr val="dk1"/>
              </a:solidFill>
              <a:latin typeface="Calibri"/>
              <a:ea typeface="Calibri"/>
              <a:cs typeface="Calibri"/>
              <a:sym typeface="Calibri"/>
            </a:endParaRPr>
          </a:p>
        </p:txBody>
      </p:sp>
      <p:sp>
        <p:nvSpPr>
          <p:cNvPr id="287" name="Google Shape;287;p17"/>
          <p:cNvSpPr/>
          <p:nvPr/>
        </p:nvSpPr>
        <p:spPr>
          <a:xfrm>
            <a:off x="5669280" y="2103120"/>
            <a:ext cx="6035040" cy="1280160"/>
          </a:xfrm>
          <a:prstGeom prst="rect">
            <a:avLst/>
          </a:prstGeom>
          <a:noFill/>
          <a:ln>
            <a:noFill/>
          </a:ln>
        </p:spPr>
        <p:txBody>
          <a:bodyPr anchorCtr="0" anchor="t" bIns="0" lIns="0" spcFirstLastPara="1" rIns="0" wrap="square" tIns="0">
            <a:noAutofit/>
          </a:bodyPr>
          <a:lstStyle/>
          <a:p>
            <a:pPr indent="-177800" lvl="0" marL="177800" marR="0" rtl="0" algn="l">
              <a:lnSpc>
                <a:spcPct val="153846"/>
              </a:lnSpc>
              <a:spcBef>
                <a:spcPts val="0"/>
              </a:spcBef>
              <a:spcAft>
                <a:spcPts val="0"/>
              </a:spcAft>
              <a:buClr>
                <a:srgbClr val="6B7177"/>
              </a:buClr>
              <a:buSzPts val="1300"/>
              <a:buFont typeface="Inter"/>
              <a:buChar char="•"/>
            </a:pPr>
            <a:r>
              <a:rPr b="0" i="0" lang="en-US" sz="1300" u="none" cap="none" strike="noStrike">
                <a:solidFill>
                  <a:srgbClr val="6B7177"/>
                </a:solidFill>
                <a:latin typeface="Inter"/>
                <a:ea typeface="Inter"/>
                <a:cs typeface="Inter"/>
                <a:sym typeface="Inter"/>
              </a:rPr>
              <a:t>deliberate isolation</a:t>
            </a:r>
            <a:r>
              <a:rPr lang="en-US" sz="1300">
                <a:solidFill>
                  <a:srgbClr val="6B7177"/>
                </a:solidFill>
                <a:latin typeface="Inter"/>
                <a:ea typeface="Inter"/>
                <a:cs typeface="Inter"/>
                <a:sym typeface="Inter"/>
              </a:rPr>
              <a:t>:</a:t>
            </a:r>
            <a:r>
              <a:rPr b="0" i="0" lang="en-US" sz="1300" u="none" cap="none" strike="noStrike">
                <a:solidFill>
                  <a:srgbClr val="6B7177"/>
                </a:solidFill>
                <a:latin typeface="Inter"/>
                <a:ea typeface="Inter"/>
                <a:cs typeface="Inter"/>
                <a:sym typeface="Inter"/>
              </a:rPr>
              <a:t> collector is the only variable</a:t>
            </a:r>
            <a:endParaRPr b="0" i="0" sz="1300" u="none" cap="none" strike="noStrike">
              <a:solidFill>
                <a:schemeClr val="dk1"/>
              </a:solidFill>
              <a:latin typeface="Calibri"/>
              <a:ea typeface="Calibri"/>
              <a:cs typeface="Calibri"/>
              <a:sym typeface="Calibri"/>
            </a:endParaRPr>
          </a:p>
          <a:p>
            <a:pPr indent="-177800" lvl="0" marL="177800" marR="0" rtl="0" algn="l">
              <a:lnSpc>
                <a:spcPct val="153846"/>
              </a:lnSpc>
              <a:spcBef>
                <a:spcPts val="500"/>
              </a:spcBef>
              <a:spcAft>
                <a:spcPts val="0"/>
              </a:spcAft>
              <a:buClr>
                <a:srgbClr val="6B7177"/>
              </a:buClr>
              <a:buSzPts val="1300"/>
              <a:buFont typeface="Inter"/>
              <a:buChar char="•"/>
            </a:pPr>
            <a:r>
              <a:rPr b="0" i="0" lang="en-US" sz="1300" u="none" cap="none" strike="noStrike">
                <a:solidFill>
                  <a:srgbClr val="6B7177"/>
                </a:solidFill>
                <a:latin typeface="Inter"/>
                <a:ea typeface="Inter"/>
                <a:cs typeface="Inter"/>
                <a:sym typeface="Inter"/>
              </a:rPr>
              <a:t>-</a:t>
            </a:r>
            <a:r>
              <a:rPr b="0" i="0" lang="en-US" sz="1300" u="none" cap="none" strike="noStrike">
                <a:solidFill>
                  <a:srgbClr val="6B7177"/>
                </a:solidFill>
                <a:latin typeface="Inter"/>
                <a:ea typeface="Inter"/>
                <a:cs typeface="Inter"/>
                <a:sym typeface="Inter"/>
              </a:rPr>
              <a:t>O2 helps collectors unequally</a:t>
            </a:r>
            <a:r>
              <a:rPr lang="en-US" sz="1300">
                <a:solidFill>
                  <a:srgbClr val="6B7177"/>
                </a:solidFill>
                <a:latin typeface="Inter"/>
                <a:ea typeface="Inter"/>
                <a:cs typeface="Inter"/>
                <a:sym typeface="Inter"/>
              </a:rPr>
              <a:t> (bump </a:t>
            </a:r>
            <a:r>
              <a:rPr lang="en-US" sz="1300">
                <a:solidFill>
                  <a:srgbClr val="6B7177"/>
                </a:solidFill>
                <a:latin typeface="Inter"/>
                <a:ea typeface="Inter"/>
                <a:cs typeface="Inter"/>
                <a:sym typeface="Inter"/>
              </a:rPr>
              <a:t>allocation</a:t>
            </a:r>
            <a:r>
              <a:rPr lang="en-US" sz="1300">
                <a:solidFill>
                  <a:srgbClr val="6B7177"/>
                </a:solidFill>
                <a:latin typeface="Inter"/>
                <a:ea typeface="Inter"/>
                <a:cs typeface="Inter"/>
                <a:sym typeface="Inter"/>
              </a:rPr>
              <a:t> will be helped less than free-list)</a:t>
            </a:r>
            <a:endParaRPr b="0" i="0" sz="1300" u="none" cap="none" strike="noStrike">
              <a:solidFill>
                <a:schemeClr val="dk1"/>
              </a:solidFill>
              <a:latin typeface="Calibri"/>
              <a:ea typeface="Calibri"/>
              <a:cs typeface="Calibri"/>
              <a:sym typeface="Calibri"/>
            </a:endParaRPr>
          </a:p>
          <a:p>
            <a:pPr indent="-177800" lvl="0" marL="177800" marR="0" rtl="0" algn="l">
              <a:lnSpc>
                <a:spcPct val="153846"/>
              </a:lnSpc>
              <a:spcBef>
                <a:spcPts val="500"/>
              </a:spcBef>
              <a:spcAft>
                <a:spcPts val="0"/>
              </a:spcAft>
              <a:buClr>
                <a:srgbClr val="6B7177"/>
              </a:buClr>
              <a:buSzPts val="1300"/>
              <a:buFont typeface="Inter"/>
              <a:buChar char="•"/>
            </a:pPr>
            <a:r>
              <a:rPr lang="en-US" sz="1300">
                <a:solidFill>
                  <a:srgbClr val="6B7177"/>
                </a:solidFill>
                <a:latin typeface="Inter"/>
                <a:ea typeface="Inter"/>
                <a:cs typeface="Inter"/>
                <a:sym typeface="Inter"/>
              </a:rPr>
              <a:t>the order will not change with different optimizations</a:t>
            </a:r>
            <a:endParaRPr b="0" i="0" sz="1300" u="none" cap="none" strike="noStrike">
              <a:solidFill>
                <a:schemeClr val="dk1"/>
              </a:solidFill>
              <a:latin typeface="Calibri"/>
              <a:ea typeface="Calibri"/>
              <a:cs typeface="Calibri"/>
              <a:sym typeface="Calibri"/>
            </a:endParaRPr>
          </a:p>
        </p:txBody>
      </p:sp>
      <p:sp>
        <p:nvSpPr>
          <p:cNvPr id="288" name="Google Shape;288;p17"/>
          <p:cNvSpPr/>
          <p:nvPr/>
        </p:nvSpPr>
        <p:spPr>
          <a:xfrm>
            <a:off x="822985" y="3886195"/>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8449"/>
              </a:buClr>
              <a:buSzPts val="2000"/>
              <a:buFont typeface="Inter"/>
              <a:buNone/>
            </a:pPr>
            <a:r>
              <a:rPr b="1" i="0" lang="en-US" sz="2000" u="none" cap="none" strike="noStrike">
                <a:solidFill>
                  <a:srgbClr val="1E8449"/>
                </a:solidFill>
                <a:latin typeface="Inter"/>
                <a:ea typeface="Inter"/>
                <a:cs typeface="Inter"/>
                <a:sym typeface="Inter"/>
              </a:rPr>
              <a:t>2</a:t>
            </a:r>
            <a:endParaRPr b="0" i="0" sz="2000" u="none" cap="none" strike="noStrike">
              <a:solidFill>
                <a:schemeClr val="dk1"/>
              </a:solidFill>
              <a:latin typeface="Calibri"/>
              <a:ea typeface="Calibri"/>
              <a:cs typeface="Calibri"/>
              <a:sym typeface="Calibri"/>
            </a:endParaRPr>
          </a:p>
        </p:txBody>
      </p:sp>
      <p:sp>
        <p:nvSpPr>
          <p:cNvPr id="289" name="Google Shape;289;p17"/>
          <p:cNvSpPr/>
          <p:nvPr/>
        </p:nvSpPr>
        <p:spPr>
          <a:xfrm>
            <a:off x="1463040" y="3520440"/>
            <a:ext cx="4023360" cy="118872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A1A1A"/>
              </a:buClr>
              <a:buSzPts val="1600"/>
              <a:buFont typeface="Inter"/>
              <a:buNone/>
            </a:pPr>
            <a:r>
              <a:rPr b="1" i="0" lang="en-US" sz="1600" u="none" cap="none" strike="noStrike">
                <a:solidFill>
                  <a:srgbClr val="1A1A1A"/>
                </a:solidFill>
                <a:latin typeface="Inter"/>
                <a:ea typeface="Inter"/>
                <a:cs typeface="Inter"/>
                <a:sym typeface="Inter"/>
              </a:rPr>
              <a:t>Single machine, synthetic workloads</a:t>
            </a:r>
            <a:endParaRPr b="0" i="0" sz="1600" u="none" cap="none" strike="noStrike">
              <a:solidFill>
                <a:schemeClr val="dk1"/>
              </a:solidFill>
              <a:latin typeface="Calibri"/>
              <a:ea typeface="Calibri"/>
              <a:cs typeface="Calibri"/>
              <a:sym typeface="Calibri"/>
            </a:endParaRPr>
          </a:p>
        </p:txBody>
      </p:sp>
      <p:sp>
        <p:nvSpPr>
          <p:cNvPr id="290" name="Google Shape;290;p17"/>
          <p:cNvSpPr/>
          <p:nvPr/>
        </p:nvSpPr>
        <p:spPr>
          <a:xfrm>
            <a:off x="5669275" y="3806250"/>
            <a:ext cx="6035100" cy="617100"/>
          </a:xfrm>
          <a:prstGeom prst="rect">
            <a:avLst/>
          </a:prstGeom>
          <a:noFill/>
          <a:ln>
            <a:noFill/>
          </a:ln>
        </p:spPr>
        <p:txBody>
          <a:bodyPr anchorCtr="0" anchor="t" bIns="0" lIns="0" spcFirstLastPara="1" rIns="0" wrap="square" tIns="0">
            <a:noAutofit/>
          </a:bodyPr>
          <a:lstStyle/>
          <a:p>
            <a:pPr indent="-177800" lvl="0" marL="177800" marR="0" rtl="0" algn="l">
              <a:lnSpc>
                <a:spcPct val="153846"/>
              </a:lnSpc>
              <a:spcBef>
                <a:spcPts val="0"/>
              </a:spcBef>
              <a:spcAft>
                <a:spcPts val="0"/>
              </a:spcAft>
              <a:buClr>
                <a:srgbClr val="6B7177"/>
              </a:buClr>
              <a:buSzPts val="1300"/>
              <a:buFont typeface="Inter"/>
              <a:buChar char="•"/>
            </a:pPr>
            <a:r>
              <a:rPr lang="en-US" sz="1300">
                <a:solidFill>
                  <a:srgbClr val="6B7177"/>
                </a:solidFill>
                <a:latin typeface="Inter"/>
                <a:ea typeface="Inter"/>
                <a:cs typeface="Inter"/>
                <a:sym typeface="Inter"/>
              </a:rPr>
              <a:t>run on a single M2 Pro machine</a:t>
            </a:r>
            <a:endParaRPr b="0" i="0" sz="1300" u="none" cap="none" strike="noStrike">
              <a:solidFill>
                <a:schemeClr val="dk1"/>
              </a:solidFill>
              <a:latin typeface="Calibri"/>
              <a:ea typeface="Calibri"/>
              <a:cs typeface="Calibri"/>
              <a:sym typeface="Calibri"/>
            </a:endParaRPr>
          </a:p>
          <a:p>
            <a:pPr indent="-177800" lvl="0" marL="177800" marR="0" rtl="0" algn="l">
              <a:lnSpc>
                <a:spcPct val="153846"/>
              </a:lnSpc>
              <a:spcBef>
                <a:spcPts val="500"/>
              </a:spcBef>
              <a:spcAft>
                <a:spcPts val="0"/>
              </a:spcAft>
              <a:buClr>
                <a:srgbClr val="6B7177"/>
              </a:buClr>
              <a:buSzPts val="1300"/>
              <a:buFont typeface="Inter"/>
              <a:buChar char="•"/>
            </a:pPr>
            <a:r>
              <a:rPr b="0" i="0" lang="en-US" sz="1300" u="none" cap="none" strike="noStrike">
                <a:solidFill>
                  <a:srgbClr val="6B7177"/>
                </a:solidFill>
                <a:latin typeface="Inter"/>
                <a:ea typeface="Inter"/>
                <a:cs typeface="Inter"/>
                <a:sym typeface="Inter"/>
              </a:rPr>
              <a:t>workloads isolate allocation behaviour over realism</a:t>
            </a:r>
            <a:endParaRPr b="0" i="0" sz="1300" u="none" cap="none" strike="noStrike">
              <a:solidFill>
                <a:schemeClr val="dk1"/>
              </a:solidFill>
              <a:latin typeface="Calibri"/>
              <a:ea typeface="Calibri"/>
              <a:cs typeface="Calibri"/>
              <a:sym typeface="Calibri"/>
            </a:endParaRPr>
          </a:p>
        </p:txBody>
      </p:sp>
      <p:sp>
        <p:nvSpPr>
          <p:cNvPr id="291" name="Google Shape;291;p17"/>
          <p:cNvSpPr/>
          <p:nvPr/>
        </p:nvSpPr>
        <p:spPr>
          <a:xfrm>
            <a:off x="822985" y="5257795"/>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8449"/>
              </a:buClr>
              <a:buSzPts val="2000"/>
              <a:buFont typeface="Inter"/>
              <a:buNone/>
            </a:pPr>
            <a:r>
              <a:rPr b="1" i="0" lang="en-US" sz="2000" u="none" cap="none" strike="noStrike">
                <a:solidFill>
                  <a:srgbClr val="1E8449"/>
                </a:solidFill>
                <a:latin typeface="Inter"/>
                <a:ea typeface="Inter"/>
                <a:cs typeface="Inter"/>
                <a:sym typeface="Inter"/>
              </a:rPr>
              <a:t>3</a:t>
            </a:r>
            <a:endParaRPr b="0" i="0" sz="2000" u="none" cap="none" strike="noStrike">
              <a:solidFill>
                <a:schemeClr val="dk1"/>
              </a:solidFill>
              <a:latin typeface="Calibri"/>
              <a:ea typeface="Calibri"/>
              <a:cs typeface="Calibri"/>
              <a:sym typeface="Calibri"/>
            </a:endParaRPr>
          </a:p>
        </p:txBody>
      </p:sp>
      <p:sp>
        <p:nvSpPr>
          <p:cNvPr id="292" name="Google Shape;292;p17"/>
          <p:cNvSpPr/>
          <p:nvPr/>
        </p:nvSpPr>
        <p:spPr>
          <a:xfrm>
            <a:off x="1463040" y="4892040"/>
            <a:ext cx="4023360" cy="118872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A1A1A"/>
              </a:buClr>
              <a:buSzPts val="1600"/>
              <a:buFont typeface="Inter"/>
              <a:buNone/>
            </a:pPr>
            <a:r>
              <a:rPr b="1" i="0" lang="en-US" sz="1600" u="none" cap="none" strike="noStrike">
                <a:solidFill>
                  <a:srgbClr val="1A1A1A"/>
                </a:solidFill>
                <a:latin typeface="Inter"/>
                <a:ea typeface="Inter"/>
                <a:cs typeface="Inter"/>
                <a:sym typeface="Inter"/>
              </a:rPr>
              <a:t>Stop-the-world</a:t>
            </a:r>
            <a:endParaRPr b="0" i="0" sz="1600" u="none" cap="none" strike="noStrike">
              <a:solidFill>
                <a:schemeClr val="dk1"/>
              </a:solidFill>
              <a:latin typeface="Calibri"/>
              <a:ea typeface="Calibri"/>
              <a:cs typeface="Calibri"/>
              <a:sym typeface="Calibri"/>
            </a:endParaRPr>
          </a:p>
        </p:txBody>
      </p:sp>
      <p:sp>
        <p:nvSpPr>
          <p:cNvPr id="293" name="Google Shape;293;p17"/>
          <p:cNvSpPr/>
          <p:nvPr/>
        </p:nvSpPr>
        <p:spPr>
          <a:xfrm>
            <a:off x="5669275" y="5349300"/>
            <a:ext cx="6035100" cy="274200"/>
          </a:xfrm>
          <a:prstGeom prst="rect">
            <a:avLst/>
          </a:prstGeom>
          <a:noFill/>
          <a:ln>
            <a:noFill/>
          </a:ln>
        </p:spPr>
        <p:txBody>
          <a:bodyPr anchorCtr="0" anchor="t" bIns="0" lIns="0" spcFirstLastPara="1" rIns="0" wrap="square" tIns="0">
            <a:noAutofit/>
          </a:bodyPr>
          <a:lstStyle/>
          <a:p>
            <a:pPr indent="-177800" lvl="0" marL="177800" marR="0" rtl="0" algn="l">
              <a:lnSpc>
                <a:spcPct val="153846"/>
              </a:lnSpc>
              <a:spcBef>
                <a:spcPts val="0"/>
              </a:spcBef>
              <a:spcAft>
                <a:spcPts val="0"/>
              </a:spcAft>
              <a:buClr>
                <a:srgbClr val="6B7177"/>
              </a:buClr>
              <a:buSzPts val="1300"/>
              <a:buFont typeface="Inter"/>
              <a:buChar char="•"/>
            </a:pPr>
            <a:r>
              <a:rPr b="0" i="0" lang="en-US" sz="1300" u="none" cap="none" strike="noStrike">
                <a:solidFill>
                  <a:srgbClr val="6B7177"/>
                </a:solidFill>
                <a:latin typeface="Inter"/>
                <a:ea typeface="Inter"/>
                <a:cs typeface="Inter"/>
                <a:sym typeface="Inter"/>
              </a:rPr>
              <a:t>no concurrency claims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43B"/>
        </a:solidFill>
      </p:bgPr>
    </p:bg>
    <p:spTree>
      <p:nvGrpSpPr>
        <p:cNvPr id="298" name="Shape 298"/>
        <p:cNvGrpSpPr/>
        <p:nvPr/>
      </p:nvGrpSpPr>
      <p:grpSpPr>
        <a:xfrm>
          <a:off x="0" y="0"/>
          <a:ext cx="0" cy="0"/>
          <a:chOff x="0" y="0"/>
          <a:chExt cx="0" cy="0"/>
        </a:xfrm>
      </p:grpSpPr>
      <p:sp>
        <p:nvSpPr>
          <p:cNvPr id="299" name="Google Shape;299;p18"/>
          <p:cNvSpPr/>
          <p:nvPr/>
        </p:nvSpPr>
        <p:spPr>
          <a:xfrm>
            <a:off x="822960" y="100584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DB4CC"/>
              </a:buClr>
              <a:buSzPts val="1200"/>
              <a:buFont typeface="Inter"/>
              <a:buNone/>
            </a:pPr>
            <a:r>
              <a:rPr b="1" i="0" lang="en-US" sz="1200" u="none" cap="none" strike="noStrike">
                <a:solidFill>
                  <a:srgbClr val="9DB4CC"/>
                </a:solidFill>
                <a:latin typeface="Inter"/>
                <a:ea typeface="Inter"/>
                <a:cs typeface="Inter"/>
                <a:sym typeface="Inter"/>
              </a:rPr>
              <a:t>CONCLUSION</a:t>
            </a:r>
            <a:endParaRPr b="0" i="0" sz="1200" u="none" cap="none" strike="noStrike">
              <a:solidFill>
                <a:schemeClr val="dk1"/>
              </a:solidFill>
              <a:latin typeface="Calibri"/>
              <a:ea typeface="Calibri"/>
              <a:cs typeface="Calibri"/>
              <a:sym typeface="Calibri"/>
            </a:endParaRPr>
          </a:p>
        </p:txBody>
      </p:sp>
      <p:sp>
        <p:nvSpPr>
          <p:cNvPr id="300" name="Google Shape;300;p18"/>
          <p:cNvSpPr/>
          <p:nvPr/>
        </p:nvSpPr>
        <p:spPr>
          <a:xfrm>
            <a:off x="822960" y="1417320"/>
            <a:ext cx="10515600" cy="1463040"/>
          </a:xfrm>
          <a:prstGeom prst="rect">
            <a:avLst/>
          </a:prstGeom>
          <a:noFill/>
          <a:ln>
            <a:noFill/>
          </a:ln>
        </p:spPr>
        <p:txBody>
          <a:bodyPr anchorCtr="0" anchor="ctr" bIns="0" lIns="0" spcFirstLastPara="1" rIns="0" wrap="square" tIns="0">
            <a:noAutofit/>
          </a:bodyPr>
          <a:lstStyle/>
          <a:p>
            <a:pPr indent="0" lvl="0" marL="0" marR="0" rtl="0" algn="l">
              <a:lnSpc>
                <a:spcPct val="128571"/>
              </a:lnSpc>
              <a:spcBef>
                <a:spcPts val="0"/>
              </a:spcBef>
              <a:spcAft>
                <a:spcPts val="0"/>
              </a:spcAft>
              <a:buClr>
                <a:srgbClr val="FFFFFF"/>
              </a:buClr>
              <a:buSzPts val="2800"/>
              <a:buFont typeface="Inter"/>
              <a:buNone/>
            </a:pPr>
            <a:r>
              <a:rPr b="1" i="0" lang="en-US" sz="2800" u="none" cap="none" strike="noStrike">
                <a:solidFill>
                  <a:srgbClr val="FFFFFF"/>
                </a:solidFill>
                <a:latin typeface="Inter"/>
                <a:ea typeface="Inter"/>
                <a:cs typeface="Inter"/>
                <a:sym typeface="Inter"/>
              </a:rPr>
              <a:t>No collector wins on every axis</a:t>
            </a:r>
            <a:endParaRPr b="0" i="0" sz="2800" u="none" cap="none" strike="noStrike">
              <a:solidFill>
                <a:schemeClr val="dk1"/>
              </a:solidFill>
              <a:latin typeface="Calibri"/>
              <a:ea typeface="Calibri"/>
              <a:cs typeface="Calibri"/>
              <a:sym typeface="Calibri"/>
            </a:endParaRPr>
          </a:p>
        </p:txBody>
      </p:sp>
      <p:sp>
        <p:nvSpPr>
          <p:cNvPr id="301" name="Google Shape;301;p18"/>
          <p:cNvSpPr/>
          <p:nvPr/>
        </p:nvSpPr>
        <p:spPr>
          <a:xfrm>
            <a:off x="822960" y="3291840"/>
            <a:ext cx="1005840" cy="548640"/>
          </a:xfrm>
          <a:prstGeom prst="roundRect">
            <a:avLst>
              <a:gd fmla="val 8333"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8"/>
          <p:cNvSpPr/>
          <p:nvPr/>
        </p:nvSpPr>
        <p:spPr>
          <a:xfrm>
            <a:off x="822960" y="3291840"/>
            <a:ext cx="10058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Inter"/>
              <a:buNone/>
            </a:pPr>
            <a:r>
              <a:rPr b="1" i="0" lang="en-US" sz="1600" u="none" cap="none" strike="noStrike">
                <a:solidFill>
                  <a:srgbClr val="FFFFFF"/>
                </a:solidFill>
                <a:latin typeface="Inter"/>
                <a:ea typeface="Inter"/>
                <a:cs typeface="Inter"/>
                <a:sym typeface="Inter"/>
              </a:rPr>
              <a:t>RQ1</a:t>
            </a:r>
            <a:endParaRPr b="0" i="0" sz="1600" u="none" cap="none" strike="noStrike">
              <a:solidFill>
                <a:schemeClr val="dk1"/>
              </a:solidFill>
              <a:latin typeface="Calibri"/>
              <a:ea typeface="Calibri"/>
              <a:cs typeface="Calibri"/>
              <a:sym typeface="Calibri"/>
            </a:endParaRPr>
          </a:p>
        </p:txBody>
      </p:sp>
      <p:sp>
        <p:nvSpPr>
          <p:cNvPr id="303" name="Google Shape;303;p18"/>
          <p:cNvSpPr/>
          <p:nvPr/>
        </p:nvSpPr>
        <p:spPr>
          <a:xfrm>
            <a:off x="2057400" y="3291840"/>
            <a:ext cx="9326880" cy="548640"/>
          </a:xfrm>
          <a:prstGeom prst="rect">
            <a:avLst/>
          </a:prstGeom>
          <a:noFill/>
          <a:ln>
            <a:noFill/>
          </a:ln>
        </p:spPr>
        <p:txBody>
          <a:bodyPr anchorCtr="0" anchor="ctr" bIns="0" lIns="0" spcFirstLastPara="1" rIns="0" wrap="square" tIns="0">
            <a:noAutofit/>
          </a:bodyPr>
          <a:lstStyle/>
          <a:p>
            <a:pPr indent="0" lvl="0" marL="0" marR="0" rtl="0" algn="l">
              <a:lnSpc>
                <a:spcPct val="126666"/>
              </a:lnSpc>
              <a:spcBef>
                <a:spcPts val="0"/>
              </a:spcBef>
              <a:spcAft>
                <a:spcPts val="0"/>
              </a:spcAft>
              <a:buClr>
                <a:srgbClr val="E8EEF5"/>
              </a:buClr>
              <a:buSzPts val="1500"/>
              <a:buFont typeface="Inter"/>
              <a:buNone/>
            </a:pPr>
            <a:r>
              <a:rPr b="0" i="0" lang="en-US" sz="1500" u="none" cap="none" strike="noStrike">
                <a:solidFill>
                  <a:srgbClr val="E8EEF5"/>
                </a:solidFill>
                <a:latin typeface="Inter"/>
                <a:ea typeface="Inter"/>
                <a:cs typeface="Inter"/>
                <a:sym typeface="Inter"/>
              </a:rPr>
              <a:t>moving &amp; generational collectors win throughput up to 7.6×; the gap is a free-list allocation cost, proven by elimination</a:t>
            </a:r>
            <a:endParaRPr b="0" i="0" sz="1500" u="none" cap="none" strike="noStrike">
              <a:solidFill>
                <a:schemeClr val="dk1"/>
              </a:solidFill>
              <a:latin typeface="Calibri"/>
              <a:ea typeface="Calibri"/>
              <a:cs typeface="Calibri"/>
              <a:sym typeface="Calibri"/>
            </a:endParaRPr>
          </a:p>
        </p:txBody>
      </p:sp>
      <p:sp>
        <p:nvSpPr>
          <p:cNvPr id="304" name="Google Shape;304;p18"/>
          <p:cNvSpPr/>
          <p:nvPr/>
        </p:nvSpPr>
        <p:spPr>
          <a:xfrm>
            <a:off x="822960" y="4023360"/>
            <a:ext cx="1005840" cy="548640"/>
          </a:xfrm>
          <a:prstGeom prst="roundRect">
            <a:avLst>
              <a:gd fmla="val 8333" name="adj"/>
            </a:avLst>
          </a:prstGeom>
          <a:solidFill>
            <a:srgbClr val="1E84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8"/>
          <p:cNvSpPr/>
          <p:nvPr/>
        </p:nvSpPr>
        <p:spPr>
          <a:xfrm>
            <a:off x="822960" y="4023360"/>
            <a:ext cx="10058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Inter"/>
              <a:buNone/>
            </a:pPr>
            <a:r>
              <a:rPr b="1" i="0" lang="en-US" sz="1600" u="none" cap="none" strike="noStrike">
                <a:solidFill>
                  <a:srgbClr val="FFFFFF"/>
                </a:solidFill>
                <a:latin typeface="Inter"/>
                <a:ea typeface="Inter"/>
                <a:cs typeface="Inter"/>
                <a:sym typeface="Inter"/>
              </a:rPr>
              <a:t>RQ2</a:t>
            </a:r>
            <a:endParaRPr b="0" i="0" sz="1600" u="none" cap="none" strike="noStrike">
              <a:solidFill>
                <a:schemeClr val="dk1"/>
              </a:solidFill>
              <a:latin typeface="Calibri"/>
              <a:ea typeface="Calibri"/>
              <a:cs typeface="Calibri"/>
              <a:sym typeface="Calibri"/>
            </a:endParaRPr>
          </a:p>
        </p:txBody>
      </p:sp>
      <p:sp>
        <p:nvSpPr>
          <p:cNvPr id="306" name="Google Shape;306;p18"/>
          <p:cNvSpPr/>
          <p:nvPr/>
        </p:nvSpPr>
        <p:spPr>
          <a:xfrm>
            <a:off x="2057400" y="4023360"/>
            <a:ext cx="9326880" cy="548640"/>
          </a:xfrm>
          <a:prstGeom prst="rect">
            <a:avLst/>
          </a:prstGeom>
          <a:noFill/>
          <a:ln>
            <a:noFill/>
          </a:ln>
        </p:spPr>
        <p:txBody>
          <a:bodyPr anchorCtr="0" anchor="ctr" bIns="0" lIns="0" spcFirstLastPara="1" rIns="0" wrap="square" tIns="0">
            <a:noAutofit/>
          </a:bodyPr>
          <a:lstStyle/>
          <a:p>
            <a:pPr indent="0" lvl="0" marL="0" marR="0" rtl="0" algn="l">
              <a:lnSpc>
                <a:spcPct val="126666"/>
              </a:lnSpc>
              <a:spcBef>
                <a:spcPts val="0"/>
              </a:spcBef>
              <a:spcAft>
                <a:spcPts val="0"/>
              </a:spcAft>
              <a:buClr>
                <a:srgbClr val="E8EEF5"/>
              </a:buClr>
              <a:buSzPts val="1500"/>
              <a:buFont typeface="Inter"/>
              <a:buNone/>
            </a:pPr>
            <a:r>
              <a:rPr b="0" i="0" lang="en-US" sz="1500" u="none" cap="none" strike="noStrike">
                <a:solidFill>
                  <a:srgbClr val="E8EEF5"/>
                </a:solidFill>
                <a:latin typeface="Inter"/>
                <a:ea typeface="Inter"/>
                <a:cs typeface="Inter"/>
                <a:sym typeface="Inter"/>
              </a:rPr>
              <a:t>Cheney's pauses smallest, mark-compact's largest</a:t>
            </a:r>
            <a:endParaRPr b="0" i="0" sz="1500" u="none" cap="none" strike="noStrike">
              <a:solidFill>
                <a:schemeClr val="dk1"/>
              </a:solidFill>
              <a:latin typeface="Calibri"/>
              <a:ea typeface="Calibri"/>
              <a:cs typeface="Calibri"/>
              <a:sym typeface="Calibri"/>
            </a:endParaRPr>
          </a:p>
        </p:txBody>
      </p:sp>
      <p:sp>
        <p:nvSpPr>
          <p:cNvPr id="307" name="Google Shape;307;p18"/>
          <p:cNvSpPr/>
          <p:nvPr/>
        </p:nvSpPr>
        <p:spPr>
          <a:xfrm>
            <a:off x="822960" y="4754880"/>
            <a:ext cx="1005840" cy="548640"/>
          </a:xfrm>
          <a:prstGeom prst="roundRect">
            <a:avLst>
              <a:gd fmla="val 8333" name="adj"/>
            </a:avLst>
          </a:prstGeom>
          <a:solidFill>
            <a:srgbClr val="1F6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8"/>
          <p:cNvSpPr/>
          <p:nvPr/>
        </p:nvSpPr>
        <p:spPr>
          <a:xfrm>
            <a:off x="822960" y="4754880"/>
            <a:ext cx="10059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Inter"/>
              <a:buNone/>
            </a:pPr>
            <a:r>
              <a:rPr b="1" i="0" lang="en-US" sz="1600" u="none" cap="none" strike="noStrike">
                <a:solidFill>
                  <a:srgbClr val="FFFFFF"/>
                </a:solidFill>
                <a:latin typeface="Inter"/>
                <a:ea typeface="Inter"/>
                <a:cs typeface="Inter"/>
                <a:sym typeface="Inter"/>
              </a:rPr>
              <a:t>RQ3</a:t>
            </a:r>
            <a:endParaRPr b="0" i="0" sz="1600" u="none" cap="none" strike="noStrike">
              <a:solidFill>
                <a:schemeClr val="dk1"/>
              </a:solidFill>
              <a:latin typeface="Calibri"/>
              <a:ea typeface="Calibri"/>
              <a:cs typeface="Calibri"/>
              <a:sym typeface="Calibri"/>
            </a:endParaRPr>
          </a:p>
        </p:txBody>
      </p:sp>
      <p:sp>
        <p:nvSpPr>
          <p:cNvPr id="309" name="Google Shape;309;p18"/>
          <p:cNvSpPr/>
          <p:nvPr/>
        </p:nvSpPr>
        <p:spPr>
          <a:xfrm>
            <a:off x="2057400" y="4754880"/>
            <a:ext cx="9326880" cy="548640"/>
          </a:xfrm>
          <a:prstGeom prst="rect">
            <a:avLst/>
          </a:prstGeom>
          <a:noFill/>
          <a:ln>
            <a:noFill/>
          </a:ln>
        </p:spPr>
        <p:txBody>
          <a:bodyPr anchorCtr="0" anchor="ctr" bIns="0" lIns="0" spcFirstLastPara="1" rIns="0" wrap="square" tIns="0">
            <a:noAutofit/>
          </a:bodyPr>
          <a:lstStyle/>
          <a:p>
            <a:pPr indent="0" lvl="0" marL="0" marR="0" rtl="0" algn="l">
              <a:lnSpc>
                <a:spcPct val="126666"/>
              </a:lnSpc>
              <a:spcBef>
                <a:spcPts val="0"/>
              </a:spcBef>
              <a:spcAft>
                <a:spcPts val="0"/>
              </a:spcAft>
              <a:buClr>
                <a:srgbClr val="E8EEF5"/>
              </a:buClr>
              <a:buSzPts val="1500"/>
              <a:buFont typeface="Inter"/>
              <a:buNone/>
            </a:pPr>
            <a:r>
              <a:rPr b="0" i="0" lang="en-US" sz="1500" u="none" cap="none" strike="noStrike">
                <a:solidFill>
                  <a:srgbClr val="E8EEF5"/>
                </a:solidFill>
                <a:latin typeface="Inter"/>
                <a:ea typeface="Inter"/>
                <a:cs typeface="Inter"/>
                <a:sym typeface="Inter"/>
              </a:rPr>
              <a:t>non-moving &amp; generational collectors share the tightest heap; Cheney pays up to a doubling</a:t>
            </a:r>
            <a:endParaRPr b="0" i="0" sz="1500" u="none" cap="none" strike="noStrike">
              <a:solidFill>
                <a:schemeClr val="dk1"/>
              </a:solidFill>
              <a:latin typeface="Calibri"/>
              <a:ea typeface="Calibri"/>
              <a:cs typeface="Calibri"/>
              <a:sym typeface="Calibri"/>
            </a:endParaRPr>
          </a:p>
        </p:txBody>
      </p:sp>
      <p:sp>
        <p:nvSpPr>
          <p:cNvPr id="310" name="Google Shape;310;p18"/>
          <p:cNvSpPr/>
          <p:nvPr/>
        </p:nvSpPr>
        <p:spPr>
          <a:xfrm>
            <a:off x="822960" y="5486455"/>
            <a:ext cx="1005900" cy="548700"/>
          </a:xfrm>
          <a:prstGeom prst="roundRect">
            <a:avLst>
              <a:gd fmla="val 8333" name="adj"/>
            </a:avLst>
          </a:prstGeom>
          <a:solidFill>
            <a:srgbClr val="8E44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8"/>
          <p:cNvSpPr/>
          <p:nvPr/>
        </p:nvSpPr>
        <p:spPr>
          <a:xfrm>
            <a:off x="822960" y="5486455"/>
            <a:ext cx="10059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Inter"/>
              <a:buNone/>
            </a:pPr>
            <a:r>
              <a:rPr b="1" i="0" lang="en-US" sz="1600" u="none" cap="none" strike="noStrike">
                <a:solidFill>
                  <a:srgbClr val="FFFFFF"/>
                </a:solidFill>
                <a:latin typeface="Inter"/>
                <a:ea typeface="Inter"/>
                <a:cs typeface="Inter"/>
                <a:sym typeface="Inter"/>
              </a:rPr>
              <a:t>RQ</a:t>
            </a:r>
            <a:r>
              <a:rPr b="1" lang="en-US" sz="1600">
                <a:solidFill>
                  <a:srgbClr val="FFFFFF"/>
                </a:solidFill>
                <a:latin typeface="Inter"/>
                <a:ea typeface="Inter"/>
                <a:cs typeface="Inter"/>
                <a:sym typeface="Inter"/>
              </a:rPr>
              <a:t>4</a:t>
            </a:r>
            <a:endParaRPr b="0" i="0" sz="1600" u="none" cap="none" strike="noStrike">
              <a:solidFill>
                <a:schemeClr val="dk1"/>
              </a:solidFill>
              <a:latin typeface="Calibri"/>
              <a:ea typeface="Calibri"/>
              <a:cs typeface="Calibri"/>
              <a:sym typeface="Calibri"/>
            </a:endParaRPr>
          </a:p>
        </p:txBody>
      </p:sp>
      <p:sp>
        <p:nvSpPr>
          <p:cNvPr id="312" name="Google Shape;312;p18"/>
          <p:cNvSpPr/>
          <p:nvPr/>
        </p:nvSpPr>
        <p:spPr>
          <a:xfrm>
            <a:off x="2057400" y="5486455"/>
            <a:ext cx="9327000" cy="548700"/>
          </a:xfrm>
          <a:prstGeom prst="rect">
            <a:avLst/>
          </a:prstGeom>
          <a:noFill/>
          <a:ln>
            <a:noFill/>
          </a:ln>
        </p:spPr>
        <p:txBody>
          <a:bodyPr anchorCtr="0" anchor="ctr" bIns="0" lIns="0" spcFirstLastPara="1" rIns="0" wrap="square" tIns="0">
            <a:noAutofit/>
          </a:bodyPr>
          <a:lstStyle/>
          <a:p>
            <a:pPr indent="0" lvl="0" marL="0" marR="0" rtl="0" algn="l">
              <a:lnSpc>
                <a:spcPct val="126666"/>
              </a:lnSpc>
              <a:spcBef>
                <a:spcPts val="0"/>
              </a:spcBef>
              <a:spcAft>
                <a:spcPts val="0"/>
              </a:spcAft>
              <a:buClr>
                <a:srgbClr val="E8EEF5"/>
              </a:buClr>
              <a:buSzPts val="1500"/>
              <a:buFont typeface="Inter"/>
              <a:buNone/>
            </a:pPr>
            <a:r>
              <a:rPr sz="1500" b="0">
                <a:solidFill>
                  <a:srgbClr val="E8EEF5"/>
                </a:solidFill>
                <a:latin typeface="Inter"/>
              </a:rPr>
              <a:t>matches the moving collectors' throughput and the non-moving footprint at the lowest typical pause; its worst-case pause is heavy-tailed</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nchor="t" lIns="0" rIns="0" tIns="0" bIns="0">
            <a:spAutoFit/>
          </a:bodyPr>
          <a:lstStyle/>
          <a:p>
            <a:pPr algn="l"/>
            <a:r>
              <a:rPr sz="1200" b="1">
                <a:solidFill>
                  <a:srgbClr val="9AA0A6"/>
                </a:solidFill>
                <a:latin typeface="Inter"/>
              </a:rPr>
              <a:t>BACKUP · FOR QUESTIONS</a:t>
            </a:r>
          </a:p>
        </p:txBody>
      </p:sp>
      <p:sp>
        <p:nvSpPr>
          <p:cNvPr id="3" name="TextBox 2"/>
          <p:cNvSpPr txBox="1"/>
          <p:nvPr/>
        </p:nvSpPr>
        <p:spPr>
          <a:xfrm>
            <a:off x="731520" y="640080"/>
            <a:ext cx="10515600" cy="502920"/>
          </a:xfrm>
          <a:prstGeom prst="rect">
            <a:avLst/>
          </a:prstGeom>
          <a:noFill/>
        </p:spPr>
        <p:txBody>
          <a:bodyPr wrap="square" anchor="t" lIns="0" rIns="0" tIns="0" bIns="0">
            <a:spAutoFit/>
          </a:bodyPr>
          <a:lstStyle/>
          <a:p>
            <a:pPr algn="l"/>
            <a:r>
              <a:rPr sz="2400" b="1">
                <a:solidFill>
                  <a:srgbClr val="1A1A1A"/>
                </a:solidFill>
                <a:latin typeface="Inter"/>
              </a:rPr>
              <a:t>All averaged metrics</a:t>
            </a:r>
          </a:p>
        </p:txBody>
      </p:sp>
      <p:sp>
        <p:nvSpPr>
          <p:cNvPr id="4" name="TextBox 3"/>
          <p:cNvSpPr txBox="1"/>
          <p:nvPr/>
        </p:nvSpPr>
        <p:spPr>
          <a:xfrm>
            <a:off x="731520" y="1170432"/>
            <a:ext cx="10607040" cy="274320"/>
          </a:xfrm>
          <a:prstGeom prst="rect">
            <a:avLst/>
          </a:prstGeom>
          <a:noFill/>
        </p:spPr>
        <p:txBody>
          <a:bodyPr wrap="square" anchor="t" lIns="0" rIns="0" tIns="0" bIns="0">
            <a:spAutoFit/>
          </a:bodyPr>
          <a:lstStyle/>
          <a:p>
            <a:pPr algn="l"/>
            <a:r>
              <a:rPr sz="1200" b="0">
                <a:solidFill>
                  <a:srgbClr val="6B7177"/>
                </a:solidFill>
                <a:latin typeface="Inter"/>
              </a:rPr>
              <a:t>Per collector × workload at the 262 KiB budget · mean over </a:t>
            </a:r>
            <a:r>
              <a:rPr sz="1200" b="1">
                <a:solidFill>
                  <a:srgbClr val="6B7177"/>
                </a:solidFill>
                <a:latin typeface="Inter"/>
              </a:rPr>
              <a:t>n = 8</a:t>
            </a:r>
            <a:r>
              <a:rPr sz="1200" b="0">
                <a:solidFill>
                  <a:srgbClr val="6B7177"/>
                </a:solidFill>
                <a:latin typeface="Inter"/>
              </a:rPr>
              <a:t> seeds.</a:t>
            </a:r>
          </a:p>
        </p:txBody>
      </p:sp>
      <p:graphicFrame>
        <p:nvGraphicFramePr>
          <p:cNvPr id="5" name="Table 4"/>
          <p:cNvGraphicFramePr>
            <a:graphicFrameLocks noGrp="1"/>
          </p:cNvGraphicFramePr>
          <p:nvPr/>
        </p:nvGraphicFramePr>
        <p:xfrm>
          <a:off x="731520" y="1554480"/>
          <a:ext cx="10780776" cy="4663440"/>
        </p:xfrm>
        <a:graphic>
          <a:graphicData uri="http://schemas.openxmlformats.org/drawingml/2006/table">
            <a:tbl>
              <a:tblPr>
                <a:tableStyleId>{5C22544A-7EE6-4342-B048-85BDC9FD1C3A}</a:tableStyleId>
              </a:tblPr>
              <a:tblGrid>
                <a:gridCol w="1143000"/>
                <a:gridCol w="1371600"/>
                <a:gridCol w="603504"/>
                <a:gridCol w="786384"/>
                <a:gridCol w="786384"/>
                <a:gridCol w="676656"/>
                <a:gridCol w="822960"/>
                <a:gridCol w="841248"/>
                <a:gridCol w="822960"/>
                <a:gridCol w="950976"/>
                <a:gridCol w="896112"/>
                <a:gridCol w="1078992"/>
              </a:tblGrid>
              <a:tr h="274320">
                <a:tc>
                  <a:txBody>
                    <a:bodyPr wrap="square" anchor="ctr" lIns="0" rIns="0" tIns="0" bIns="0"/>
                    <a:lstStyle/>
                    <a:p>
                      <a:pPr algn="l"/>
                      <a:r>
                        <a:rPr sz="900" b="1">
                          <a:solidFill>
                            <a:srgbClr val="FFFFFF"/>
                          </a:solidFill>
                          <a:latin typeface="Inter"/>
                        </a:rPr>
                        <a:t>Workload</a:t>
                      </a:r>
                    </a:p>
                  </a:txBody>
                  <a:tcPr marL="36576" marR="36576" marT="0" marB="0" anchor="ctr">
                    <a:solidFill>
                      <a:srgbClr val="12243B"/>
                    </a:solidFill>
                  </a:tcPr>
                </a:tc>
                <a:tc>
                  <a:txBody>
                    <a:bodyPr wrap="square" anchor="ctr" lIns="0" rIns="0" tIns="0" bIns="0"/>
                    <a:lstStyle/>
                    <a:p>
                      <a:pPr algn="l"/>
                      <a:r>
                        <a:rPr sz="900" b="1">
                          <a:solidFill>
                            <a:srgbClr val="FFFFFF"/>
                          </a:solidFill>
                          <a:latin typeface="Inter"/>
                        </a:rPr>
                        <a:t>Collector</a:t>
                      </a:r>
                    </a:p>
                  </a:txBody>
                  <a:tcPr marL="36576" marR="36576" marT="0" marB="0" anchor="ctr">
                    <a:solidFill>
                      <a:srgbClr val="12243B"/>
                    </a:solidFill>
                  </a:tcPr>
                </a:tc>
                <a:tc>
                  <a:txBody>
                    <a:bodyPr wrap="square" anchor="ctr" lIns="0" rIns="0" tIns="0" bIns="0"/>
                    <a:lstStyle/>
                    <a:p>
                      <a:pPr algn="ctr"/>
                      <a:r>
                        <a:rPr sz="900" b="1">
                          <a:solidFill>
                            <a:srgbClr val="FFFFFF"/>
                          </a:solidFill>
                          <a:latin typeface="Inter"/>
                        </a:rPr>
                        <a:t>Colls</a:t>
                      </a:r>
                    </a:p>
                  </a:txBody>
                  <a:tcPr marL="36576" marR="36576" marT="0" marB="0" anchor="ctr">
                    <a:solidFill>
                      <a:srgbClr val="12243B"/>
                    </a:solidFill>
                  </a:tcPr>
                </a:tc>
                <a:tc>
                  <a:txBody>
                    <a:bodyPr wrap="square" anchor="ctr" lIns="0" rIns="0" tIns="0" bIns="0"/>
                    <a:lstStyle/>
                    <a:p>
                      <a:pPr algn="ctr"/>
                      <a:r>
                        <a:rPr sz="900" b="1">
                          <a:solidFill>
                            <a:srgbClr val="FFFFFF"/>
                          </a:solidFill>
                          <a:latin typeface="Inter"/>
                        </a:rPr>
                        <a:t>Run (ms)</a:t>
                      </a:r>
                    </a:p>
                  </a:txBody>
                  <a:tcPr marL="36576" marR="36576" marT="0" marB="0" anchor="ctr">
                    <a:solidFill>
                      <a:srgbClr val="12243B"/>
                    </a:solidFill>
                  </a:tcPr>
                </a:tc>
                <a:tc>
                  <a:txBody>
                    <a:bodyPr wrap="square" anchor="ctr" lIns="0" rIns="0" tIns="0" bIns="0"/>
                    <a:lstStyle/>
                    <a:p>
                      <a:pPr algn="ctr"/>
                      <a:r>
                        <a:rPr sz="900" b="1">
                          <a:solidFill>
                            <a:srgbClr val="FFFFFF"/>
                          </a:solidFill>
                          <a:latin typeface="Inter"/>
                        </a:rPr>
                        <a:t>GC (ms)</a:t>
                      </a:r>
                    </a:p>
                  </a:txBody>
                  <a:tcPr marL="36576" marR="36576" marT="0" marB="0" anchor="ctr">
                    <a:solidFill>
                      <a:srgbClr val="12243B"/>
                    </a:solidFill>
                  </a:tcPr>
                </a:tc>
                <a:tc>
                  <a:txBody>
                    <a:bodyPr wrap="square" anchor="ctr" lIns="0" rIns="0" tIns="0" bIns="0"/>
                    <a:lstStyle/>
                    <a:p>
                      <a:pPr algn="ctr"/>
                      <a:r>
                        <a:rPr sz="900" b="1">
                          <a:solidFill>
                            <a:srgbClr val="FFFFFF"/>
                          </a:solidFill>
                          <a:latin typeface="Inter"/>
                        </a:rPr>
                        <a:t>GC (%)</a:t>
                      </a:r>
                    </a:p>
                  </a:txBody>
                  <a:tcPr marL="36576" marR="36576" marT="0" marB="0" anchor="ctr">
                    <a:solidFill>
                      <a:srgbClr val="12243B"/>
                    </a:solidFill>
                  </a:tcPr>
                </a:tc>
                <a:tc>
                  <a:txBody>
                    <a:bodyPr wrap="square" anchor="ctr" lIns="0" rIns="0" tIns="0" bIns="0"/>
                    <a:lstStyle/>
                    <a:p>
                      <a:pPr algn="ctr"/>
                      <a:r>
                        <a:rPr sz="900" b="1">
                          <a:solidFill>
                            <a:srgbClr val="FFFFFF"/>
                          </a:solidFill>
                          <a:latin typeface="Inter"/>
                        </a:rPr>
                        <a:t>Mean (µs)</a:t>
                      </a:r>
                    </a:p>
                  </a:txBody>
                  <a:tcPr marL="36576" marR="36576" marT="0" marB="0" anchor="ctr">
                    <a:solidFill>
                      <a:srgbClr val="12243B"/>
                    </a:solidFill>
                  </a:tcPr>
                </a:tc>
                <a:tc>
                  <a:txBody>
                    <a:bodyPr wrap="square" anchor="ctr" lIns="0" rIns="0" tIns="0" bIns="0"/>
                    <a:lstStyle/>
                    <a:p>
                      <a:pPr algn="ctr"/>
                      <a:r>
                        <a:rPr sz="900" b="1">
                          <a:solidFill>
                            <a:srgbClr val="FFFFFF"/>
                          </a:solidFill>
                          <a:latin typeface="Inter"/>
                        </a:rPr>
                        <a:t>Max (µs)</a:t>
                      </a:r>
                    </a:p>
                  </a:txBody>
                  <a:tcPr marL="36576" marR="36576" marT="0" marB="0" anchor="ctr">
                    <a:solidFill>
                      <a:srgbClr val="12243B"/>
                    </a:solidFill>
                  </a:tcPr>
                </a:tc>
                <a:tc>
                  <a:txBody>
                    <a:bodyPr wrap="square" anchor="ctr" lIns="0" rIns="0" tIns="0" bIns="0"/>
                    <a:lstStyle/>
                    <a:p>
                      <a:pPr algn="ctr"/>
                      <a:r>
                        <a:rPr sz="900" b="1">
                          <a:solidFill>
                            <a:srgbClr val="FFFFFF"/>
                          </a:solidFill>
                          <a:latin typeface="Inter"/>
                        </a:rPr>
                        <a:t>p99 (µs)</a:t>
                      </a:r>
                    </a:p>
                  </a:txBody>
                  <a:tcPr marL="36576" marR="36576" marT="0" marB="0" anchor="ctr">
                    <a:solidFill>
                      <a:srgbClr val="12243B"/>
                    </a:solidFill>
                  </a:tcPr>
                </a:tc>
                <a:tc>
                  <a:txBody>
                    <a:bodyPr wrap="square" anchor="ctr" lIns="0" rIns="0" tIns="0" bIns="0"/>
                    <a:lstStyle/>
                    <a:p>
                      <a:pPr algn="ctr"/>
                      <a:r>
                        <a:rPr sz="900" b="1">
                          <a:solidFill>
                            <a:srgbClr val="FFFFFF"/>
                          </a:solidFill>
                          <a:latin typeface="Inter"/>
                        </a:rPr>
                        <a:t>Moved (KiB)</a:t>
                      </a:r>
                    </a:p>
                  </a:txBody>
                  <a:tcPr marL="36576" marR="36576" marT="0" marB="0" anchor="ctr">
                    <a:solidFill>
                      <a:srgbClr val="12243B"/>
                    </a:solidFill>
                  </a:tcPr>
                </a:tc>
                <a:tc>
                  <a:txBody>
                    <a:bodyPr wrap="square" anchor="ctr" lIns="0" rIns="0" tIns="0" bIns="0"/>
                    <a:lstStyle/>
                    <a:p>
                      <a:pPr algn="ctr"/>
                      <a:r>
                        <a:rPr sz="900" b="1">
                          <a:solidFill>
                            <a:srgbClr val="FFFFFF"/>
                          </a:solidFill>
                          <a:latin typeface="Inter"/>
                        </a:rPr>
                        <a:t>Alloc (MiB)</a:t>
                      </a:r>
                    </a:p>
                  </a:txBody>
                  <a:tcPr marL="36576" marR="36576" marT="0" marB="0" anchor="ctr">
                    <a:solidFill>
                      <a:srgbClr val="12243B"/>
                    </a:solidFill>
                  </a:tcPr>
                </a:tc>
                <a:tc>
                  <a:txBody>
                    <a:bodyPr wrap="square" anchor="ctr" lIns="0" rIns="0" tIns="0" bIns="0"/>
                    <a:lstStyle/>
                    <a:p>
                      <a:pPr algn="ctr"/>
                      <a:r>
                        <a:rPr sz="900" b="1">
                          <a:solidFill>
                            <a:srgbClr val="FFFFFF"/>
                          </a:solidFill>
                          <a:latin typeface="Inter"/>
                        </a:rPr>
                        <a:t>Peak live (KiB)</a:t>
                      </a:r>
                    </a:p>
                  </a:txBody>
                  <a:tcPr marL="36576" marR="36576" marT="0" marB="0" anchor="ctr">
                    <a:solidFill>
                      <a:srgbClr val="12243B"/>
                    </a:solidFill>
                  </a:tcPr>
                </a:tc>
              </a:tr>
              <a:tr h="274320">
                <a:tc>
                  <a:txBody>
                    <a:bodyPr wrap="square" anchor="ctr" lIns="0" rIns="0" tIns="0" bIns="0"/>
                    <a:lstStyle/>
                    <a:p>
                      <a:pPr algn="l"/>
                      <a:r>
                        <a:rPr sz="900" b="1">
                          <a:solidFill>
                            <a:srgbClr val="6B7177"/>
                          </a:solidFill>
                          <a:latin typeface="Inter"/>
                        </a:rPr>
                        <a:t>churn</a:t>
                      </a:r>
                    </a:p>
                  </a:txBody>
                  <a:tcPr marL="36576" marR="36576" marT="0" marB="0" anchor="ctr">
                    <a:solidFill>
                      <a:srgbClr val="F1F0EC"/>
                    </a:solidFill>
                  </a:tcPr>
                </a:tc>
                <a:tc>
                  <a:txBody>
                    <a:bodyPr wrap="square" anchor="ctr" lIns="0" rIns="0" tIns="0" bIns="0"/>
                    <a:lstStyle/>
                    <a:p>
                      <a:pPr algn="l"/>
                      <a:r>
                        <a:rPr sz="900" b="1">
                          <a:solidFill>
                            <a:srgbClr val="C0392B"/>
                          </a:solidFill>
                          <a:latin typeface="JetBrains Mono"/>
                        </a:rPr>
                        <a:t>mark-sweep</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28</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54.4</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0.45</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0.8</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16.4</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21.4</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21.4</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0</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6.87</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5.2</a:t>
                      </a:r>
                    </a:p>
                  </a:txBody>
                  <a:tcPr marL="36576" marR="36576" marT="0" marB="0" anchor="ctr">
                    <a:solidFill>
                      <a:srgbClr val="F1F0EC"/>
                    </a:solidFill>
                  </a:tcPr>
                </a:tc>
              </a:tr>
              <a:tr h="274320">
                <a:tc>
                  <a:txBody>
                    <a:bodyPr wrap="square" anchor="ctr" lIns="0" rIns="0" tIns="0" bIns="0"/>
                    <a:lstStyle/>
                    <a:p>
                      <a:pPr algn="l"/>
                      <a:r>
                        <a:rPr sz="900" b="1">
                          <a:solidFill>
                            <a:srgbClr val="6B7177"/>
                          </a:solidFill>
                          <a:latin typeface="Inter"/>
                        </a:rPr>
                        <a:t/>
                      </a:r>
                    </a:p>
                  </a:txBody>
                  <a:tcPr marL="36576" marR="36576" marT="0" marB="0" anchor="ctr">
                    <a:solidFill>
                      <a:srgbClr val="F1F0EC"/>
                    </a:solidFill>
                  </a:tcPr>
                </a:tc>
                <a:tc>
                  <a:txBody>
                    <a:bodyPr wrap="square" anchor="ctr" lIns="0" rIns="0" tIns="0" bIns="0"/>
                    <a:lstStyle/>
                    <a:p>
                      <a:pPr algn="l"/>
                      <a:r>
                        <a:rPr sz="900" b="1">
                          <a:solidFill>
                            <a:srgbClr val="1F6FB2"/>
                          </a:solidFill>
                          <a:latin typeface="JetBrains Mono"/>
                        </a:rPr>
                        <a:t>mark-compact</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28</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13.8</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1.27</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9.2</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46.0</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55.1</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55.1</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47</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6.87</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5.1</a:t>
                      </a:r>
                    </a:p>
                  </a:txBody>
                  <a:tcPr marL="36576" marR="36576" marT="0" marB="0" anchor="ctr">
                    <a:solidFill>
                      <a:srgbClr val="F1F0EC"/>
                    </a:solidFill>
                  </a:tcPr>
                </a:tc>
              </a:tr>
              <a:tr h="274320">
                <a:tc>
                  <a:txBody>
                    <a:bodyPr wrap="square" anchor="ctr" lIns="0" rIns="0" tIns="0" bIns="0"/>
                    <a:lstStyle/>
                    <a:p>
                      <a:pPr algn="l"/>
                      <a:r>
                        <a:rPr sz="900" b="1">
                          <a:solidFill>
                            <a:srgbClr val="6B7177"/>
                          </a:solidFill>
                          <a:latin typeface="Inter"/>
                        </a:rPr>
                        <a:t/>
                      </a:r>
                    </a:p>
                  </a:txBody>
                  <a:tcPr marL="36576" marR="36576" marT="0" marB="0" anchor="ctr">
                    <a:solidFill>
                      <a:srgbClr val="F1F0EC"/>
                    </a:solidFill>
                  </a:tcPr>
                </a:tc>
                <a:tc>
                  <a:txBody>
                    <a:bodyPr wrap="square" anchor="ctr" lIns="0" rIns="0" tIns="0" bIns="0"/>
                    <a:lstStyle/>
                    <a:p>
                      <a:pPr algn="l"/>
                      <a:r>
                        <a:rPr sz="900" b="1">
                          <a:solidFill>
                            <a:srgbClr val="1E8449"/>
                          </a:solidFill>
                          <a:latin typeface="JetBrains Mono"/>
                        </a:rPr>
                        <a:t>cheney</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57</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12.7</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0.06</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0.5</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1.0</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2.4</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2.4</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284</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6.87</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5.1</a:t>
                      </a:r>
                    </a:p>
                  </a:txBody>
                  <a:tcPr marL="36576" marR="36576" marT="0" marB="0" anchor="ctr">
                    <a:solidFill>
                      <a:srgbClr val="F1F0EC"/>
                    </a:solidFill>
                  </a:tcPr>
                </a:tc>
              </a:tr>
              <a:tr h="274320">
                <a:tc>
                  <a:txBody>
                    <a:bodyPr wrap="square" anchor="ctr" lIns="0" rIns="0" tIns="0" bIns="0"/>
                    <a:lstStyle/>
                    <a:p>
                      <a:pPr algn="l"/>
                      <a:r>
                        <a:rPr sz="900" b="1">
                          <a:solidFill>
                            <a:srgbClr val="6B7177"/>
                          </a:solidFill>
                          <a:latin typeface="Inter"/>
                        </a:rPr>
                        <a:t/>
                      </a:r>
                    </a:p>
                  </a:txBody>
                  <a:tcPr marL="36576" marR="36576" marT="0" marB="0" anchor="ctr">
                    <a:solidFill>
                      <a:srgbClr val="F1F0EC"/>
                    </a:solidFill>
                  </a:tcPr>
                </a:tc>
                <a:tc>
                  <a:txBody>
                    <a:bodyPr wrap="square" anchor="ctr" lIns="0" rIns="0" tIns="0" bIns="0"/>
                    <a:lstStyle/>
                    <a:p>
                      <a:pPr algn="l"/>
                      <a:r>
                        <a:rPr sz="900" b="1">
                          <a:solidFill>
                            <a:srgbClr val="8E44AD"/>
                          </a:solidFill>
                          <a:latin typeface="JetBrains Mono"/>
                        </a:rPr>
                        <a:t>generational</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93</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14.0</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1.33</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9.4</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14.5</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47.6</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42.0</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161</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6.87</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128.2</a:t>
                      </a:r>
                    </a:p>
                  </a:txBody>
                  <a:tcPr marL="36576" marR="36576" marT="0" marB="0" anchor="ctr">
                    <a:solidFill>
                      <a:srgbClr val="F1F0EC"/>
                    </a:solidFill>
                  </a:tcPr>
                </a:tc>
              </a:tr>
              <a:tr h="274320">
                <a:tc>
                  <a:txBody>
                    <a:bodyPr wrap="square" anchor="ctr" lIns="0" rIns="0" tIns="0" bIns="0"/>
                    <a:lstStyle/>
                    <a:p>
                      <a:pPr algn="l"/>
                      <a:r>
                        <a:rPr sz="900" b="1">
                          <a:solidFill>
                            <a:srgbClr val="6B7177"/>
                          </a:solidFill>
                          <a:latin typeface="Inter"/>
                        </a:rPr>
                        <a:t>density</a:t>
                      </a:r>
                    </a:p>
                  </a:txBody>
                  <a:tcPr marL="36576" marR="36576" marT="0" marB="0" anchor="ctr">
                    <a:solidFill>
                      <a:srgbClr val="FAFAF8"/>
                    </a:solidFill>
                  </a:tcPr>
                </a:tc>
                <a:tc>
                  <a:txBody>
                    <a:bodyPr wrap="square" anchor="ctr" lIns="0" rIns="0" tIns="0" bIns="0"/>
                    <a:lstStyle/>
                    <a:p>
                      <a:pPr algn="l"/>
                      <a:r>
                        <a:rPr sz="900" b="1">
                          <a:solidFill>
                            <a:srgbClr val="C0392B"/>
                          </a:solidFill>
                          <a:latin typeface="JetBrains Mono"/>
                        </a:rPr>
                        <a:t>mark-sweep</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28</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200.9</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0.48</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0.2</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17.3</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23.1</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23.1</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0</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6.87</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7.1</a:t>
                      </a:r>
                    </a:p>
                  </a:txBody>
                  <a:tcPr marL="36576" marR="36576" marT="0" marB="0" anchor="ctr">
                    <a:solidFill>
                      <a:srgbClr val="FAFAF8"/>
                    </a:solidFill>
                  </a:tcPr>
                </a:tc>
              </a:tr>
              <a:tr h="274320">
                <a:tc>
                  <a:txBody>
                    <a:bodyPr wrap="square" anchor="ctr" lIns="0" rIns="0" tIns="0" bIns="0"/>
                    <a:lstStyle/>
                    <a:p>
                      <a:pPr algn="l"/>
                      <a:r>
                        <a:rPr sz="900" b="1">
                          <a:solidFill>
                            <a:srgbClr val="6B7177"/>
                          </a:solidFill>
                          <a:latin typeface="Inter"/>
                        </a:rPr>
                        <a:t/>
                      </a:r>
                    </a:p>
                  </a:txBody>
                  <a:tcPr marL="36576" marR="36576" marT="0" marB="0" anchor="ctr">
                    <a:solidFill>
                      <a:srgbClr val="FAFAF8"/>
                    </a:solidFill>
                  </a:tcPr>
                </a:tc>
                <a:tc>
                  <a:txBody>
                    <a:bodyPr wrap="square" anchor="ctr" lIns="0" rIns="0" tIns="0" bIns="0"/>
                    <a:lstStyle/>
                    <a:p>
                      <a:pPr algn="l"/>
                      <a:r>
                        <a:rPr sz="900" b="1">
                          <a:solidFill>
                            <a:srgbClr val="1F6FB2"/>
                          </a:solidFill>
                          <a:latin typeface="JetBrains Mono"/>
                        </a:rPr>
                        <a:t>mark-compact</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28</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163.9</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1.35</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0.8</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48.7</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61.2</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61.2</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48</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6.87</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7.1</a:t>
                      </a:r>
                    </a:p>
                  </a:txBody>
                  <a:tcPr marL="36576" marR="36576" marT="0" marB="0" anchor="ctr">
                    <a:solidFill>
                      <a:srgbClr val="FAFAF8"/>
                    </a:solidFill>
                  </a:tcPr>
                </a:tc>
              </a:tr>
              <a:tr h="274320">
                <a:tc>
                  <a:txBody>
                    <a:bodyPr wrap="square" anchor="ctr" lIns="0" rIns="0" tIns="0" bIns="0"/>
                    <a:lstStyle/>
                    <a:p>
                      <a:pPr algn="l"/>
                      <a:r>
                        <a:rPr sz="900" b="1">
                          <a:solidFill>
                            <a:srgbClr val="6B7177"/>
                          </a:solidFill>
                          <a:latin typeface="Inter"/>
                        </a:rPr>
                        <a:t/>
                      </a:r>
                    </a:p>
                  </a:txBody>
                  <a:tcPr marL="36576" marR="36576" marT="0" marB="0" anchor="ctr">
                    <a:solidFill>
                      <a:srgbClr val="FAFAF8"/>
                    </a:solidFill>
                  </a:tcPr>
                </a:tc>
                <a:tc>
                  <a:txBody>
                    <a:bodyPr wrap="square" anchor="ctr" lIns="0" rIns="0" tIns="0" bIns="0"/>
                    <a:lstStyle/>
                    <a:p>
                      <a:pPr algn="l"/>
                      <a:r>
                        <a:rPr sz="900" b="1">
                          <a:solidFill>
                            <a:srgbClr val="1E8449"/>
                          </a:solidFill>
                          <a:latin typeface="JetBrains Mono"/>
                        </a:rPr>
                        <a:t>cheney</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58</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164.2</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0.17</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0.1</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2.9</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7.4</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7.4</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407</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6.87</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7.1</a:t>
                      </a:r>
                    </a:p>
                  </a:txBody>
                  <a:tcPr marL="36576" marR="36576" marT="0" marB="0" anchor="ctr">
                    <a:solidFill>
                      <a:srgbClr val="FAFAF8"/>
                    </a:solidFill>
                  </a:tcPr>
                </a:tc>
              </a:tr>
              <a:tr h="274320">
                <a:tc>
                  <a:txBody>
                    <a:bodyPr wrap="square" anchor="ctr" lIns="0" rIns="0" tIns="0" bIns="0"/>
                    <a:lstStyle/>
                    <a:p>
                      <a:pPr algn="l"/>
                      <a:r>
                        <a:rPr sz="900" b="1">
                          <a:solidFill>
                            <a:srgbClr val="6B7177"/>
                          </a:solidFill>
                          <a:latin typeface="Inter"/>
                        </a:rPr>
                        <a:t/>
                      </a:r>
                    </a:p>
                  </a:txBody>
                  <a:tcPr marL="36576" marR="36576" marT="0" marB="0" anchor="ctr">
                    <a:solidFill>
                      <a:srgbClr val="FAFAF8"/>
                    </a:solidFill>
                  </a:tcPr>
                </a:tc>
                <a:tc>
                  <a:txBody>
                    <a:bodyPr wrap="square" anchor="ctr" lIns="0" rIns="0" tIns="0" bIns="0"/>
                    <a:lstStyle/>
                    <a:p>
                      <a:pPr algn="l"/>
                      <a:r>
                        <a:rPr sz="900" b="1">
                          <a:solidFill>
                            <a:srgbClr val="8E44AD"/>
                          </a:solidFill>
                          <a:latin typeface="JetBrains Mono"/>
                        </a:rPr>
                        <a:t>generational</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94</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167.6</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1.39</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0.8</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15.2</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54.9</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51.2</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162</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6.87</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127.6</a:t>
                      </a:r>
                    </a:p>
                  </a:txBody>
                  <a:tcPr marL="36576" marR="36576" marT="0" marB="0" anchor="ctr">
                    <a:solidFill>
                      <a:srgbClr val="FAFAF8"/>
                    </a:solidFill>
                  </a:tcPr>
                </a:tc>
              </a:tr>
              <a:tr h="274320">
                <a:tc>
                  <a:txBody>
                    <a:bodyPr wrap="square" anchor="ctr" lIns="0" rIns="0" tIns="0" bIns="0"/>
                    <a:lstStyle/>
                    <a:p>
                      <a:pPr algn="l"/>
                      <a:r>
                        <a:rPr sz="900" b="1">
                          <a:solidFill>
                            <a:srgbClr val="6B7177"/>
                          </a:solidFill>
                          <a:latin typeface="Inter"/>
                        </a:rPr>
                        <a:t>longlived</a:t>
                      </a:r>
                    </a:p>
                  </a:txBody>
                  <a:tcPr marL="36576" marR="36576" marT="0" marB="0" anchor="ctr">
                    <a:solidFill>
                      <a:srgbClr val="F1F0EC"/>
                    </a:solidFill>
                  </a:tcPr>
                </a:tc>
                <a:tc>
                  <a:txBody>
                    <a:bodyPr wrap="square" anchor="ctr" lIns="0" rIns="0" tIns="0" bIns="0"/>
                    <a:lstStyle/>
                    <a:p>
                      <a:pPr algn="l"/>
                      <a:r>
                        <a:rPr sz="900" b="1">
                          <a:solidFill>
                            <a:srgbClr val="C0392B"/>
                          </a:solidFill>
                          <a:latin typeface="JetBrains Mono"/>
                        </a:rPr>
                        <a:t>mark-sweep</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32</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75.5</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0.80</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1.1</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24.9</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32.8</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32.8</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0</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6.90</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41.2</a:t>
                      </a:r>
                    </a:p>
                  </a:txBody>
                  <a:tcPr marL="36576" marR="36576" marT="0" marB="0" anchor="ctr">
                    <a:solidFill>
                      <a:srgbClr val="F1F0EC"/>
                    </a:solidFill>
                  </a:tcPr>
                </a:tc>
              </a:tr>
              <a:tr h="274320">
                <a:tc>
                  <a:txBody>
                    <a:bodyPr wrap="square" anchor="ctr" lIns="0" rIns="0" tIns="0" bIns="0"/>
                    <a:lstStyle/>
                    <a:p>
                      <a:pPr algn="l"/>
                      <a:r>
                        <a:rPr sz="900" b="1">
                          <a:solidFill>
                            <a:srgbClr val="6B7177"/>
                          </a:solidFill>
                          <a:latin typeface="Inter"/>
                        </a:rPr>
                        <a:t/>
                      </a:r>
                    </a:p>
                  </a:txBody>
                  <a:tcPr marL="36576" marR="36576" marT="0" marB="0" anchor="ctr">
                    <a:solidFill>
                      <a:srgbClr val="F1F0EC"/>
                    </a:solidFill>
                  </a:tcPr>
                </a:tc>
                <a:tc>
                  <a:txBody>
                    <a:bodyPr wrap="square" anchor="ctr" lIns="0" rIns="0" tIns="0" bIns="0"/>
                    <a:lstStyle/>
                    <a:p>
                      <a:pPr algn="l"/>
                      <a:r>
                        <a:rPr sz="900" b="1">
                          <a:solidFill>
                            <a:srgbClr val="1F6FB2"/>
                          </a:solidFill>
                          <a:latin typeface="JetBrains Mono"/>
                        </a:rPr>
                        <a:t>mark-compact</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32</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10.9</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1.98</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18.2</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61.5</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72.6</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72.6</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4</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6.90</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41.2</a:t>
                      </a:r>
                    </a:p>
                  </a:txBody>
                  <a:tcPr marL="36576" marR="36576" marT="0" marB="0" anchor="ctr">
                    <a:solidFill>
                      <a:srgbClr val="F1F0EC"/>
                    </a:solidFill>
                  </a:tcPr>
                </a:tc>
              </a:tr>
              <a:tr h="274320">
                <a:tc>
                  <a:txBody>
                    <a:bodyPr wrap="square" anchor="ctr" lIns="0" rIns="0" tIns="0" bIns="0"/>
                    <a:lstStyle/>
                    <a:p>
                      <a:pPr algn="l"/>
                      <a:r>
                        <a:rPr sz="900" b="1">
                          <a:solidFill>
                            <a:srgbClr val="6B7177"/>
                          </a:solidFill>
                          <a:latin typeface="Inter"/>
                        </a:rPr>
                        <a:t/>
                      </a:r>
                    </a:p>
                  </a:txBody>
                  <a:tcPr marL="36576" marR="36576" marT="0" marB="0" anchor="ctr">
                    <a:solidFill>
                      <a:srgbClr val="F1F0EC"/>
                    </a:solidFill>
                  </a:tcPr>
                </a:tc>
                <a:tc>
                  <a:txBody>
                    <a:bodyPr wrap="square" anchor="ctr" lIns="0" rIns="0" tIns="0" bIns="0"/>
                    <a:lstStyle/>
                    <a:p>
                      <a:pPr algn="l"/>
                      <a:r>
                        <a:rPr sz="900" b="1">
                          <a:solidFill>
                            <a:srgbClr val="1E8449"/>
                          </a:solidFill>
                          <a:latin typeface="JetBrains Mono"/>
                        </a:rPr>
                        <a:t>cheney</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81</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10.4</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1.21</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11.7</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15.0</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23.4</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23.4</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3319</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6.90</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41.2</a:t>
                      </a:r>
                    </a:p>
                  </a:txBody>
                  <a:tcPr marL="36576" marR="36576" marT="0" marB="0" anchor="ctr">
                    <a:solidFill>
                      <a:srgbClr val="F1F0EC"/>
                    </a:solidFill>
                  </a:tcPr>
                </a:tc>
              </a:tr>
              <a:tr h="274320">
                <a:tc>
                  <a:txBody>
                    <a:bodyPr wrap="square" anchor="ctr" lIns="0" rIns="0" tIns="0" bIns="0"/>
                    <a:lstStyle/>
                    <a:p>
                      <a:pPr algn="l"/>
                      <a:r>
                        <a:rPr sz="900" b="1">
                          <a:solidFill>
                            <a:srgbClr val="6B7177"/>
                          </a:solidFill>
                          <a:latin typeface="Inter"/>
                        </a:rPr>
                        <a:t/>
                      </a:r>
                    </a:p>
                  </a:txBody>
                  <a:tcPr marL="36576" marR="36576" marT="0" marB="0" anchor="ctr">
                    <a:solidFill>
                      <a:srgbClr val="F1F0EC"/>
                    </a:solidFill>
                  </a:tcPr>
                </a:tc>
                <a:tc>
                  <a:txBody>
                    <a:bodyPr wrap="square" anchor="ctr" lIns="0" rIns="0" tIns="0" bIns="0"/>
                    <a:lstStyle/>
                    <a:p>
                      <a:pPr algn="l"/>
                      <a:r>
                        <a:rPr sz="900" b="1">
                          <a:solidFill>
                            <a:srgbClr val="8E44AD"/>
                          </a:solidFill>
                          <a:latin typeface="JetBrains Mono"/>
                        </a:rPr>
                        <a:t>generational</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110</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9.9</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0.91</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9.2</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8.3</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739.9</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3.1</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56</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6.90</a:t>
                      </a:r>
                    </a:p>
                  </a:txBody>
                  <a:tcPr marL="36576" marR="36576" marT="0" marB="0" anchor="ctr">
                    <a:solidFill>
                      <a:srgbClr val="F1F0EC"/>
                    </a:solidFill>
                  </a:tcPr>
                </a:tc>
                <a:tc>
                  <a:txBody>
                    <a:bodyPr wrap="square" anchor="ctr" lIns="0" rIns="0" tIns="0" bIns="0"/>
                    <a:lstStyle/>
                    <a:p>
                      <a:pPr algn="ctr"/>
                      <a:r>
                        <a:rPr sz="900" b="0">
                          <a:solidFill>
                            <a:srgbClr val="1A1A1A"/>
                          </a:solidFill>
                          <a:latin typeface="Inter"/>
                        </a:rPr>
                        <a:t>56.5</a:t>
                      </a:r>
                    </a:p>
                  </a:txBody>
                  <a:tcPr marL="36576" marR="36576" marT="0" marB="0" anchor="ctr">
                    <a:solidFill>
                      <a:srgbClr val="F1F0EC"/>
                    </a:solidFill>
                  </a:tcPr>
                </a:tc>
              </a:tr>
              <a:tr h="274320">
                <a:tc>
                  <a:txBody>
                    <a:bodyPr wrap="square" anchor="ctr" lIns="0" rIns="0" tIns="0" bIns="0"/>
                    <a:lstStyle/>
                    <a:p>
                      <a:pPr algn="l"/>
                      <a:r>
                        <a:rPr sz="900" b="1">
                          <a:solidFill>
                            <a:srgbClr val="6B7177"/>
                          </a:solidFill>
                          <a:latin typeface="Inter"/>
                        </a:rPr>
                        <a:t>mutate</a:t>
                      </a:r>
                    </a:p>
                  </a:txBody>
                  <a:tcPr marL="36576" marR="36576" marT="0" marB="0" anchor="ctr">
                    <a:solidFill>
                      <a:srgbClr val="FAFAF8"/>
                    </a:solidFill>
                  </a:tcPr>
                </a:tc>
                <a:tc>
                  <a:txBody>
                    <a:bodyPr wrap="square" anchor="ctr" lIns="0" rIns="0" tIns="0" bIns="0"/>
                    <a:lstStyle/>
                    <a:p>
                      <a:pPr algn="l"/>
                      <a:r>
                        <a:rPr sz="900" b="1">
                          <a:solidFill>
                            <a:srgbClr val="C0392B"/>
                          </a:solidFill>
                          <a:latin typeface="JetBrains Mono"/>
                        </a:rPr>
                        <a:t>mark-sweep</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6</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30.0</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0.16</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0.5</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25.7</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27.8</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27.8</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0</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1.62</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16.6</a:t>
                      </a:r>
                    </a:p>
                  </a:txBody>
                  <a:tcPr marL="36576" marR="36576" marT="0" marB="0" anchor="ctr">
                    <a:solidFill>
                      <a:srgbClr val="FAFAF8"/>
                    </a:solidFill>
                  </a:tcPr>
                </a:tc>
              </a:tr>
              <a:tr h="274320">
                <a:tc>
                  <a:txBody>
                    <a:bodyPr wrap="square" anchor="ctr" lIns="0" rIns="0" tIns="0" bIns="0"/>
                    <a:lstStyle/>
                    <a:p>
                      <a:pPr algn="l"/>
                      <a:r>
                        <a:rPr sz="900" b="1">
                          <a:solidFill>
                            <a:srgbClr val="6B7177"/>
                          </a:solidFill>
                          <a:latin typeface="Inter"/>
                        </a:rPr>
                        <a:t/>
                      </a:r>
                    </a:p>
                  </a:txBody>
                  <a:tcPr marL="36576" marR="36576" marT="0" marB="0" anchor="ctr">
                    <a:solidFill>
                      <a:srgbClr val="FAFAF8"/>
                    </a:solidFill>
                  </a:tcPr>
                </a:tc>
                <a:tc>
                  <a:txBody>
                    <a:bodyPr wrap="square" anchor="ctr" lIns="0" rIns="0" tIns="0" bIns="0"/>
                    <a:lstStyle/>
                    <a:p>
                      <a:pPr algn="l"/>
                      <a:r>
                        <a:rPr sz="900" b="1">
                          <a:solidFill>
                            <a:srgbClr val="1F6FB2"/>
                          </a:solidFill>
                          <a:latin typeface="JetBrains Mono"/>
                        </a:rPr>
                        <a:t>mark-compact</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6</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18.1</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0.39</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2.2</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64.4</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71.5</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71.5</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46</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1.62</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16.6</a:t>
                      </a:r>
                    </a:p>
                  </a:txBody>
                  <a:tcPr marL="36576" marR="36576" marT="0" marB="0" anchor="ctr">
                    <a:solidFill>
                      <a:srgbClr val="FAFAF8"/>
                    </a:solidFill>
                  </a:tcPr>
                </a:tc>
              </a:tr>
              <a:tr h="274320">
                <a:tc>
                  <a:txBody>
                    <a:bodyPr wrap="square" anchor="ctr" lIns="0" rIns="0" tIns="0" bIns="0"/>
                    <a:lstStyle/>
                    <a:p>
                      <a:pPr algn="l"/>
                      <a:r>
                        <a:rPr sz="900" b="1">
                          <a:solidFill>
                            <a:srgbClr val="6B7177"/>
                          </a:solidFill>
                          <a:latin typeface="Inter"/>
                        </a:rPr>
                        <a:t/>
                      </a:r>
                    </a:p>
                  </a:txBody>
                  <a:tcPr marL="36576" marR="36576" marT="0" marB="0" anchor="ctr">
                    <a:solidFill>
                      <a:srgbClr val="FAFAF8"/>
                    </a:solidFill>
                  </a:tcPr>
                </a:tc>
                <a:tc>
                  <a:txBody>
                    <a:bodyPr wrap="square" anchor="ctr" lIns="0" rIns="0" tIns="0" bIns="0"/>
                    <a:lstStyle/>
                    <a:p>
                      <a:pPr algn="l"/>
                      <a:r>
                        <a:rPr sz="900" b="1">
                          <a:solidFill>
                            <a:srgbClr val="1E8449"/>
                          </a:solidFill>
                          <a:latin typeface="JetBrains Mono"/>
                        </a:rPr>
                        <a:t>cheney</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14</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18.4</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0.15</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0.8</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10.6</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14.8</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14.8</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237</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1.62</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16.6</a:t>
                      </a:r>
                    </a:p>
                  </a:txBody>
                  <a:tcPr marL="36576" marR="36576" marT="0" marB="0" anchor="ctr">
                    <a:solidFill>
                      <a:srgbClr val="FAFAF8"/>
                    </a:solidFill>
                  </a:tcPr>
                </a:tc>
              </a:tr>
              <a:tr h="274320">
                <a:tc>
                  <a:txBody>
                    <a:bodyPr wrap="square" anchor="ctr" lIns="0" rIns="0" tIns="0" bIns="0"/>
                    <a:lstStyle/>
                    <a:p>
                      <a:pPr algn="l"/>
                      <a:r>
                        <a:rPr sz="900" b="1">
                          <a:solidFill>
                            <a:srgbClr val="6B7177"/>
                          </a:solidFill>
                          <a:latin typeface="Inter"/>
                        </a:rPr>
                        <a:t/>
                      </a:r>
                    </a:p>
                  </a:txBody>
                  <a:tcPr marL="36576" marR="36576" marT="0" marB="0" anchor="ctr">
                    <a:solidFill>
                      <a:srgbClr val="FAFAF8"/>
                    </a:solidFill>
                  </a:tcPr>
                </a:tc>
                <a:tc>
                  <a:txBody>
                    <a:bodyPr wrap="square" anchor="ctr" lIns="0" rIns="0" tIns="0" bIns="0"/>
                    <a:lstStyle/>
                    <a:p>
                      <a:pPr algn="l"/>
                      <a:r>
                        <a:rPr sz="900" b="1">
                          <a:solidFill>
                            <a:srgbClr val="8E44AD"/>
                          </a:solidFill>
                          <a:latin typeface="JetBrains Mono"/>
                        </a:rPr>
                        <a:t>generational</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21</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19.6</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1.58</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8.0</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73.8</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486.1</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486.1</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169</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1.62</a:t>
                      </a:r>
                    </a:p>
                  </a:txBody>
                  <a:tcPr marL="36576" marR="36576" marT="0" marB="0" anchor="ctr">
                    <a:solidFill>
                      <a:srgbClr val="FAFAF8"/>
                    </a:solidFill>
                  </a:tcPr>
                </a:tc>
                <a:tc>
                  <a:txBody>
                    <a:bodyPr wrap="square" anchor="ctr" lIns="0" rIns="0" tIns="0" bIns="0"/>
                    <a:lstStyle/>
                    <a:p>
                      <a:pPr algn="ctr"/>
                      <a:r>
                        <a:rPr sz="900" b="0">
                          <a:solidFill>
                            <a:srgbClr val="1A1A1A"/>
                          </a:solidFill>
                          <a:latin typeface="Inter"/>
                        </a:rPr>
                        <a:t>129.3</a:t>
                      </a:r>
                    </a:p>
                  </a:txBody>
                  <a:tcPr marL="36576" marR="36576" marT="0" marB="0" anchor="ctr">
                    <a:solidFill>
                      <a:srgbClr val="FAFAF8"/>
                    </a:solidFill>
                  </a:tcPr>
                </a:tc>
              </a:tr>
            </a:tbl>
          </a:graphicData>
        </a:graphic>
      </p:graphicFrame>
      <p:sp>
        <p:nvSpPr>
          <p:cNvPr id="6" name="TextBox 5"/>
          <p:cNvSpPr txBox="1"/>
          <p:nvPr/>
        </p:nvSpPr>
        <p:spPr>
          <a:xfrm>
            <a:off x="731520" y="6419088"/>
            <a:ext cx="10607040" cy="365760"/>
          </a:xfrm>
          <a:prstGeom prst="rect">
            <a:avLst/>
          </a:prstGeom>
          <a:noFill/>
        </p:spPr>
        <p:txBody>
          <a:bodyPr wrap="square" anchor="t" lIns="0" rIns="0" tIns="0" bIns="0">
            <a:spAutoFit/>
          </a:bodyPr>
          <a:lstStyle/>
          <a:p>
            <a:pPr algn="l"/>
            <a:r>
              <a:rPr sz="950" b="0">
                <a:solidFill>
                  <a:srgbClr val="9AA0A6"/>
                </a:solidFill>
                <a:latin typeface="Inter"/>
              </a:rPr>
              <a:t>Baseline omitted — it OOMs at 262 KiB (completes only at the 8 MiB anchor). </a:t>
            </a:r>
            <a:r>
              <a:rPr sz="950" b="1">
                <a:solidFill>
                  <a:srgbClr val="9AA0A6"/>
                </a:solidFill>
                <a:latin typeface="Inter"/>
              </a:rPr>
              <a:t>Moved</a:t>
            </a:r>
            <a:r>
              <a:rPr sz="950" b="0">
                <a:solidFill>
                  <a:srgbClr val="9AA0A6"/>
                </a:solidFill>
                <a:latin typeface="Inter"/>
              </a:rPr>
              <a:t> = cumulative bytes copied.  </a:t>
            </a:r>
            <a:r>
              <a:rPr sz="950" b="1">
                <a:solidFill>
                  <a:srgbClr val="9AA0A6"/>
                </a:solidFill>
                <a:latin typeface="Inter"/>
              </a:rPr>
              <a:t>Generational </a:t>
            </a:r>
            <a:r>
              <a:rPr sz="950" b="1">
                <a:solidFill>
                  <a:srgbClr val="9AA0A6"/>
                </a:solidFill>
                <a:latin typeface="Inter"/>
              </a:rPr>
              <a:t>Peak live</a:t>
            </a:r>
            <a:r>
              <a:rPr sz="950" b="0">
                <a:solidFill>
                  <a:srgbClr val="9AA0A6"/>
                </a:solidFill>
                <a:latin typeface="Inter"/>
              </a:rPr>
              <a:t> reflects the old-generation high-water mark — promoted objects not yet reclaimed by a major, not the true live set.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07040" cy="274320"/>
          </a:xfrm>
          <a:prstGeom prst="rect">
            <a:avLst/>
          </a:prstGeom>
          <a:noFill/>
        </p:spPr>
        <p:txBody>
          <a:bodyPr wrap="square" anchor="t" lIns="0" rIns="0" tIns="0" bIns="0">
            <a:spAutoFit/>
          </a:bodyPr>
          <a:lstStyle/>
          <a:p>
            <a:pPr algn="l"/>
            <a:r>
              <a:rPr sz="1200" b="1">
                <a:solidFill>
                  <a:srgbClr val="9AA0A6"/>
                </a:solidFill>
                <a:latin typeface="Inter"/>
              </a:rPr>
              <a:t>BACKUP · FOR QUESTIONS</a:t>
            </a:r>
          </a:p>
        </p:txBody>
      </p:sp>
      <p:sp>
        <p:nvSpPr>
          <p:cNvPr id="3" name="TextBox 2"/>
          <p:cNvSpPr txBox="1"/>
          <p:nvPr/>
        </p:nvSpPr>
        <p:spPr>
          <a:xfrm>
            <a:off x="731520" y="640080"/>
            <a:ext cx="10607040" cy="502920"/>
          </a:xfrm>
          <a:prstGeom prst="rect">
            <a:avLst/>
          </a:prstGeom>
          <a:noFill/>
        </p:spPr>
        <p:txBody>
          <a:bodyPr wrap="square" anchor="t" lIns="0" rIns="0" tIns="0" bIns="0">
            <a:spAutoFit/>
          </a:bodyPr>
          <a:lstStyle/>
          <a:p>
            <a:pPr algn="l"/>
            <a:r>
              <a:rPr sz="2400" b="1">
                <a:solidFill>
                  <a:srgbClr val="1A1A1A"/>
                </a:solidFill>
                <a:latin typeface="Inter"/>
              </a:rPr>
              <a:t>The 8 MiB no-GC anchor</a:t>
            </a:r>
          </a:p>
        </p:txBody>
      </p:sp>
      <p:sp>
        <p:nvSpPr>
          <p:cNvPr id="4" name="TextBox 3"/>
          <p:cNvSpPr txBox="1"/>
          <p:nvPr/>
        </p:nvSpPr>
        <p:spPr>
          <a:xfrm>
            <a:off x="731520" y="1170432"/>
            <a:ext cx="10698480" cy="411480"/>
          </a:xfrm>
          <a:prstGeom prst="rect">
            <a:avLst/>
          </a:prstGeom>
          <a:noFill/>
        </p:spPr>
        <p:txBody>
          <a:bodyPr wrap="square" anchor="t" lIns="0" rIns="0" tIns="0" bIns="0">
            <a:spAutoFit/>
          </a:bodyPr>
          <a:lstStyle/>
          <a:p>
            <a:pPr algn="l"/>
            <a:r>
              <a:rPr sz="1200" b="0">
                <a:solidFill>
                  <a:srgbClr val="6B7177"/>
                </a:solidFill>
                <a:latin typeface="Inter"/>
              </a:rPr>
              <a:t>Run time (ms) when the heap is so large that almost nothing collects — it isolates pure mutator cost. Mean over </a:t>
            </a:r>
            <a:r>
              <a:rPr sz="1200" b="1">
                <a:solidFill>
                  <a:srgbClr val="6B7177"/>
                </a:solidFill>
                <a:latin typeface="Inter"/>
              </a:rPr>
              <a:t>n = 8</a:t>
            </a:r>
            <a:r>
              <a:rPr sz="1200" b="0">
                <a:solidFill>
                  <a:srgbClr val="6B7177"/>
                </a:solidFill>
                <a:latin typeface="Inter"/>
              </a:rPr>
              <a:t> seeds.</a:t>
            </a:r>
          </a:p>
        </p:txBody>
      </p:sp>
      <p:graphicFrame>
        <p:nvGraphicFramePr>
          <p:cNvPr id="5" name="Table 4"/>
          <p:cNvGraphicFramePr>
            <a:graphicFrameLocks noGrp="1"/>
          </p:cNvGraphicFramePr>
          <p:nvPr/>
        </p:nvGraphicFramePr>
        <p:xfrm>
          <a:off x="731520" y="1828800"/>
          <a:ext cx="6446520" cy="2523744"/>
        </p:xfrm>
        <a:graphic>
          <a:graphicData uri="http://schemas.openxmlformats.org/drawingml/2006/table">
            <a:tbl>
              <a:tblPr>
                <a:tableStyleId>{5C22544A-7EE6-4342-B048-85BDC9FD1C3A}</a:tableStyleId>
              </a:tblPr>
              <a:tblGrid>
                <a:gridCol w="1600200"/>
                <a:gridCol w="1188720"/>
                <a:gridCol w="1188720"/>
                <a:gridCol w="1280160"/>
                <a:gridCol w="1188720"/>
              </a:tblGrid>
              <a:tr h="420624">
                <a:tc>
                  <a:txBody>
                    <a:bodyPr wrap="square" anchor="ctr" lIns="0" rIns="0" tIns="0" bIns="0"/>
                    <a:lstStyle/>
                    <a:p>
                      <a:pPr algn="l"/>
                      <a:r>
                        <a:rPr sz="1200" b="1">
                          <a:solidFill>
                            <a:srgbClr val="FFFFFF"/>
                          </a:solidFill>
                          <a:latin typeface="Inter"/>
                        </a:rPr>
                        <a:t>Collector</a:t>
                      </a:r>
                    </a:p>
                  </a:txBody>
                  <a:tcPr marL="54864" marR="54864" marT="0" marB="0">
                    <a:solidFill>
                      <a:srgbClr val="12243B"/>
                    </a:solidFill>
                  </a:tcPr>
                </a:tc>
                <a:tc>
                  <a:txBody>
                    <a:bodyPr wrap="square" anchor="ctr" lIns="0" rIns="0" tIns="0" bIns="0"/>
                    <a:lstStyle/>
                    <a:p>
                      <a:pPr algn="ctr"/>
                      <a:r>
                        <a:rPr sz="1200" b="1">
                          <a:solidFill>
                            <a:srgbClr val="FFFFFF"/>
                          </a:solidFill>
                          <a:latin typeface="Inter"/>
                        </a:rPr>
                        <a:t>churn</a:t>
                      </a:r>
                    </a:p>
                  </a:txBody>
                  <a:tcPr marL="54864" marR="54864" marT="0" marB="0">
                    <a:solidFill>
                      <a:srgbClr val="12243B"/>
                    </a:solidFill>
                  </a:tcPr>
                </a:tc>
                <a:tc>
                  <a:txBody>
                    <a:bodyPr wrap="square" anchor="ctr" lIns="0" rIns="0" tIns="0" bIns="0"/>
                    <a:lstStyle/>
                    <a:p>
                      <a:pPr algn="ctr"/>
                      <a:r>
                        <a:rPr sz="1200" b="1">
                          <a:solidFill>
                            <a:srgbClr val="FFFFFF"/>
                          </a:solidFill>
                          <a:latin typeface="Inter"/>
                        </a:rPr>
                        <a:t>density</a:t>
                      </a:r>
                    </a:p>
                  </a:txBody>
                  <a:tcPr marL="54864" marR="54864" marT="0" marB="0">
                    <a:solidFill>
                      <a:srgbClr val="12243B"/>
                    </a:solidFill>
                  </a:tcPr>
                </a:tc>
                <a:tc>
                  <a:txBody>
                    <a:bodyPr wrap="square" anchor="ctr" lIns="0" rIns="0" tIns="0" bIns="0"/>
                    <a:lstStyle/>
                    <a:p>
                      <a:pPr algn="ctr"/>
                      <a:r>
                        <a:rPr sz="1200" b="1">
                          <a:solidFill>
                            <a:srgbClr val="FFFFFF"/>
                          </a:solidFill>
                          <a:latin typeface="Inter"/>
                        </a:rPr>
                        <a:t>longlived</a:t>
                      </a:r>
                    </a:p>
                  </a:txBody>
                  <a:tcPr marL="54864" marR="54864" marT="0" marB="0">
                    <a:solidFill>
                      <a:srgbClr val="12243B"/>
                    </a:solidFill>
                  </a:tcPr>
                </a:tc>
                <a:tc>
                  <a:txBody>
                    <a:bodyPr wrap="square" anchor="ctr" lIns="0" rIns="0" tIns="0" bIns="0"/>
                    <a:lstStyle/>
                    <a:p>
                      <a:pPr algn="ctr"/>
                      <a:r>
                        <a:rPr sz="1200" b="1">
                          <a:solidFill>
                            <a:srgbClr val="FFFFFF"/>
                          </a:solidFill>
                          <a:latin typeface="Inter"/>
                        </a:rPr>
                        <a:t>mutate</a:t>
                      </a:r>
                    </a:p>
                  </a:txBody>
                  <a:tcPr marL="54864" marR="54864" marT="0" marB="0">
                    <a:solidFill>
                      <a:srgbClr val="12243B"/>
                    </a:solidFill>
                  </a:tcPr>
                </a:tc>
              </a:tr>
              <a:tr h="420624">
                <a:tc>
                  <a:txBody>
                    <a:bodyPr wrap="square" anchor="ctr" lIns="0" rIns="0" tIns="0" bIns="0"/>
                    <a:lstStyle/>
                    <a:p>
                      <a:pPr algn="l"/>
                      <a:r>
                        <a:rPr sz="1200" b="1">
                          <a:solidFill>
                            <a:srgbClr val="9AA0A6"/>
                          </a:solidFill>
                          <a:latin typeface="JetBrains Mono"/>
                        </a:rPr>
                        <a:t>baseline</a:t>
                      </a:r>
                    </a:p>
                  </a:txBody>
                  <a:tcPr marL="54864" marR="54864" marT="0" marB="0">
                    <a:solidFill>
                      <a:srgbClr val="F1F0EC"/>
                    </a:solidFill>
                  </a:tcPr>
                </a:tc>
                <a:tc>
                  <a:txBody>
                    <a:bodyPr wrap="square" anchor="ctr" lIns="0" rIns="0" tIns="0" bIns="0"/>
                    <a:lstStyle/>
                    <a:p>
                      <a:pPr algn="ctr"/>
                      <a:r>
                        <a:rPr sz="1200" b="0">
                          <a:solidFill>
                            <a:srgbClr val="1A1A1A"/>
                          </a:solidFill>
                          <a:latin typeface="Inter"/>
                        </a:rPr>
                        <a:t>13.4</a:t>
                      </a:r>
                    </a:p>
                  </a:txBody>
                  <a:tcPr marL="54864" marR="54864" marT="0" marB="0">
                    <a:solidFill>
                      <a:srgbClr val="F1F0EC"/>
                    </a:solidFill>
                  </a:tcPr>
                </a:tc>
                <a:tc>
                  <a:txBody>
                    <a:bodyPr wrap="square" anchor="ctr" lIns="0" rIns="0" tIns="0" bIns="0"/>
                    <a:lstStyle/>
                    <a:p>
                      <a:pPr algn="ctr"/>
                      <a:r>
                        <a:rPr sz="1200" b="0">
                          <a:solidFill>
                            <a:srgbClr val="1A1A1A"/>
                          </a:solidFill>
                          <a:latin typeface="Inter"/>
                        </a:rPr>
                        <a:t>166.4</a:t>
                      </a:r>
                    </a:p>
                  </a:txBody>
                  <a:tcPr marL="54864" marR="54864" marT="0" marB="0">
                    <a:solidFill>
                      <a:srgbClr val="F1F0EC"/>
                    </a:solidFill>
                  </a:tcPr>
                </a:tc>
                <a:tc>
                  <a:txBody>
                    <a:bodyPr wrap="square" anchor="ctr" lIns="0" rIns="0" tIns="0" bIns="0"/>
                    <a:lstStyle/>
                    <a:p>
                      <a:pPr algn="ctr"/>
                      <a:r>
                        <a:rPr sz="1200" b="0">
                          <a:solidFill>
                            <a:srgbClr val="1A1A1A"/>
                          </a:solidFill>
                          <a:latin typeface="Inter"/>
                        </a:rPr>
                        <a:t>9.4</a:t>
                      </a:r>
                    </a:p>
                  </a:txBody>
                  <a:tcPr marL="54864" marR="54864" marT="0" marB="0">
                    <a:solidFill>
                      <a:srgbClr val="F1F0EC"/>
                    </a:solidFill>
                  </a:tcPr>
                </a:tc>
                <a:tc>
                  <a:txBody>
                    <a:bodyPr wrap="square" anchor="ctr" lIns="0" rIns="0" tIns="0" bIns="0"/>
                    <a:lstStyle/>
                    <a:p>
                      <a:pPr algn="ctr"/>
                      <a:r>
                        <a:rPr sz="1200" b="0">
                          <a:solidFill>
                            <a:srgbClr val="1A1A1A"/>
                          </a:solidFill>
                          <a:latin typeface="Inter"/>
                        </a:rPr>
                        <a:t>18.4</a:t>
                      </a:r>
                    </a:p>
                  </a:txBody>
                  <a:tcPr marL="54864" marR="54864" marT="0" marB="0">
                    <a:solidFill>
                      <a:srgbClr val="F1F0EC"/>
                    </a:solidFill>
                  </a:tcPr>
                </a:tc>
              </a:tr>
              <a:tr h="420624">
                <a:tc>
                  <a:txBody>
                    <a:bodyPr wrap="square" anchor="ctr" lIns="0" rIns="0" tIns="0" bIns="0"/>
                    <a:lstStyle/>
                    <a:p>
                      <a:pPr algn="l"/>
                      <a:r>
                        <a:rPr sz="1200" b="1">
                          <a:solidFill>
                            <a:srgbClr val="C0392B"/>
                          </a:solidFill>
                          <a:latin typeface="JetBrains Mono"/>
                        </a:rPr>
                        <a:t>mark-sweep</a:t>
                      </a:r>
                    </a:p>
                  </a:txBody>
                  <a:tcPr marL="54864" marR="54864" marT="0" marB="0">
                    <a:solidFill>
                      <a:srgbClr val="FAFAF8"/>
                    </a:solidFill>
                  </a:tcPr>
                </a:tc>
                <a:tc>
                  <a:txBody>
                    <a:bodyPr wrap="square" anchor="ctr" lIns="0" rIns="0" tIns="0" bIns="0"/>
                    <a:lstStyle/>
                    <a:p>
                      <a:pPr algn="ctr"/>
                      <a:r>
                        <a:rPr sz="1200" b="0">
                          <a:solidFill>
                            <a:srgbClr val="1A1A1A"/>
                          </a:solidFill>
                          <a:latin typeface="Inter"/>
                        </a:rPr>
                        <a:t>13.5</a:t>
                      </a:r>
                    </a:p>
                  </a:txBody>
                  <a:tcPr marL="54864" marR="54864" marT="0" marB="0">
                    <a:solidFill>
                      <a:srgbClr val="FAFAF8"/>
                    </a:solidFill>
                  </a:tcPr>
                </a:tc>
                <a:tc>
                  <a:txBody>
                    <a:bodyPr wrap="square" anchor="ctr" lIns="0" rIns="0" tIns="0" bIns="0"/>
                    <a:lstStyle/>
                    <a:p>
                      <a:pPr algn="ctr"/>
                      <a:r>
                        <a:rPr sz="1200" b="0">
                          <a:solidFill>
                            <a:srgbClr val="1A1A1A"/>
                          </a:solidFill>
                          <a:latin typeface="Inter"/>
                        </a:rPr>
                        <a:t>168.2</a:t>
                      </a:r>
                    </a:p>
                  </a:txBody>
                  <a:tcPr marL="54864" marR="54864" marT="0" marB="0">
                    <a:solidFill>
                      <a:srgbClr val="FAFAF8"/>
                    </a:solidFill>
                  </a:tcPr>
                </a:tc>
                <a:tc>
                  <a:txBody>
                    <a:bodyPr wrap="square" anchor="ctr" lIns="0" rIns="0" tIns="0" bIns="0"/>
                    <a:lstStyle/>
                    <a:p>
                      <a:pPr algn="ctr"/>
                      <a:r>
                        <a:rPr sz="1200" b="0">
                          <a:solidFill>
                            <a:srgbClr val="1A1A1A"/>
                          </a:solidFill>
                          <a:latin typeface="Inter"/>
                        </a:rPr>
                        <a:t>9.9</a:t>
                      </a:r>
                    </a:p>
                  </a:txBody>
                  <a:tcPr marL="54864" marR="54864" marT="0" marB="0">
                    <a:solidFill>
                      <a:srgbClr val="FAFAF8"/>
                    </a:solidFill>
                  </a:tcPr>
                </a:tc>
                <a:tc>
                  <a:txBody>
                    <a:bodyPr wrap="square" anchor="ctr" lIns="0" rIns="0" tIns="0" bIns="0"/>
                    <a:lstStyle/>
                    <a:p>
                      <a:pPr algn="ctr"/>
                      <a:r>
                        <a:rPr sz="1200" b="0">
                          <a:solidFill>
                            <a:srgbClr val="1A1A1A"/>
                          </a:solidFill>
                          <a:latin typeface="Inter"/>
                        </a:rPr>
                        <a:t>18.5</a:t>
                      </a:r>
                    </a:p>
                  </a:txBody>
                  <a:tcPr marL="54864" marR="54864" marT="0" marB="0">
                    <a:solidFill>
                      <a:srgbClr val="FAFAF8"/>
                    </a:solidFill>
                  </a:tcPr>
                </a:tc>
              </a:tr>
              <a:tr h="420624">
                <a:tc>
                  <a:txBody>
                    <a:bodyPr wrap="square" anchor="ctr" lIns="0" rIns="0" tIns="0" bIns="0"/>
                    <a:lstStyle/>
                    <a:p>
                      <a:pPr algn="l"/>
                      <a:r>
                        <a:rPr sz="1200" b="1">
                          <a:solidFill>
                            <a:srgbClr val="1F6FB2"/>
                          </a:solidFill>
                          <a:latin typeface="JetBrains Mono"/>
                        </a:rPr>
                        <a:t>mark-compact</a:t>
                      </a:r>
                    </a:p>
                  </a:txBody>
                  <a:tcPr marL="54864" marR="54864" marT="0" marB="0">
                    <a:solidFill>
                      <a:srgbClr val="F1F0EC"/>
                    </a:solidFill>
                  </a:tcPr>
                </a:tc>
                <a:tc>
                  <a:txBody>
                    <a:bodyPr wrap="square" anchor="ctr" lIns="0" rIns="0" tIns="0" bIns="0"/>
                    <a:lstStyle/>
                    <a:p>
                      <a:pPr algn="ctr"/>
                      <a:r>
                        <a:rPr sz="1200" b="0">
                          <a:solidFill>
                            <a:srgbClr val="1A1A1A"/>
                          </a:solidFill>
                          <a:latin typeface="Inter"/>
                        </a:rPr>
                        <a:t>13.2</a:t>
                      </a:r>
                    </a:p>
                  </a:txBody>
                  <a:tcPr marL="54864" marR="54864" marT="0" marB="0">
                    <a:solidFill>
                      <a:srgbClr val="F1F0EC"/>
                    </a:solidFill>
                  </a:tcPr>
                </a:tc>
                <a:tc>
                  <a:txBody>
                    <a:bodyPr wrap="square" anchor="ctr" lIns="0" rIns="0" tIns="0" bIns="0"/>
                    <a:lstStyle/>
                    <a:p>
                      <a:pPr algn="ctr"/>
                      <a:r>
                        <a:rPr sz="1200" b="0">
                          <a:solidFill>
                            <a:srgbClr val="1A1A1A"/>
                          </a:solidFill>
                          <a:latin typeface="Inter"/>
                        </a:rPr>
                        <a:t>168.4</a:t>
                      </a:r>
                    </a:p>
                  </a:txBody>
                  <a:tcPr marL="54864" marR="54864" marT="0" marB="0">
                    <a:solidFill>
                      <a:srgbClr val="F1F0EC"/>
                    </a:solidFill>
                  </a:tcPr>
                </a:tc>
                <a:tc>
                  <a:txBody>
                    <a:bodyPr wrap="square" anchor="ctr" lIns="0" rIns="0" tIns="0" bIns="0"/>
                    <a:lstStyle/>
                    <a:p>
                      <a:pPr algn="ctr"/>
                      <a:r>
                        <a:rPr sz="1200" b="0">
                          <a:solidFill>
                            <a:srgbClr val="1A1A1A"/>
                          </a:solidFill>
                          <a:latin typeface="Inter"/>
                        </a:rPr>
                        <a:t>9.6</a:t>
                      </a:r>
                    </a:p>
                  </a:txBody>
                  <a:tcPr marL="54864" marR="54864" marT="0" marB="0">
                    <a:solidFill>
                      <a:srgbClr val="F1F0EC"/>
                    </a:solidFill>
                  </a:tcPr>
                </a:tc>
                <a:tc>
                  <a:txBody>
                    <a:bodyPr wrap="square" anchor="ctr" lIns="0" rIns="0" tIns="0" bIns="0"/>
                    <a:lstStyle/>
                    <a:p>
                      <a:pPr algn="ctr"/>
                      <a:r>
                        <a:rPr sz="1200" b="0">
                          <a:solidFill>
                            <a:srgbClr val="1A1A1A"/>
                          </a:solidFill>
                          <a:latin typeface="Inter"/>
                        </a:rPr>
                        <a:t>18.4</a:t>
                      </a:r>
                    </a:p>
                  </a:txBody>
                  <a:tcPr marL="54864" marR="54864" marT="0" marB="0">
                    <a:solidFill>
                      <a:srgbClr val="F1F0EC"/>
                    </a:solidFill>
                  </a:tcPr>
                </a:tc>
              </a:tr>
              <a:tr h="420624">
                <a:tc>
                  <a:txBody>
                    <a:bodyPr wrap="square" anchor="ctr" lIns="0" rIns="0" tIns="0" bIns="0"/>
                    <a:lstStyle/>
                    <a:p>
                      <a:pPr algn="l"/>
                      <a:r>
                        <a:rPr sz="1200" b="1">
                          <a:solidFill>
                            <a:srgbClr val="1E8449"/>
                          </a:solidFill>
                          <a:latin typeface="JetBrains Mono"/>
                        </a:rPr>
                        <a:t>cheney</a:t>
                      </a:r>
                    </a:p>
                  </a:txBody>
                  <a:tcPr marL="54864" marR="54864" marT="0" marB="0">
                    <a:solidFill>
                      <a:srgbClr val="FAFAF8"/>
                    </a:solidFill>
                  </a:tcPr>
                </a:tc>
                <a:tc>
                  <a:txBody>
                    <a:bodyPr wrap="square" anchor="ctr" lIns="0" rIns="0" tIns="0" bIns="0"/>
                    <a:lstStyle/>
                    <a:p>
                      <a:pPr algn="ctr"/>
                      <a:r>
                        <a:rPr sz="1200" b="0">
                          <a:solidFill>
                            <a:srgbClr val="1A1A1A"/>
                          </a:solidFill>
                          <a:latin typeface="Inter"/>
                        </a:rPr>
                        <a:t>13.3</a:t>
                      </a:r>
                    </a:p>
                  </a:txBody>
                  <a:tcPr marL="54864" marR="54864" marT="0" marB="0">
                    <a:solidFill>
                      <a:srgbClr val="FAFAF8"/>
                    </a:solidFill>
                  </a:tcPr>
                </a:tc>
                <a:tc>
                  <a:txBody>
                    <a:bodyPr wrap="square" anchor="ctr" lIns="0" rIns="0" tIns="0" bIns="0"/>
                    <a:lstStyle/>
                    <a:p>
                      <a:pPr algn="ctr"/>
                      <a:r>
                        <a:rPr sz="1200" b="0">
                          <a:solidFill>
                            <a:srgbClr val="1A1A1A"/>
                          </a:solidFill>
                          <a:latin typeface="Inter"/>
                        </a:rPr>
                        <a:t>165.3</a:t>
                      </a:r>
                    </a:p>
                  </a:txBody>
                  <a:tcPr marL="54864" marR="54864" marT="0" marB="0">
                    <a:solidFill>
                      <a:srgbClr val="FAFAF8"/>
                    </a:solidFill>
                  </a:tcPr>
                </a:tc>
                <a:tc>
                  <a:txBody>
                    <a:bodyPr wrap="square" anchor="ctr" lIns="0" rIns="0" tIns="0" bIns="0"/>
                    <a:lstStyle/>
                    <a:p>
                      <a:pPr algn="ctr"/>
                      <a:r>
                        <a:rPr sz="1200" b="0">
                          <a:solidFill>
                            <a:srgbClr val="1A1A1A"/>
                          </a:solidFill>
                          <a:latin typeface="Inter"/>
                        </a:rPr>
                        <a:t>9.8</a:t>
                      </a:r>
                    </a:p>
                  </a:txBody>
                  <a:tcPr marL="54864" marR="54864" marT="0" marB="0">
                    <a:solidFill>
                      <a:srgbClr val="FAFAF8"/>
                    </a:solidFill>
                  </a:tcPr>
                </a:tc>
                <a:tc>
                  <a:txBody>
                    <a:bodyPr wrap="square" anchor="ctr" lIns="0" rIns="0" tIns="0" bIns="0"/>
                    <a:lstStyle/>
                    <a:p>
                      <a:pPr algn="ctr"/>
                      <a:r>
                        <a:rPr sz="1200" b="0">
                          <a:solidFill>
                            <a:srgbClr val="1A1A1A"/>
                          </a:solidFill>
                          <a:latin typeface="Inter"/>
                        </a:rPr>
                        <a:t>18.1</a:t>
                      </a:r>
                    </a:p>
                  </a:txBody>
                  <a:tcPr marL="54864" marR="54864" marT="0" marB="0">
                    <a:solidFill>
                      <a:srgbClr val="FAFAF8"/>
                    </a:solidFill>
                  </a:tcPr>
                </a:tc>
              </a:tr>
              <a:tr h="420624">
                <a:tc>
                  <a:txBody>
                    <a:bodyPr wrap="square" anchor="ctr" lIns="0" rIns="0" tIns="0" bIns="0"/>
                    <a:lstStyle/>
                    <a:p>
                      <a:pPr algn="l"/>
                      <a:r>
                        <a:rPr sz="1200" b="1">
                          <a:solidFill>
                            <a:srgbClr val="8E44AD"/>
                          </a:solidFill>
                          <a:latin typeface="JetBrains Mono"/>
                        </a:rPr>
                        <a:t>generational</a:t>
                      </a:r>
                    </a:p>
                  </a:txBody>
                  <a:tcPr marL="54864" marR="54864" marT="0" marB="0">
                    <a:solidFill>
                      <a:srgbClr val="F1F0EC"/>
                    </a:solidFill>
                  </a:tcPr>
                </a:tc>
                <a:tc>
                  <a:txBody>
                    <a:bodyPr wrap="square" anchor="ctr" lIns="0" rIns="0" tIns="0" bIns="0"/>
                    <a:lstStyle/>
                    <a:p>
                      <a:pPr algn="ctr"/>
                      <a:r>
                        <a:rPr sz="1200" b="0">
                          <a:solidFill>
                            <a:srgbClr val="1A1A1A"/>
                          </a:solidFill>
                          <a:latin typeface="Inter"/>
                        </a:rPr>
                        <a:t>15.2</a:t>
                      </a:r>
                    </a:p>
                  </a:txBody>
                  <a:tcPr marL="54864" marR="54864" marT="0" marB="0">
                    <a:solidFill>
                      <a:srgbClr val="F1F0EC"/>
                    </a:solidFill>
                  </a:tcPr>
                </a:tc>
                <a:tc>
                  <a:txBody>
                    <a:bodyPr wrap="square" anchor="ctr" lIns="0" rIns="0" tIns="0" bIns="0"/>
                    <a:lstStyle/>
                    <a:p>
                      <a:pPr algn="ctr"/>
                      <a:r>
                        <a:rPr sz="1200" b="0">
                          <a:solidFill>
                            <a:srgbClr val="1A1A1A"/>
                          </a:solidFill>
                          <a:latin typeface="Inter"/>
                        </a:rPr>
                        <a:t>167.8</a:t>
                      </a:r>
                    </a:p>
                  </a:txBody>
                  <a:tcPr marL="54864" marR="54864" marT="0" marB="0">
                    <a:solidFill>
                      <a:srgbClr val="F1F0EC"/>
                    </a:solidFill>
                  </a:tcPr>
                </a:tc>
                <a:tc>
                  <a:txBody>
                    <a:bodyPr wrap="square" anchor="ctr" lIns="0" rIns="0" tIns="0" bIns="0"/>
                    <a:lstStyle/>
                    <a:p>
                      <a:pPr algn="ctr"/>
                      <a:r>
                        <a:rPr sz="1200" b="0">
                          <a:solidFill>
                            <a:srgbClr val="1A1A1A"/>
                          </a:solidFill>
                          <a:latin typeface="Inter"/>
                        </a:rPr>
                        <a:t>35.5</a:t>
                      </a:r>
                    </a:p>
                  </a:txBody>
                  <a:tcPr marL="54864" marR="54864" marT="0" marB="0">
                    <a:solidFill>
                      <a:srgbClr val="F1F0EC"/>
                    </a:solidFill>
                  </a:tcPr>
                </a:tc>
                <a:tc>
                  <a:txBody>
                    <a:bodyPr wrap="square" anchor="ctr" lIns="0" rIns="0" tIns="0" bIns="0"/>
                    <a:lstStyle/>
                    <a:p>
                      <a:pPr algn="ctr"/>
                      <a:r>
                        <a:rPr sz="1200" b="0">
                          <a:solidFill>
                            <a:srgbClr val="1A1A1A"/>
                          </a:solidFill>
                          <a:latin typeface="Inter"/>
                        </a:rPr>
                        <a:t>20.4</a:t>
                      </a:r>
                    </a:p>
                  </a:txBody>
                  <a:tcPr marL="54864" marR="54864" marT="0" marB="0">
                    <a:solidFill>
                      <a:srgbClr val="F1F0EC"/>
                    </a:solidFill>
                  </a:tcPr>
                </a:tc>
              </a:tr>
            </a:tbl>
          </a:graphicData>
        </a:graphic>
      </p:graphicFrame>
      <p:sp>
        <p:nvSpPr>
          <p:cNvPr id="6" name="Rectangle 5"/>
          <p:cNvSpPr/>
          <p:nvPr/>
        </p:nvSpPr>
        <p:spPr>
          <a:xfrm>
            <a:off x="6903720" y="1828800"/>
            <a:ext cx="4526280" cy="3017520"/>
          </a:xfrm>
          <a:prstGeom prst="rect">
            <a:avLst/>
          </a:prstGeom>
          <a:solidFill>
            <a:srgbClr val="F1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78040" y="2029968"/>
            <a:ext cx="4023360" cy="274320"/>
          </a:xfrm>
          <a:prstGeom prst="rect">
            <a:avLst/>
          </a:prstGeom>
          <a:noFill/>
        </p:spPr>
        <p:txBody>
          <a:bodyPr wrap="square" anchor="t" lIns="0" rIns="0" tIns="0" bIns="0">
            <a:spAutoFit/>
          </a:bodyPr>
          <a:lstStyle/>
          <a:p>
            <a:pPr algn="l"/>
            <a:r>
              <a:rPr sz="1100" b="1">
                <a:solidFill>
                  <a:srgbClr val="0B5394"/>
                </a:solidFill>
                <a:latin typeface="Inter"/>
              </a:rPr>
              <a:t>WHAT IT SHOWS</a:t>
            </a:r>
          </a:p>
        </p:txBody>
      </p:sp>
      <p:sp>
        <p:nvSpPr>
          <p:cNvPr id="8" name="TextBox 7"/>
          <p:cNvSpPr txBox="1"/>
          <p:nvPr/>
        </p:nvSpPr>
        <p:spPr>
          <a:xfrm>
            <a:off x="7178040" y="2395728"/>
            <a:ext cx="4023360" cy="274320"/>
          </a:xfrm>
          <a:prstGeom prst="rect">
            <a:avLst/>
          </a:prstGeom>
          <a:noFill/>
        </p:spPr>
        <p:txBody>
          <a:bodyPr wrap="square" anchor="t" lIns="0" rIns="0" tIns="0" bIns="0">
            <a:spAutoFit/>
          </a:bodyPr>
          <a:lstStyle/>
          <a:p>
            <a:pPr algn="l"/>
            <a:r>
              <a:rPr sz="1250" b="1">
                <a:solidFill>
                  <a:srgbClr val="6B7177"/>
                </a:solidFill>
                <a:latin typeface="Inter"/>
              </a:rPr>
              <a:t>•</a:t>
            </a:r>
          </a:p>
        </p:txBody>
      </p:sp>
      <p:sp>
        <p:nvSpPr>
          <p:cNvPr id="9" name="TextBox 8"/>
          <p:cNvSpPr txBox="1"/>
          <p:nvPr/>
        </p:nvSpPr>
        <p:spPr>
          <a:xfrm>
            <a:off x="7406640" y="2395728"/>
            <a:ext cx="3749039" cy="868680"/>
          </a:xfrm>
          <a:prstGeom prst="rect">
            <a:avLst/>
          </a:prstGeom>
          <a:noFill/>
        </p:spPr>
        <p:txBody>
          <a:bodyPr wrap="square" anchor="t" lIns="0" rIns="0" tIns="0" bIns="0">
            <a:spAutoFit/>
          </a:bodyPr>
          <a:lstStyle/>
          <a:p>
            <a:pPr algn="l"/>
            <a:r>
              <a:rPr sz="1250" b="1">
                <a:solidFill>
                  <a:srgbClr val="9AA0A6"/>
                </a:solidFill>
                <a:latin typeface="Inter"/>
              </a:rPr>
              <a:t>baseline</a:t>
            </a:r>
            <a:r>
              <a:rPr sz="1250" b="0">
                <a:solidFill>
                  <a:srgbClr val="6B7177"/>
                </a:solidFill>
                <a:latin typeface="Inter"/>
              </a:rPr>
              <a:t> = pure-mutator floor; it never collects.</a:t>
            </a:r>
          </a:p>
        </p:txBody>
      </p:sp>
      <p:sp>
        <p:nvSpPr>
          <p:cNvPr id="10" name="TextBox 9"/>
          <p:cNvSpPr txBox="1"/>
          <p:nvPr/>
        </p:nvSpPr>
        <p:spPr>
          <a:xfrm>
            <a:off x="7178040" y="3236976"/>
            <a:ext cx="4023360" cy="274320"/>
          </a:xfrm>
          <a:prstGeom prst="rect">
            <a:avLst/>
          </a:prstGeom>
          <a:noFill/>
        </p:spPr>
        <p:txBody>
          <a:bodyPr wrap="square" anchor="t" lIns="0" rIns="0" tIns="0" bIns="0">
            <a:spAutoFit/>
          </a:bodyPr>
          <a:lstStyle/>
          <a:p>
            <a:pPr algn="l"/>
            <a:r>
              <a:rPr sz="1250" b="1">
                <a:solidFill>
                  <a:srgbClr val="6B7177"/>
                </a:solidFill>
                <a:latin typeface="Inter"/>
              </a:rPr>
              <a:t>•</a:t>
            </a:r>
          </a:p>
        </p:txBody>
      </p:sp>
      <p:sp>
        <p:nvSpPr>
          <p:cNvPr id="11" name="TextBox 10"/>
          <p:cNvSpPr txBox="1"/>
          <p:nvPr/>
        </p:nvSpPr>
        <p:spPr>
          <a:xfrm>
            <a:off x="7406640" y="3236976"/>
            <a:ext cx="3749039" cy="868680"/>
          </a:xfrm>
          <a:prstGeom prst="rect">
            <a:avLst/>
          </a:prstGeom>
          <a:noFill/>
        </p:spPr>
        <p:txBody>
          <a:bodyPr wrap="square" anchor="t" lIns="0" rIns="0" tIns="0" bIns="0">
            <a:spAutoFit/>
          </a:bodyPr>
          <a:lstStyle/>
          <a:p>
            <a:pPr algn="l"/>
            <a:r>
              <a:rPr sz="1250" b="1">
                <a:solidFill>
                  <a:srgbClr val="C0392B"/>
                </a:solidFill>
                <a:latin typeface="Inter"/>
              </a:rPr>
              <a:t>mark-sweep</a:t>
            </a:r>
            <a:r>
              <a:rPr sz="1250" b="0">
                <a:solidFill>
                  <a:srgbClr val="6B7177"/>
                </a:solidFill>
                <a:latin typeface="Inter"/>
              </a:rPr>
              <a:t> ties the bump collectors here → its deficit is allocation, not collection.</a:t>
            </a:r>
          </a:p>
        </p:txBody>
      </p:sp>
      <p:sp>
        <p:nvSpPr>
          <p:cNvPr id="12" name="TextBox 11"/>
          <p:cNvSpPr txBox="1"/>
          <p:nvPr/>
        </p:nvSpPr>
        <p:spPr>
          <a:xfrm>
            <a:off x="7178040" y="4078224"/>
            <a:ext cx="4023360" cy="274320"/>
          </a:xfrm>
          <a:prstGeom prst="rect">
            <a:avLst/>
          </a:prstGeom>
          <a:noFill/>
        </p:spPr>
        <p:txBody>
          <a:bodyPr wrap="square" anchor="t" lIns="0" rIns="0" tIns="0" bIns="0">
            <a:spAutoFit/>
          </a:bodyPr>
          <a:lstStyle/>
          <a:p>
            <a:pPr algn="l"/>
            <a:r>
              <a:rPr sz="1250" b="1">
                <a:solidFill>
                  <a:srgbClr val="6B7177"/>
                </a:solidFill>
                <a:latin typeface="Inter"/>
              </a:rPr>
              <a:t>•</a:t>
            </a:r>
          </a:p>
        </p:txBody>
      </p:sp>
      <p:sp>
        <p:nvSpPr>
          <p:cNvPr id="13" name="TextBox 12"/>
          <p:cNvSpPr txBox="1"/>
          <p:nvPr/>
        </p:nvSpPr>
        <p:spPr>
          <a:xfrm>
            <a:off x="7406640" y="4078224"/>
            <a:ext cx="3749039" cy="868680"/>
          </a:xfrm>
          <a:prstGeom prst="rect">
            <a:avLst/>
          </a:prstGeom>
          <a:noFill/>
        </p:spPr>
        <p:txBody>
          <a:bodyPr wrap="square" anchor="t" lIns="0" rIns="0" tIns="0" bIns="0">
            <a:spAutoFit/>
          </a:bodyPr>
          <a:lstStyle/>
          <a:p>
            <a:pPr algn="l"/>
            <a:r>
              <a:rPr sz="1250" b="1">
                <a:solidFill>
                  <a:srgbClr val="8E44AD"/>
                </a:solidFill>
                <a:latin typeface="Inter"/>
              </a:rPr>
              <a:t>generational</a:t>
            </a:r>
            <a:r>
              <a:rPr sz="1250" b="0">
                <a:solidFill>
                  <a:srgbClr val="6B7177"/>
                </a:solidFill>
                <a:latin typeface="Inter"/>
              </a:rPr>
              <a:t> is the exception: nursery &lt; heap, so it still collects (~3×). longlived's 35.5 ms is its one-off first-collection cost.</a:t>
            </a:r>
          </a:p>
        </p:txBody>
      </p:sp>
      <p:sp>
        <p:nvSpPr>
          <p:cNvPr id="14" name="TextBox 13"/>
          <p:cNvSpPr txBox="1"/>
          <p:nvPr/>
        </p:nvSpPr>
        <p:spPr>
          <a:xfrm>
            <a:off x="731520" y="5074920"/>
            <a:ext cx="10607040" cy="320040"/>
          </a:xfrm>
          <a:prstGeom prst="rect">
            <a:avLst/>
          </a:prstGeom>
          <a:noFill/>
        </p:spPr>
        <p:txBody>
          <a:bodyPr wrap="square" anchor="t" lIns="0" rIns="0" tIns="0" bIns="0">
            <a:spAutoFit/>
          </a:bodyPr>
          <a:lstStyle/>
          <a:p>
            <a:pPr algn="l"/>
            <a:r>
              <a:rPr sz="1050" b="0">
                <a:solidFill>
                  <a:srgbClr val="9AA0A6"/>
                </a:solidFill>
                <a:latin typeface="Inter"/>
              </a:rPr>
              <a:t>At this budget only Cheney (1×) and generational (~3×) fire any collection at all; baseline, mark-sweep and mark-compact fire none.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07040" cy="274320"/>
          </a:xfrm>
          <a:prstGeom prst="rect">
            <a:avLst/>
          </a:prstGeom>
          <a:noFill/>
        </p:spPr>
        <p:txBody>
          <a:bodyPr wrap="square" anchor="t" lIns="0" rIns="0" tIns="0" bIns="0">
            <a:spAutoFit/>
          </a:bodyPr>
          <a:lstStyle/>
          <a:p>
            <a:pPr algn="l"/>
            <a:r>
              <a:rPr sz="1200" b="1">
                <a:solidFill>
                  <a:srgbClr val="9AA0A6"/>
                </a:solidFill>
                <a:latin typeface="Inter"/>
              </a:rPr>
              <a:t>BACKUP · FOR QUESTIONS</a:t>
            </a:r>
          </a:p>
        </p:txBody>
      </p:sp>
      <p:sp>
        <p:nvSpPr>
          <p:cNvPr id="3" name="TextBox 2"/>
          <p:cNvSpPr txBox="1"/>
          <p:nvPr/>
        </p:nvSpPr>
        <p:spPr>
          <a:xfrm>
            <a:off x="731520" y="640080"/>
            <a:ext cx="10607040" cy="502920"/>
          </a:xfrm>
          <a:prstGeom prst="rect">
            <a:avLst/>
          </a:prstGeom>
          <a:noFill/>
        </p:spPr>
        <p:txBody>
          <a:bodyPr wrap="square" anchor="t" lIns="0" rIns="0" tIns="0" bIns="0">
            <a:spAutoFit/>
          </a:bodyPr>
          <a:lstStyle/>
          <a:p>
            <a:pPr algn="l"/>
            <a:r>
              <a:rPr sz="2400" b="1">
                <a:solidFill>
                  <a:srgbClr val="1A1A1A"/>
                </a:solidFill>
                <a:latin typeface="Inter"/>
              </a:rPr>
              <a:t>Space frontier — across all budgets</a:t>
            </a:r>
          </a:p>
        </p:txBody>
      </p:sp>
      <p:sp>
        <p:nvSpPr>
          <p:cNvPr id="4" name="TextBox 3"/>
          <p:cNvSpPr txBox="1"/>
          <p:nvPr/>
        </p:nvSpPr>
        <p:spPr>
          <a:xfrm>
            <a:off x="731520" y="1170432"/>
            <a:ext cx="10698480" cy="411480"/>
          </a:xfrm>
          <a:prstGeom prst="rect">
            <a:avLst/>
          </a:prstGeom>
          <a:noFill/>
        </p:spPr>
        <p:txBody>
          <a:bodyPr wrap="square" anchor="t" lIns="0" rIns="0" tIns="0" bIns="0">
            <a:spAutoFit/>
          </a:bodyPr>
          <a:lstStyle/>
          <a:p>
            <a:pPr algn="l"/>
            <a:r>
              <a:rPr sz="1200" b="0">
                <a:solidFill>
                  <a:srgbClr val="6B7177"/>
                </a:solidFill>
                <a:latin typeface="Inter"/>
              </a:rPr>
              <a:t>Do all 8 seeds complete at each budget? The frontier is where a row turns green. Cell numbers = seeds completed (of 8).</a:t>
            </a:r>
          </a:p>
        </p:txBody>
      </p:sp>
      <p:pic>
        <p:nvPicPr>
          <p:cNvPr id="5" name="Picture 4" descr="frontier.png"/>
          <p:cNvPicPr>
            <a:picLocks noChangeAspect="1"/>
          </p:cNvPicPr>
          <p:nvPr/>
        </p:nvPicPr>
        <p:blipFill>
          <a:blip r:embed="rId2"/>
          <a:stretch>
            <a:fillRect/>
          </a:stretch>
        </p:blipFill>
        <p:spPr>
          <a:xfrm>
            <a:off x="502920" y="1600200"/>
            <a:ext cx="7818120" cy="5138928"/>
          </a:xfrm>
          <a:prstGeom prst="rect">
            <a:avLst/>
          </a:prstGeom>
        </p:spPr>
      </p:pic>
      <p:sp>
        <p:nvSpPr>
          <p:cNvPr id="6" name="TextBox 5"/>
          <p:cNvSpPr txBox="1"/>
          <p:nvPr/>
        </p:nvSpPr>
        <p:spPr>
          <a:xfrm>
            <a:off x="8549640" y="1783080"/>
            <a:ext cx="3291840" cy="274320"/>
          </a:xfrm>
          <a:prstGeom prst="rect">
            <a:avLst/>
          </a:prstGeom>
          <a:noFill/>
        </p:spPr>
        <p:txBody>
          <a:bodyPr wrap="square" anchor="t" lIns="0" rIns="0" tIns="0" bIns="0">
            <a:spAutoFit/>
          </a:bodyPr>
          <a:lstStyle/>
          <a:p>
            <a:pPr algn="l"/>
            <a:r>
              <a:rPr sz="1100" b="1">
                <a:solidFill>
                  <a:srgbClr val="0B5394"/>
                </a:solidFill>
                <a:latin typeface="Inter"/>
              </a:rPr>
              <a:t>READING IT</a:t>
            </a:r>
          </a:p>
        </p:txBody>
      </p:sp>
      <p:sp>
        <p:nvSpPr>
          <p:cNvPr id="7" name="TextBox 6"/>
          <p:cNvSpPr txBox="1"/>
          <p:nvPr/>
        </p:nvSpPr>
        <p:spPr>
          <a:xfrm>
            <a:off x="8549640" y="2194560"/>
            <a:ext cx="3246120" cy="1005840"/>
          </a:xfrm>
          <a:prstGeom prst="rect">
            <a:avLst/>
          </a:prstGeom>
          <a:noFill/>
        </p:spPr>
        <p:txBody>
          <a:bodyPr wrap="square" anchor="t" lIns="0" rIns="0" tIns="0" bIns="0">
            <a:spAutoFit/>
          </a:bodyPr>
          <a:lstStyle/>
          <a:p>
            <a:pPr algn="l"/>
            <a:r>
              <a:rPr sz="1250" b="1">
                <a:solidFill>
                  <a:srgbClr val="1A1A1A"/>
                </a:solidFill>
                <a:latin typeface="Inter"/>
              </a:rPr>
              <a:t>mark-sweep, mark-compact &amp; generational</a:t>
            </a:r>
            <a:r>
              <a:rPr sz="1250" b="0">
                <a:solidFill>
                  <a:srgbClr val="6B7177"/>
                </a:solidFill>
                <a:latin typeface="Inter"/>
              </a:rPr>
              <a:t> share the tightest frontier — they use the whole heap.</a:t>
            </a:r>
          </a:p>
        </p:txBody>
      </p:sp>
      <p:sp>
        <p:nvSpPr>
          <p:cNvPr id="8" name="TextBox 7"/>
          <p:cNvSpPr txBox="1"/>
          <p:nvPr/>
        </p:nvSpPr>
        <p:spPr>
          <a:xfrm>
            <a:off x="8549640" y="3337560"/>
            <a:ext cx="3246120" cy="1005840"/>
          </a:xfrm>
          <a:prstGeom prst="rect">
            <a:avLst/>
          </a:prstGeom>
          <a:noFill/>
        </p:spPr>
        <p:txBody>
          <a:bodyPr wrap="square" anchor="t" lIns="0" rIns="0" tIns="0" bIns="0">
            <a:spAutoFit/>
          </a:bodyPr>
          <a:lstStyle/>
          <a:p>
            <a:pPr algn="l"/>
            <a:r>
              <a:rPr sz="1250" b="1">
                <a:solidFill>
                  <a:srgbClr val="1E8449"/>
                </a:solidFill>
                <a:latin typeface="Inter"/>
              </a:rPr>
              <a:t>cheney</a:t>
            </a:r>
            <a:r>
              <a:rPr sz="1250" b="0">
                <a:solidFill>
                  <a:srgbClr val="6B7177"/>
                </a:solidFill>
                <a:latin typeface="Inter"/>
              </a:rPr>
              <a:t> needs 1–2 budget steps more: only half its heap is usable (semispace).</a:t>
            </a:r>
          </a:p>
        </p:txBody>
      </p:sp>
      <p:sp>
        <p:nvSpPr>
          <p:cNvPr id="9" name="TextBox 8"/>
          <p:cNvSpPr txBox="1"/>
          <p:nvPr/>
        </p:nvSpPr>
        <p:spPr>
          <a:xfrm>
            <a:off x="8549640" y="4480560"/>
            <a:ext cx="3246120" cy="1005840"/>
          </a:xfrm>
          <a:prstGeom prst="rect">
            <a:avLst/>
          </a:prstGeom>
          <a:noFill/>
        </p:spPr>
        <p:txBody>
          <a:bodyPr wrap="square" anchor="t" lIns="0" rIns="0" tIns="0" bIns="0">
            <a:spAutoFit/>
          </a:bodyPr>
          <a:lstStyle/>
          <a:p>
            <a:pPr algn="l"/>
            <a:r>
              <a:rPr sz="1250" b="1">
                <a:solidFill>
                  <a:srgbClr val="9AA0A6"/>
                </a:solidFill>
                <a:latin typeface="Inter"/>
              </a:rPr>
              <a:t>baseline</a:t>
            </a:r>
            <a:r>
              <a:rPr sz="1250" b="0">
                <a:solidFill>
                  <a:srgbClr val="6B7177"/>
                </a:solidFill>
                <a:latin typeface="Inter"/>
              </a:rPr>
              <a:t> never frees, so it survives only at the 8 MiB anchor.</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